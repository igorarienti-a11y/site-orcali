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74920" y="77724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1A3030"/>
          </a:solidFill>
          <a:ln w="12700">
            <a:solidFill>
              <a:srgbClr val="2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66359" y="82296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39E55F"/>
                </a:solidFill>
              </a:rPr>
              <a:t>N  Planejamento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554480"/>
            <a:ext cx="7616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>
                <a:solidFill>
                  <a:srgbClr val="FFFFFF"/>
                </a:solidFill>
                <a:latin typeface="Calibri"/>
              </a:rPr>
              <a:t>Performance 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514600"/>
            <a:ext cx="7616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>
                <a:solidFill>
                  <a:srgbClr val="39E55F"/>
                </a:solidFill>
                <a:latin typeface="Calibri"/>
              </a:rPr>
              <a:t>Aquisicao de Leads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3886200"/>
            <a:ext cx="1371600" cy="36576"/>
          </a:xfrm>
          <a:prstGeom prst="rect">
            <a:avLst/>
          </a:prstGeom>
          <a:solidFill>
            <a:srgbClr val="39E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4114800"/>
            <a:ext cx="7616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0C4C4"/>
                </a:solidFill>
                <a:latin typeface="Calibri"/>
              </a:rPr>
              <a:t>Trafego pago  |  Landing Pages  |  Integracoes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0" y="0"/>
            <a:ext cx="7799831" cy="6858000"/>
          </a:xfrm>
          <a:prstGeom prst="rect">
            <a:avLst/>
          </a:prstGeom>
          <a:solidFill>
            <a:srgbClr val="0B1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1A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32004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39E55F"/>
                </a:solidFill>
              </a:rPr>
              <a:t>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3716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0">
                <a:solidFill>
                  <a:srgbClr val="1A2A2A"/>
                </a:solidFill>
                <a:latin typeface="Calibri"/>
              </a:rPr>
              <a:t>Objetivos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606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7A7A"/>
                </a:solidFill>
                <a:latin typeface="Calibri"/>
              </a:rPr>
              <a:t>de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6459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39E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2A2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6916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Alcance e reconhecimento de marca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9260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39E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2A2A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971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Geracao de leads qualificados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20624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39E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206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2A2A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425195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Mensuracao de cada lead gerado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1A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2004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39E55F"/>
                </a:solidFill>
              </a:rPr>
              <a:t>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9E55F"/>
                </a:solidFill>
                <a:latin typeface="Calibri"/>
              </a:rPr>
              <a:t>Investimento Mensal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Calibri"/>
              </a:rPr>
              <a:t>R$ 8.000 / 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11155680" cy="36576"/>
          </a:xfrm>
          <a:prstGeom prst="rect">
            <a:avLst/>
          </a:prstGeom>
          <a:solidFill>
            <a:srgbClr val="39E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5394960" cy="4297680"/>
          </a:xfrm>
          <a:prstGeom prst="rect">
            <a:avLst/>
          </a:prstGeom>
          <a:solidFill>
            <a:srgbClr val="0F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5394960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762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C4"/>
                </a:solidFill>
                <a:latin typeface="Calibri"/>
              </a:rPr>
              <a:t>GOOGLE 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>
                <a:solidFill>
                  <a:srgbClr val="FFFFFF"/>
                </a:solidFill>
                <a:latin typeface="Calibri"/>
              </a:rPr>
              <a:t>R$ 5.500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C4"/>
                </a:solidFill>
                <a:latin typeface="Calibri"/>
              </a:rPr>
              <a:t>69% do investimento total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033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C0D4D4"/>
                </a:solidFill>
                <a:latin typeface="Calibri"/>
              </a:rPr>
              <a:t>Search Facilities  -  R$ 2.200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C0D4D4"/>
                </a:solidFill>
                <a:latin typeface="Calibri"/>
              </a:rPr>
              <a:t>Search Seguranca  -  R$ 1.800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C0D4D4"/>
                </a:solidFill>
                <a:latin typeface="Calibri"/>
              </a:rPr>
              <a:t>Display Topo de Funil  -  R$ 1.000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2" y="2011680"/>
            <a:ext cx="5394960" cy="4297680"/>
          </a:xfrm>
          <a:prstGeom prst="rect">
            <a:avLst/>
          </a:prstGeom>
          <a:solidFill>
            <a:srgbClr val="0F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1072" y="2011680"/>
            <a:ext cx="5394960" cy="64008"/>
          </a:xfrm>
          <a:prstGeom prst="rect">
            <a:avLst/>
          </a:prstGeom>
          <a:solidFill>
            <a:srgbClr val="008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21762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C4"/>
                </a:solidFill>
                <a:latin typeface="Calibri"/>
              </a:rPr>
              <a:t>META 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25603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>
                <a:solidFill>
                  <a:srgbClr val="FFFFFF"/>
                </a:solidFill>
                <a:latin typeface="Calibri"/>
              </a:rPr>
              <a:t>R$ 2.500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3246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C4"/>
                </a:solidFill>
                <a:latin typeface="Calibri"/>
              </a:rPr>
              <a:t>31% do investimento total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37033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C0D4D4"/>
                </a:solidFill>
                <a:latin typeface="Calibri"/>
              </a:rPr>
              <a:t>Alcance Institucional  -  R$ 1.600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C0D4D4"/>
                </a:solidFill>
                <a:latin typeface="Calibri"/>
              </a:rPr>
              <a:t>Retargeting LP  -  R$ 900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1A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2004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39E55F"/>
                </a:solidFill>
              </a:rPr>
              <a:t>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9E55F"/>
                </a:solidFill>
                <a:latin typeface="Calibri"/>
              </a:rPr>
              <a:t>Meta Ads  |  R$ 1.600/mes  |  Objetivo: 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Calibri"/>
              </a:rPr>
              <a:t>Alcance institucional por nicho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11155680" cy="36576"/>
          </a:xfrm>
          <a:prstGeom prst="rect">
            <a:avLst/>
          </a:prstGeom>
          <a:solidFill>
            <a:srgbClr val="39E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3657600" cy="457200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3657600" cy="54864"/>
          </a:xfrm>
          <a:prstGeom prst="rect">
            <a:avLst/>
          </a:prstGeom>
          <a:solidFill>
            <a:srgbClr val="39E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9E55F"/>
                </a:solidFill>
                <a:latin typeface="Calibri"/>
              </a:rPr>
              <a:t>Saude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"Operacoes hospitalares nao podem parar.
Por tras de cada turno funcionando,
existe uma estrutura invisivel."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874519"/>
            <a:ext cx="3657600" cy="457200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874519"/>
            <a:ext cx="3657600" cy="54864"/>
          </a:xfrm>
          <a:prstGeom prst="rect">
            <a:avLst/>
          </a:prstGeom>
          <a:solidFill>
            <a:srgbClr val="39E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2057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9E55F"/>
                </a:solidFill>
                <a:latin typeface="Calibri"/>
              </a:rPr>
              <a:t>Ensino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65176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"De manha cedo ate o fim da noite,
um campus nunca para.
A gestao que garante isso, sim."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874519"/>
            <a:ext cx="3657600" cy="457200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874519"/>
            <a:ext cx="3657600" cy="54864"/>
          </a:xfrm>
          <a:prstGeom prst="rect">
            <a:avLst/>
          </a:prstGeom>
          <a:solidFill>
            <a:srgbClr val="39E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2057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9E55F"/>
                </a:solidFill>
                <a:latin typeface="Calibri"/>
              </a:rPr>
              <a:t>Financeiro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65176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"Compliance comeca antes da portaria.
Facilities e seguranca integradas
para instituicoes financeiras."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C4"/>
                </a:solidFill>
                <a:latin typeface="Calibri"/>
              </a:rPr>
              <a:t>Publico: Lookalike 1% SC/PR a partir de 2.966 clientes ativos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1A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2004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39E55F"/>
                </a:solidFill>
              </a:rPr>
              <a:t>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9E55F"/>
                </a:solidFill>
                <a:latin typeface="Calibri"/>
              </a:rPr>
              <a:t>Meta Ads  |  R$ 900/mes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Calibri"/>
              </a:rPr>
              <a:t>Retargeting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0C4C4"/>
                </a:solidFill>
                <a:latin typeface="Calibri"/>
              </a:rPr>
              <a:t>Convertendo quem ja demonstrou interesse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65960"/>
            <a:ext cx="11155680" cy="36576"/>
          </a:xfrm>
          <a:prstGeom prst="rect">
            <a:avLst/>
          </a:prstGeom>
          <a:solidFill>
            <a:srgbClr val="39E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76272"/>
            <a:ext cx="2651760" cy="292608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Viu o alcance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17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C4"/>
                </a:solidFill>
                <a:latin typeface="Calibri"/>
              </a:rPr>
              <a:t>Engajou no Instagram
ou visitou o perfil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3108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4C4"/>
                </a:solidFill>
                <a:latin typeface="Calibri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176272"/>
            <a:ext cx="2651760" cy="292608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423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Acessou a 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017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C4"/>
                </a:solidFill>
                <a:latin typeface="Calibri"/>
              </a:rPr>
              <a:t>Visitante que nao preencheu
o formulario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3108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4C4"/>
                </a:solidFill>
                <a:latin typeface="Calibri"/>
              </a:rPr>
              <a:t>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2176272"/>
            <a:ext cx="2651760" cy="2926080"/>
          </a:xfrm>
          <a:prstGeom prst="rect">
            <a:avLst/>
          </a:prstGeom>
          <a:solidFill>
            <a:srgbClr val="0D2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2176272"/>
            <a:ext cx="2651760" cy="54864"/>
          </a:xfrm>
          <a:prstGeom prst="rect">
            <a:avLst/>
          </a:prstGeom>
          <a:solidFill>
            <a:srgbClr val="39E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423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9E55F"/>
                </a:solidFill>
                <a:latin typeface="Calibri"/>
              </a:rPr>
              <a:t>Recebe o anuncio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017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C4"/>
                </a:solidFill>
                <a:latin typeface="Calibri"/>
              </a:rPr>
              <a:t>Prova social + CTA direto
para o formulario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108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4C4"/>
                </a:solidFill>
                <a:latin typeface="Calibri"/>
              </a:rPr>
              <a:t>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81160" y="2176272"/>
            <a:ext cx="2651760" cy="292608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2423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Preenche o 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3017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C4"/>
                </a:solidFill>
                <a:latin typeface="Calibri"/>
              </a:rPr>
              <a:t>Lead qualificado
entra no funil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349240"/>
            <a:ext cx="11155680" cy="118872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440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C0D4D4"/>
                </a:solidFill>
                <a:latin typeface="Calibri"/>
              </a:rPr>
              <a:t>Janela: 30 dias de visita a LP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C0D4D4"/>
                </a:solidFill>
                <a:latin typeface="Calibri"/>
              </a:rPr>
              <a:t>Angulo: "1.554 clientes. Contrato medio de 20 anos."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C0D4D4"/>
                </a:solidFill>
                <a:latin typeface="Calibri"/>
              </a:rPr>
              <a:t>CTA: Solicitar diagnostico operacional gratuito - resposta em 24h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1A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2004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39E55F"/>
                </a:solidFill>
              </a:rPr>
              <a:t>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285F4"/>
                </a:solidFill>
                <a:latin typeface="Calibri"/>
              </a:rPr>
              <a:t>Google Ads  |  R$ 4.000/mes  | 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Calibri"/>
              </a:rPr>
              <a:t>Capturar quem ja busca pelo servico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11155680" cy="36576"/>
          </a:xfrm>
          <a:prstGeom prst="rect">
            <a:avLst/>
          </a:prstGeom>
          <a:solidFill>
            <a:srgbClr val="39E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5486400" cy="4663440"/>
          </a:xfrm>
          <a:prstGeom prst="rect">
            <a:avLst/>
          </a:prstGeom>
          <a:solidFill>
            <a:srgbClr val="0F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5486400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299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Facilities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0299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Calibri"/>
              </a:rPr>
              <a:t>R$ 2.200/mes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51760"/>
            <a:ext cx="2468880" cy="502920"/>
          </a:xfrm>
          <a:prstGeom prst="roundRect">
            <a:avLst>
              <a:gd name="adj" fmla="val 6000"/>
            </a:avLst>
          </a:prstGeom>
          <a:solidFill>
            <a:srgbClr val="14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974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C8FF"/>
                </a:solidFill>
                <a:latin typeface="Calibri"/>
              </a:rPr>
              <a:t>empresa de facilities SC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651760"/>
            <a:ext cx="2468880" cy="502920"/>
          </a:xfrm>
          <a:prstGeom prst="roundRect">
            <a:avLst>
              <a:gd name="adj" fmla="val 6000"/>
            </a:avLst>
          </a:prstGeom>
          <a:solidFill>
            <a:srgbClr val="14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6974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C8FF"/>
                </a:solidFill>
                <a:latin typeface="Calibri"/>
              </a:rPr>
              <a:t>terceirizacao portaria Floripa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337560"/>
            <a:ext cx="2468880" cy="502920"/>
          </a:xfrm>
          <a:prstGeom prst="roundRect">
            <a:avLst>
              <a:gd name="adj" fmla="val 6000"/>
            </a:avLst>
          </a:prstGeom>
          <a:solidFill>
            <a:srgbClr val="14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832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C8FF"/>
                </a:solidFill>
                <a:latin typeface="Calibri"/>
              </a:rPr>
              <a:t>gestao predial hospital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3337560"/>
            <a:ext cx="2468880" cy="502920"/>
          </a:xfrm>
          <a:prstGeom prst="roundRect">
            <a:avLst>
              <a:gd name="adj" fmla="val 6000"/>
            </a:avLst>
          </a:prstGeom>
          <a:solidFill>
            <a:srgbClr val="14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33832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C8FF"/>
                </a:solidFill>
                <a:latin typeface="Calibri"/>
              </a:rPr>
              <a:t>limpeza terceirizada universidade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023360"/>
            <a:ext cx="2468880" cy="502920"/>
          </a:xfrm>
          <a:prstGeom prst="roundRect">
            <a:avLst>
              <a:gd name="adj" fmla="val 6000"/>
            </a:avLst>
          </a:prstGeom>
          <a:solidFill>
            <a:srgbClr val="14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690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C8FF"/>
                </a:solidFill>
                <a:latin typeface="Calibri"/>
              </a:rPr>
              <a:t>facilities Curitiba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4023360"/>
            <a:ext cx="2468880" cy="502920"/>
          </a:xfrm>
          <a:prstGeom prst="roundRect">
            <a:avLst>
              <a:gd name="adj" fmla="val 6000"/>
            </a:avLst>
          </a:prstGeom>
          <a:solidFill>
            <a:srgbClr val="14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40690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C8FF"/>
                </a:solidFill>
                <a:latin typeface="Calibri"/>
              </a:rPr>
              <a:t>zeladoria escola SC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709160"/>
            <a:ext cx="2468880" cy="502920"/>
          </a:xfrm>
          <a:prstGeom prst="roundRect">
            <a:avLst>
              <a:gd name="adj" fmla="val 6000"/>
            </a:avLst>
          </a:prstGeom>
          <a:solidFill>
            <a:srgbClr val="14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7548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C8FF"/>
                </a:solidFill>
                <a:latin typeface="Calibri"/>
              </a:rPr>
              <a:t>facilities instituicao financeira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91072" y="1874519"/>
            <a:ext cx="5486400" cy="4663440"/>
          </a:xfrm>
          <a:prstGeom prst="rect">
            <a:avLst/>
          </a:prstGeom>
          <a:solidFill>
            <a:srgbClr val="0F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91072" y="1874519"/>
            <a:ext cx="5486400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20299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Seguranca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0299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Calibri"/>
              </a:rPr>
              <a:t>R$ 1.800/mes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2651760"/>
            <a:ext cx="2468880" cy="502920"/>
          </a:xfrm>
          <a:prstGeom prst="roundRect">
            <a:avLst>
              <a:gd name="adj" fmla="val 6000"/>
            </a:avLst>
          </a:prstGeom>
          <a:solidFill>
            <a:srgbClr val="0F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6974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DCFA0"/>
                </a:solidFill>
                <a:latin typeface="Calibri"/>
              </a:rPr>
              <a:t>vigilancia patrimonial SC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98280" y="2651760"/>
            <a:ext cx="2468880" cy="502920"/>
          </a:xfrm>
          <a:prstGeom prst="roundRect">
            <a:avLst>
              <a:gd name="adj" fmla="val 6000"/>
            </a:avLst>
          </a:prstGeom>
          <a:solidFill>
            <a:srgbClr val="0F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9720" y="26974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DCFA0"/>
                </a:solidFill>
                <a:latin typeface="Calibri"/>
              </a:rPr>
              <a:t>empresa de seguranca Floripa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3337560"/>
            <a:ext cx="2468880" cy="502920"/>
          </a:xfrm>
          <a:prstGeom prst="roundRect">
            <a:avLst>
              <a:gd name="adj" fmla="val 6000"/>
            </a:avLst>
          </a:prstGeom>
          <a:solidFill>
            <a:srgbClr val="0F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33832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DCFA0"/>
                </a:solidFill>
                <a:latin typeface="Calibri"/>
              </a:rPr>
              <a:t>seguranca hospitalar SC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98280" y="3337560"/>
            <a:ext cx="2468880" cy="502920"/>
          </a:xfrm>
          <a:prstGeom prst="roundRect">
            <a:avLst>
              <a:gd name="adj" fmla="val 6000"/>
            </a:avLst>
          </a:prstGeom>
          <a:solidFill>
            <a:srgbClr val="0F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9720" y="33832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DCFA0"/>
                </a:solidFill>
                <a:latin typeface="Calibri"/>
              </a:rPr>
              <a:t>vigilante terceirizado Curitiba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4023360"/>
            <a:ext cx="2468880" cy="502920"/>
          </a:xfrm>
          <a:prstGeom prst="roundRect">
            <a:avLst>
              <a:gd name="adj" fmla="val 6000"/>
            </a:avLst>
          </a:prstGeom>
          <a:solidFill>
            <a:srgbClr val="0F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40690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DCFA0"/>
                </a:solidFill>
                <a:latin typeface="Calibri"/>
              </a:rPr>
              <a:t>seguranca escolar Joinville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98280" y="4023360"/>
            <a:ext cx="2468880" cy="502920"/>
          </a:xfrm>
          <a:prstGeom prst="roundRect">
            <a:avLst>
              <a:gd name="adj" fmla="val 6000"/>
            </a:avLst>
          </a:prstGeom>
          <a:solidFill>
            <a:srgbClr val="0F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9720" y="40690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DCFA0"/>
                </a:solidFill>
                <a:latin typeface="Calibri"/>
              </a:rPr>
              <a:t>seguranca instituicao financeira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922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C4"/>
                </a:solidFill>
                <a:latin typeface="Calibri"/>
              </a:rPr>
              <a:t>Ad groups segmentados por nicho: copy e extensoes personalizadas para Saude, Ensino e Financeiro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1A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2004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39E55F"/>
                </a:solidFill>
              </a:rPr>
              <a:t>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285F4"/>
                </a:solidFill>
                <a:latin typeface="Calibri"/>
              </a:rPr>
              <a:t>Google Ads  |  R$ 1.000/mes  |  Display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Calibri"/>
              </a:rPr>
              <a:t>Alcancar decisores antes da busca 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11155680" cy="36576"/>
          </a:xfrm>
          <a:prstGeom prst="rect">
            <a:avLst/>
          </a:prstGeom>
          <a:solidFill>
            <a:srgbClr val="39E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3657600" cy="3383280"/>
          </a:xfrm>
          <a:prstGeom prst="rect">
            <a:avLst/>
          </a:prstGeom>
          <a:solidFill>
            <a:srgbClr val="0F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Segmentacao por cargo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C4"/>
                </a:solidFill>
                <a:latin typeface="Calibri"/>
              </a:rPr>
              <a:t>Diretores Administrativos, Gerentes de Facilities e Gestores Operacionais em SC e PR.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937760"/>
            <a:ext cx="1097280" cy="292608"/>
          </a:xfrm>
          <a:prstGeom prst="roundRect">
            <a:avLst>
              <a:gd name="adj" fmla="val 6000"/>
            </a:avLst>
          </a:prstGeom>
          <a:solidFill>
            <a:srgbClr val="14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560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0C8FF"/>
                </a:solidFill>
                <a:latin typeface="Calibri"/>
              </a:rPr>
              <a:t>In-Market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874519"/>
            <a:ext cx="3657600" cy="3383280"/>
          </a:xfrm>
          <a:prstGeom prst="rect">
            <a:avLst/>
          </a:prstGeom>
          <a:solidFill>
            <a:srgbClr val="0F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20116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Segmentacao por empresa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6060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C4"/>
                </a:solidFill>
                <a:latin typeface="Calibri"/>
              </a:rPr>
              <a:t>Hospitais, universidades, cooperativas e bancos na rede Google + YouTube.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59" y="4937760"/>
            <a:ext cx="1097280" cy="292608"/>
          </a:xfrm>
          <a:prstGeom prst="roundRect">
            <a:avLst>
              <a:gd name="adj" fmla="val 6000"/>
            </a:avLst>
          </a:prstGeom>
          <a:solidFill>
            <a:srgbClr val="14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59" y="49560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0C8FF"/>
                </a:solidFill>
                <a:latin typeface="Calibri"/>
              </a:rPr>
              <a:t>Audience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66760" y="1874519"/>
            <a:ext cx="3657600" cy="3383280"/>
          </a:xfrm>
          <a:prstGeom prst="rect">
            <a:avLst/>
          </a:prstGeom>
          <a:solidFill>
            <a:srgbClr val="0F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20116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Alimenta o retargeting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26060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C4"/>
                </a:solidFill>
                <a:latin typeface="Calibri"/>
              </a:rPr>
              <a:t>Quem clica no Display entra na LP e cai na audiencia de retargeting do Meta. Funil integrado.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41080" y="4937760"/>
            <a:ext cx="1097280" cy="292608"/>
          </a:xfrm>
          <a:prstGeom prst="roundRect">
            <a:avLst>
              <a:gd name="adj" fmla="val 6000"/>
            </a:avLst>
          </a:prstGeom>
          <a:solidFill>
            <a:srgbClr val="14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49560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0C8FF"/>
                </a:solidFill>
                <a:latin typeface="Calibri"/>
              </a:rPr>
              <a:t>Funil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577840"/>
            <a:ext cx="11155680" cy="960120"/>
          </a:xfrm>
          <a:prstGeom prst="rect">
            <a:avLst/>
          </a:prstGeom>
          <a:solidFill>
            <a:srgbClr val="0F2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7150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Display e o gerador de audiencia para o retargeting - nao e onde o lead converte, e onde ele descobre a Orcali.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1A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2004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39E55F"/>
                </a:solidFill>
              </a:rPr>
              <a:t>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9E55F"/>
                </a:solidFill>
                <a:latin typeface="Calibri"/>
              </a:rPr>
              <a:t>Estrutura de Captacao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>
                <a:solidFill>
                  <a:srgbClr val="FFFFFF"/>
                </a:solidFill>
                <a:latin typeface="Calibri"/>
              </a:rPr>
              <a:t>Landing Page + Formulario de qualificacao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11155680" cy="36576"/>
          </a:xfrm>
          <a:prstGeom prst="rect">
            <a:avLst/>
          </a:prstGeom>
          <a:solidFill>
            <a:srgbClr val="39E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5486400" cy="466344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5486400" cy="502920"/>
          </a:xfrm>
          <a:prstGeom prst="rect">
            <a:avLst/>
          </a:prstGeom>
          <a:solidFill>
            <a:srgbClr val="00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D4D4"/>
                </a:solidFill>
                <a:latin typeface="Calibri"/>
              </a:rPr>
              <a:t>orcali.com.br/facilities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920240"/>
            <a:ext cx="868680" cy="320040"/>
          </a:xfrm>
          <a:prstGeom prst="roundRect">
            <a:avLst>
              <a:gd name="adj" fmla="val 6000"/>
            </a:avLst>
          </a:prstGeom>
          <a:solidFill>
            <a:srgbClr val="39E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94767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2A2A"/>
                </a:solidFill>
                <a:latin typeface="Calibri"/>
              </a:rPr>
              <a:t>PRONTO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786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-&gt;  Hero: "Operacoes que nao podem parar"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2607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-&gt;  Diferenciais: 58 anos | 1.554 clientes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735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-&gt;  Servicos por nicho: Saude, Ensino, Financeiro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2102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-&gt;  Prova social + certificacoes ISO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6849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-&gt;  Formulario integrado via Typebot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15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C4"/>
                </a:solidFill>
                <a:latin typeface="Calibri"/>
              </a:rPr>
              <a:t>-&gt;  LP Seguranca  -&gt;  Mes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2" y="1874519"/>
            <a:ext cx="5486400" cy="466344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9E55F"/>
                </a:solidFill>
                <a:latin typeface="Calibri"/>
              </a:rPr>
              <a:t>Campos do formulario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73952" y="2468880"/>
            <a:ext cx="5029200" cy="329184"/>
          </a:xfrm>
          <a:prstGeom prst="roundRect">
            <a:avLst>
              <a:gd name="adj" fmla="val 4000"/>
            </a:avLst>
          </a:prstGeom>
          <a:solidFill>
            <a:srgbClr val="16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24871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Nome completo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3952" y="2862072"/>
            <a:ext cx="5029200" cy="329184"/>
          </a:xfrm>
          <a:prstGeom prst="roundRect">
            <a:avLst>
              <a:gd name="adj" fmla="val 4000"/>
            </a:avLst>
          </a:prstGeom>
          <a:solidFill>
            <a:srgbClr val="16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288036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Empresa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2" y="3255264"/>
            <a:ext cx="5029200" cy="329184"/>
          </a:xfrm>
          <a:prstGeom prst="roundRect">
            <a:avLst>
              <a:gd name="adj" fmla="val 4000"/>
            </a:avLst>
          </a:prstGeom>
          <a:solidFill>
            <a:srgbClr val="16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1968" y="327355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CNPJ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2" y="3648456"/>
            <a:ext cx="5029200" cy="329184"/>
          </a:xfrm>
          <a:prstGeom prst="roundRect">
            <a:avLst>
              <a:gd name="adj" fmla="val 4000"/>
            </a:avLst>
          </a:prstGeom>
          <a:solidFill>
            <a:srgbClr val="16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366674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E-mail corporativo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2" y="4041648"/>
            <a:ext cx="5029200" cy="329184"/>
          </a:xfrm>
          <a:prstGeom prst="roundRect">
            <a:avLst>
              <a:gd name="adj" fmla="val 4000"/>
            </a:avLst>
          </a:prstGeom>
          <a:solidFill>
            <a:srgbClr val="16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01968" y="405993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Telefone / WhatsApp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73952" y="4434840"/>
            <a:ext cx="5029200" cy="329184"/>
          </a:xfrm>
          <a:prstGeom prst="roundRect">
            <a:avLst>
              <a:gd name="adj" fmla="val 4000"/>
            </a:avLst>
          </a:prstGeom>
          <a:solidFill>
            <a:srgbClr val="16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1968" y="445312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Segmento  (Saude | Ensino | Financeiro)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73952" y="4828032"/>
            <a:ext cx="5029200" cy="329184"/>
          </a:xfrm>
          <a:prstGeom prst="roundRect">
            <a:avLst>
              <a:gd name="adj" fmla="val 4000"/>
            </a:avLst>
          </a:prstGeom>
          <a:solidFill>
            <a:srgbClr val="16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01968" y="484632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  Cidade / Regiao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73952" y="5321808"/>
            <a:ext cx="5029200" cy="457200"/>
          </a:xfrm>
          <a:prstGeom prst="roundRect">
            <a:avLst>
              <a:gd name="adj" fmla="val 6000"/>
            </a:avLst>
          </a:prstGeom>
          <a:solidFill>
            <a:srgbClr val="39E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3952" y="5340096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A2A"/>
                </a:solidFill>
                <a:latin typeface="Calibri"/>
              </a:rPr>
              <a:t>Solicitar diagnostico operacional gratuito  -&gt;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1A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2004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39E55F"/>
                </a:solidFill>
              </a:rPr>
              <a:t>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47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9E55F"/>
                </a:solidFill>
                <a:latin typeface="Calibri"/>
              </a:rPr>
              <a:t>Integracoes &amp; Mensuracao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Calibri"/>
              </a:rPr>
              <a:t>Do clique ao comercial rastreado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11155680" cy="36576"/>
          </a:xfrm>
          <a:prstGeom prst="rect">
            <a:avLst/>
          </a:prstGeom>
          <a:solidFill>
            <a:srgbClr val="39E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1965960" cy="256032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1965960" cy="64008"/>
          </a:xfrm>
          <a:prstGeom prst="rect">
            <a:avLst/>
          </a:prstGeom>
          <a:solidFill>
            <a:srgbClr val="008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Meta / Google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C4"/>
                </a:solidFill>
                <a:latin typeface="Calibri"/>
              </a:rPr>
              <a:t>Pixel + CAPI
Google 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017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4C4"/>
                </a:solidFill>
                <a:latin typeface="Calibri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39" y="2011680"/>
            <a:ext cx="1965960" cy="256032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4639" y="2011680"/>
            <a:ext cx="1965960" cy="64008"/>
          </a:xfrm>
          <a:prstGeom prst="rect">
            <a:avLst/>
          </a:prstGeom>
          <a:solidFill>
            <a:srgbClr val="39E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799" y="219456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Landing 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799" y="283464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C4"/>
                </a:solidFill>
                <a:latin typeface="Calibri"/>
              </a:rPr>
              <a:t>Pixel fire
ViewContent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017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4C4"/>
                </a:solidFill>
                <a:latin typeface="Calibri"/>
              </a:rP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66359" y="2011680"/>
            <a:ext cx="1965960" cy="256032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66359" y="2011680"/>
            <a:ext cx="1965960" cy="64008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19456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Planilha Google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83464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C4"/>
                </a:solidFill>
                <a:latin typeface="Calibri"/>
              </a:rPr>
              <a:t>Lead + UTMs
+ origem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19" y="3017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4C4"/>
                </a:solidFill>
                <a:latin typeface="Calibri"/>
              </a:rPr>
              <a:t>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2011680"/>
            <a:ext cx="1965960" cy="256032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79" y="2011680"/>
            <a:ext cx="196596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219456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RD Station CRM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283464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C4"/>
                </a:solidFill>
                <a:latin typeface="Calibri"/>
              </a:rPr>
              <a:t>Nutricao
+ funil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3017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4C4"/>
                </a:solidFill>
                <a:latin typeface="Calibri"/>
              </a:rPr>
              <a:t>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29800" y="2011680"/>
            <a:ext cx="1965960" cy="256032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29800" y="2011680"/>
            <a:ext cx="1965960" cy="6400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60" y="219456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Comercial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2834640"/>
            <a:ext cx="1691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C4"/>
                </a:solidFill>
                <a:latin typeface="Calibri"/>
              </a:rPr>
              <a:t>Lead pronto
p/ abordagem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466344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C4"/>
                </a:solidFill>
                <a:latin typeface="Calibri"/>
              </a:rPr>
              <a:t>clique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466344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C4"/>
                </a:solidFill>
                <a:latin typeface="Calibri"/>
              </a:rPr>
              <a:t>form submit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19" y="466344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C4"/>
                </a:solidFill>
                <a:latin typeface="Calibri"/>
              </a:rPr>
              <a:t>Apps Script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466344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C4"/>
                </a:solidFill>
                <a:latin typeface="Calibri"/>
              </a:rPr>
              <a:t>alerta CRM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074920"/>
            <a:ext cx="11155680" cy="1463040"/>
          </a:xfrm>
          <a:prstGeom prst="rect">
            <a:avLst/>
          </a:prstGeom>
          <a:solidFill>
            <a:srgbClr val="0F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166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Cada lead chega com origem rastreada: plataforma | campanha | nicho | palavra-chave.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C4"/>
                </a:solidFill>
                <a:latin typeface="Calibri"/>
              </a:rPr>
              <a:t>Resolve a principal dor do historico: R$ 6k/mes em 2024 sem mensuracao de resultados.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