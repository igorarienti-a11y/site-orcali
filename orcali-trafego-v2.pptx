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</p:sldIdLst>
  <p:sldSz cx="18288000" cy="10287000"/>
  <p:notesSz cx="6858000" cy="9144000"/>
  <p:embeddedFontLst>
    <p:embeddedFont>
      <p:font typeface="DM Sans" charset="1" panose="00000000000000000000"/>
      <p:regular r:id="rId24"/>
    </p:embeddedFont>
    <p:embeddedFont>
      <p:font typeface="Poppins Light" charset="1" panose="00000400000000000000"/>
      <p:regular r:id="rId25"/>
    </p:embeddedFont>
    <p:embeddedFont>
      <p:font typeface="Poppins Bold" charset="1" panose="00000800000000000000"/>
      <p:regular r:id="rId26"/>
    </p:embeddedFont>
    <p:embeddedFont>
      <p:font typeface="Poppins" charset="1" panose="00000500000000000000"/>
      <p:regular r:id="rId27"/>
    </p:embeddedFont>
    <p:embeddedFont>
      <p:font typeface="Codec Pro Bold" charset="1" panose="00000600000000000000"/>
      <p:regular r:id="rId28"/>
    </p:embeddedFont>
    <p:embeddedFont>
      <p:font typeface="DM Sans Bold" charset="1" panose="000000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font" Target="fonts/font24.fntdata"/><Relationship Id="rId25" Type="http://schemas.openxmlformats.org/officeDocument/2006/relationships/font" Target="fonts/font25.fntdata"/><Relationship Id="rId26" Type="http://schemas.openxmlformats.org/officeDocument/2006/relationships/font" Target="fonts/font26.fntdata"/><Relationship Id="rId27" Type="http://schemas.openxmlformats.org/officeDocument/2006/relationships/font" Target="fonts/font27.fntdata"/><Relationship Id="rId28" Type="http://schemas.openxmlformats.org/officeDocument/2006/relationships/font" Target="fonts/font28.fntdata"/><Relationship Id="rId29" Type="http://schemas.openxmlformats.org/officeDocument/2006/relationships/font" Target="fonts/font29.fntdata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Relationship Id="rId5" Type="http://schemas.openxmlformats.org/officeDocument/2006/relationships/image" Target="../media/image4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7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9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hyperlink" Target="https://www.instagram.com/reel/DYDBuMysUfi/?igsh=MWo0MW9od2NhcTlmYw==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60B">
                <a:alpha val="100000"/>
              </a:srgbClr>
            </a:gs>
            <a:gs pos="100000">
              <a:srgbClr val="02313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82289" y="2017972"/>
            <a:ext cx="3523422" cy="1178035"/>
            <a:chOff x="0" y="0"/>
            <a:chExt cx="4697896" cy="157071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697896" cy="1570713"/>
              <a:chOff x="0" y="0"/>
              <a:chExt cx="927980" cy="31026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927980" cy="310264"/>
              </a:xfrm>
              <a:custGeom>
                <a:avLst/>
                <a:gdLst/>
                <a:ahLst/>
                <a:cxnLst/>
                <a:rect r="r" b="b" t="t" l="l"/>
                <a:pathLst>
                  <a:path h="310264" w="927980">
                    <a:moveTo>
                      <a:pt x="155132" y="0"/>
                    </a:moveTo>
                    <a:lnTo>
                      <a:pt x="772847" y="0"/>
                    </a:lnTo>
                    <a:cubicBezTo>
                      <a:pt x="858524" y="0"/>
                      <a:pt x="927980" y="69455"/>
                      <a:pt x="927980" y="155132"/>
                    </a:cubicBezTo>
                    <a:lnTo>
                      <a:pt x="927980" y="155132"/>
                    </a:lnTo>
                    <a:cubicBezTo>
                      <a:pt x="927980" y="196276"/>
                      <a:pt x="911635" y="235734"/>
                      <a:pt x="882542" y="264827"/>
                    </a:cubicBezTo>
                    <a:cubicBezTo>
                      <a:pt x="853449" y="293920"/>
                      <a:pt x="813991" y="310264"/>
                      <a:pt x="772847" y="310264"/>
                    </a:cubicBezTo>
                    <a:lnTo>
                      <a:pt x="155132" y="310264"/>
                    </a:lnTo>
                    <a:cubicBezTo>
                      <a:pt x="113989" y="310264"/>
                      <a:pt x="74530" y="293920"/>
                      <a:pt x="45437" y="264827"/>
                    </a:cubicBezTo>
                    <a:cubicBezTo>
                      <a:pt x="16344" y="235734"/>
                      <a:pt x="0" y="196276"/>
                      <a:pt x="0" y="155132"/>
                    </a:cubicBezTo>
                    <a:lnTo>
                      <a:pt x="0" y="155132"/>
                    </a:lnTo>
                    <a:cubicBezTo>
                      <a:pt x="0" y="113989"/>
                      <a:pt x="16344" y="74530"/>
                      <a:pt x="45437" y="45437"/>
                    </a:cubicBezTo>
                    <a:cubicBezTo>
                      <a:pt x="74530" y="16344"/>
                      <a:pt x="113989" y="0"/>
                      <a:pt x="155132" y="0"/>
                    </a:cubicBezTo>
                    <a:close/>
                  </a:path>
                </a:pathLst>
              </a:custGeom>
              <a:solidFill>
                <a:srgbClr val="022228"/>
              </a:soli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927980" cy="3578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41826" y="144074"/>
              <a:ext cx="4414243" cy="1282565"/>
              <a:chOff x="0" y="0"/>
              <a:chExt cx="871949" cy="25334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71949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871949">
                    <a:moveTo>
                      <a:pt x="126673" y="0"/>
                    </a:moveTo>
                    <a:lnTo>
                      <a:pt x="745276" y="0"/>
                    </a:lnTo>
                    <a:cubicBezTo>
                      <a:pt x="778872" y="0"/>
                      <a:pt x="811092" y="13346"/>
                      <a:pt x="834848" y="37102"/>
                    </a:cubicBezTo>
                    <a:cubicBezTo>
                      <a:pt x="858603" y="60857"/>
                      <a:pt x="871949" y="93077"/>
                      <a:pt x="871949" y="126673"/>
                    </a:cubicBezTo>
                    <a:lnTo>
                      <a:pt x="871949" y="126673"/>
                    </a:lnTo>
                    <a:cubicBezTo>
                      <a:pt x="871949" y="160269"/>
                      <a:pt x="858603" y="192489"/>
                      <a:pt x="834848" y="216244"/>
                    </a:cubicBezTo>
                    <a:cubicBezTo>
                      <a:pt x="811092" y="240000"/>
                      <a:pt x="778872" y="253346"/>
                      <a:pt x="745276" y="253346"/>
                    </a:cubicBezTo>
                    <a:lnTo>
                      <a:pt x="126673" y="253346"/>
                    </a:lnTo>
                    <a:cubicBezTo>
                      <a:pt x="93077" y="253346"/>
                      <a:pt x="60857" y="240000"/>
                      <a:pt x="37102" y="216244"/>
                    </a:cubicBezTo>
                    <a:cubicBezTo>
                      <a:pt x="13346" y="192489"/>
                      <a:pt x="0" y="160269"/>
                      <a:pt x="0" y="126673"/>
                    </a:cubicBezTo>
                    <a:lnTo>
                      <a:pt x="0" y="126673"/>
                    </a:lnTo>
                    <a:cubicBezTo>
                      <a:pt x="0" y="93077"/>
                      <a:pt x="13346" y="60857"/>
                      <a:pt x="37102" y="37102"/>
                    </a:cubicBezTo>
                    <a:cubicBezTo>
                      <a:pt x="60857" y="13346"/>
                      <a:pt x="93077" y="0"/>
                      <a:pt x="126673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871949" cy="300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8100000">
              <a:off x="491288" y="508232"/>
              <a:ext cx="471714" cy="545597"/>
            </a:xfrm>
            <a:custGeom>
              <a:avLst/>
              <a:gdLst/>
              <a:ahLst/>
              <a:cxnLst/>
              <a:rect r="r" b="b" t="t" l="l"/>
              <a:pathLst>
                <a:path h="545597" w="471714">
                  <a:moveTo>
                    <a:pt x="0" y="0"/>
                  </a:moveTo>
                  <a:lnTo>
                    <a:pt x="471714" y="0"/>
                  </a:lnTo>
                  <a:lnTo>
                    <a:pt x="471714" y="545597"/>
                  </a:lnTo>
                  <a:lnTo>
                    <a:pt x="0" y="545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350895" y="579867"/>
              <a:ext cx="2996824" cy="4690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667" spc="125">
                  <a:solidFill>
                    <a:srgbClr val="031C22"/>
                  </a:solidFill>
                  <a:latin typeface="DM Sans"/>
                  <a:ea typeface="DM Sans"/>
                  <a:cs typeface="DM Sans"/>
                  <a:sym typeface="DM Sans"/>
                </a:rPr>
                <a:t>Bem-Vindo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160271" y="3819662"/>
            <a:ext cx="9967458" cy="3406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93"/>
              </a:lnSpc>
            </a:pPr>
            <a:r>
              <a:rPr lang="en-US" sz="12934" spc="-413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DM Sans"/>
                <a:ea typeface="DM Sans"/>
                <a:cs typeface="DM Sans"/>
                <a:sym typeface="DM Sans"/>
              </a:rPr>
              <a:t>Planejamento</a:t>
            </a:r>
            <a:r>
              <a:rPr lang="en-US" sz="12934" spc="-413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Orcali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59079" y="7573325"/>
            <a:ext cx="5769842" cy="407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3"/>
              </a:lnSpc>
            </a:pPr>
            <a:r>
              <a:rPr lang="en-US" sz="2388" spc="97">
                <a:solidFill>
                  <a:srgbClr val="A3A3A3"/>
                </a:solidFill>
                <a:latin typeface="DM Sans"/>
                <a:ea typeface="DM Sans"/>
                <a:cs typeface="DM Sans"/>
                <a:sym typeface="DM Sans"/>
              </a:rPr>
              <a:t>Preparada especialmente para você.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3812" y="1695537"/>
            <a:ext cx="858096" cy="861179"/>
            <a:chOff x="0" y="0"/>
            <a:chExt cx="1144128" cy="114823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144128" cy="1148239"/>
              <a:chOff x="0" y="0"/>
              <a:chExt cx="252439" cy="25334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52439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252439">
                    <a:moveTo>
                      <a:pt x="126220" y="0"/>
                    </a:moveTo>
                    <a:lnTo>
                      <a:pt x="126220" y="0"/>
                    </a:lnTo>
                    <a:cubicBezTo>
                      <a:pt x="195929" y="0"/>
                      <a:pt x="252439" y="56510"/>
                      <a:pt x="252439" y="126220"/>
                    </a:cubicBezTo>
                    <a:lnTo>
                      <a:pt x="252439" y="127127"/>
                    </a:lnTo>
                    <a:cubicBezTo>
                      <a:pt x="252439" y="196836"/>
                      <a:pt x="195929" y="253346"/>
                      <a:pt x="126220" y="253346"/>
                    </a:cubicBezTo>
                    <a:lnTo>
                      <a:pt x="126220" y="253346"/>
                    </a:lnTo>
                    <a:cubicBezTo>
                      <a:pt x="56510" y="253346"/>
                      <a:pt x="0" y="196836"/>
                      <a:pt x="0" y="127127"/>
                    </a:cubicBezTo>
                    <a:lnTo>
                      <a:pt x="0" y="126220"/>
                    </a:lnTo>
                    <a:cubicBezTo>
                      <a:pt x="0" y="56510"/>
                      <a:pt x="56510" y="0"/>
                      <a:pt x="1262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rnd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252439" cy="300971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13170" y="115703"/>
              <a:ext cx="917789" cy="916832"/>
              <a:chOff x="0" y="0"/>
              <a:chExt cx="202500" cy="20228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02500" cy="202289"/>
              </a:xfrm>
              <a:custGeom>
                <a:avLst/>
                <a:gdLst/>
                <a:ahLst/>
                <a:cxnLst/>
                <a:rect r="r" b="b" t="t" l="l"/>
                <a:pathLst>
                  <a:path h="202289" w="202500">
                    <a:moveTo>
                      <a:pt x="101144" y="0"/>
                    </a:moveTo>
                    <a:lnTo>
                      <a:pt x="101356" y="0"/>
                    </a:lnTo>
                    <a:cubicBezTo>
                      <a:pt x="128181" y="0"/>
                      <a:pt x="153907" y="10656"/>
                      <a:pt x="172875" y="29625"/>
                    </a:cubicBezTo>
                    <a:cubicBezTo>
                      <a:pt x="191844" y="48593"/>
                      <a:pt x="202500" y="74319"/>
                      <a:pt x="202500" y="101144"/>
                    </a:cubicBezTo>
                    <a:lnTo>
                      <a:pt x="202500" y="101144"/>
                    </a:lnTo>
                    <a:cubicBezTo>
                      <a:pt x="202500" y="127970"/>
                      <a:pt x="191844" y="153696"/>
                      <a:pt x="172875" y="172664"/>
                    </a:cubicBezTo>
                    <a:cubicBezTo>
                      <a:pt x="153907" y="191633"/>
                      <a:pt x="128181" y="202289"/>
                      <a:pt x="101356" y="202289"/>
                    </a:cubicBezTo>
                    <a:lnTo>
                      <a:pt x="101144" y="202289"/>
                    </a:lnTo>
                    <a:cubicBezTo>
                      <a:pt x="74319" y="202289"/>
                      <a:pt x="48593" y="191633"/>
                      <a:pt x="29625" y="172664"/>
                    </a:cubicBezTo>
                    <a:cubicBezTo>
                      <a:pt x="10656" y="153696"/>
                      <a:pt x="0" y="127970"/>
                      <a:pt x="0" y="101144"/>
                    </a:cubicBezTo>
                    <a:lnTo>
                      <a:pt x="0" y="101144"/>
                    </a:lnTo>
                    <a:cubicBezTo>
                      <a:pt x="0" y="74319"/>
                      <a:pt x="10656" y="48593"/>
                      <a:pt x="29625" y="29625"/>
                    </a:cubicBezTo>
                    <a:cubicBezTo>
                      <a:pt x="48593" y="10656"/>
                      <a:pt x="74319" y="0"/>
                      <a:pt x="10114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sq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202500" cy="249914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8100000">
              <a:off x="360909" y="329892"/>
              <a:ext cx="422310" cy="488455"/>
            </a:xfrm>
            <a:custGeom>
              <a:avLst/>
              <a:gdLst/>
              <a:ahLst/>
              <a:cxnLst/>
              <a:rect r="r" b="b" t="t" l="l"/>
              <a:pathLst>
                <a:path h="488455" w="422310">
                  <a:moveTo>
                    <a:pt x="0" y="0"/>
                  </a:moveTo>
                  <a:lnTo>
                    <a:pt x="422310" y="0"/>
                  </a:lnTo>
                  <a:lnTo>
                    <a:pt x="422310" y="488455"/>
                  </a:lnTo>
                  <a:lnTo>
                    <a:pt x="0" y="4884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157570" y="0"/>
            <a:ext cx="10130430" cy="10287000"/>
            <a:chOff x="0" y="0"/>
            <a:chExt cx="2668097" cy="27093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668097" cy="2709333"/>
            </a:xfrm>
            <a:custGeom>
              <a:avLst/>
              <a:gdLst/>
              <a:ahLst/>
              <a:cxnLst/>
              <a:rect r="r" b="b" t="t" l="l"/>
              <a:pathLst>
                <a:path h="2709333" w="2668097">
                  <a:moveTo>
                    <a:pt x="0" y="0"/>
                  </a:moveTo>
                  <a:lnTo>
                    <a:pt x="2668097" y="0"/>
                  </a:lnTo>
                  <a:lnTo>
                    <a:pt x="2668097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3060B">
                    <a:alpha val="100000"/>
                  </a:srgbClr>
                </a:gs>
                <a:gs pos="100000">
                  <a:srgbClr val="023137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2668097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83812" y="4244903"/>
            <a:ext cx="5878364" cy="152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61"/>
              </a:lnSpc>
            </a:pPr>
            <a:r>
              <a:rPr lang="en-US" sz="10055">
                <a:gradFill>
                  <a:gsLst>
                    <a:gs pos="0">
                      <a:srgbClr val="03060B">
                        <a:alpha val="100000"/>
                      </a:srgbClr>
                    </a:gs>
                    <a:gs pos="100000">
                      <a:srgbClr val="023137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Light"/>
                <a:ea typeface="Poppins Light"/>
                <a:cs typeface="Poppins Light"/>
                <a:sym typeface="Poppins Light"/>
              </a:rPr>
              <a:t>Objetivos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83812" y="5938726"/>
            <a:ext cx="5109504" cy="33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1"/>
              </a:lnSpc>
            </a:pPr>
            <a:r>
              <a:rPr lang="en-US" sz="1942" spc="69">
                <a:solidFill>
                  <a:srgbClr val="031C22"/>
                </a:solidFill>
                <a:latin typeface="Poppins Light"/>
                <a:ea typeface="Poppins Light"/>
                <a:cs typeface="Poppins Light"/>
                <a:sym typeface="Poppins Light"/>
              </a:rPr>
              <a:t>Objetivos da marca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16616" y="3636674"/>
            <a:ext cx="3701718" cy="37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4"/>
              </a:lnSpc>
            </a:pPr>
            <a:r>
              <a:rPr lang="en-US" sz="2148" spc="7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Fortalecimento da marca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753139" y="3524777"/>
            <a:ext cx="712170" cy="714729"/>
            <a:chOff x="0" y="0"/>
            <a:chExt cx="949560" cy="952972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949560" cy="952972"/>
              <a:chOff x="0" y="0"/>
              <a:chExt cx="252439" cy="25334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52439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252439">
                    <a:moveTo>
                      <a:pt x="126220" y="0"/>
                    </a:moveTo>
                    <a:lnTo>
                      <a:pt x="126220" y="0"/>
                    </a:lnTo>
                    <a:cubicBezTo>
                      <a:pt x="195929" y="0"/>
                      <a:pt x="252439" y="56510"/>
                      <a:pt x="252439" y="126220"/>
                    </a:cubicBezTo>
                    <a:lnTo>
                      <a:pt x="252439" y="127127"/>
                    </a:lnTo>
                    <a:cubicBezTo>
                      <a:pt x="252439" y="196836"/>
                      <a:pt x="195929" y="253346"/>
                      <a:pt x="126220" y="253346"/>
                    </a:cubicBezTo>
                    <a:lnTo>
                      <a:pt x="126220" y="253346"/>
                    </a:lnTo>
                    <a:cubicBezTo>
                      <a:pt x="56510" y="253346"/>
                      <a:pt x="0" y="196836"/>
                      <a:pt x="0" y="127127"/>
                    </a:cubicBezTo>
                    <a:lnTo>
                      <a:pt x="0" y="126220"/>
                    </a:lnTo>
                    <a:cubicBezTo>
                      <a:pt x="0" y="56510"/>
                      <a:pt x="56510" y="0"/>
                      <a:pt x="1262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rnd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252439" cy="300971"/>
              </a:xfrm>
              <a:prstGeom prst="rect">
                <a:avLst/>
              </a:prstGeom>
            </p:spPr>
            <p:txBody>
              <a:bodyPr anchor="ctr" rtlCol="false" tIns="34139" lIns="34139" bIns="34139" rIns="34139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93924" y="96027"/>
              <a:ext cx="761712" cy="760918"/>
              <a:chOff x="0" y="0"/>
              <a:chExt cx="202500" cy="202289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02500" cy="202289"/>
              </a:xfrm>
              <a:custGeom>
                <a:avLst/>
                <a:gdLst/>
                <a:ahLst/>
                <a:cxnLst/>
                <a:rect r="r" b="b" t="t" l="l"/>
                <a:pathLst>
                  <a:path h="202289" w="202500">
                    <a:moveTo>
                      <a:pt x="101144" y="0"/>
                    </a:moveTo>
                    <a:lnTo>
                      <a:pt x="101356" y="0"/>
                    </a:lnTo>
                    <a:cubicBezTo>
                      <a:pt x="128181" y="0"/>
                      <a:pt x="153907" y="10656"/>
                      <a:pt x="172875" y="29625"/>
                    </a:cubicBezTo>
                    <a:cubicBezTo>
                      <a:pt x="191844" y="48593"/>
                      <a:pt x="202500" y="74319"/>
                      <a:pt x="202500" y="101144"/>
                    </a:cubicBezTo>
                    <a:lnTo>
                      <a:pt x="202500" y="101144"/>
                    </a:lnTo>
                    <a:cubicBezTo>
                      <a:pt x="202500" y="127970"/>
                      <a:pt x="191844" y="153696"/>
                      <a:pt x="172875" y="172664"/>
                    </a:cubicBezTo>
                    <a:cubicBezTo>
                      <a:pt x="153907" y="191633"/>
                      <a:pt x="128181" y="202289"/>
                      <a:pt x="101356" y="202289"/>
                    </a:cubicBezTo>
                    <a:lnTo>
                      <a:pt x="101144" y="202289"/>
                    </a:lnTo>
                    <a:cubicBezTo>
                      <a:pt x="74319" y="202289"/>
                      <a:pt x="48593" y="191633"/>
                      <a:pt x="29625" y="172664"/>
                    </a:cubicBezTo>
                    <a:cubicBezTo>
                      <a:pt x="10656" y="153696"/>
                      <a:pt x="0" y="127970"/>
                      <a:pt x="0" y="101144"/>
                    </a:cubicBezTo>
                    <a:lnTo>
                      <a:pt x="0" y="101144"/>
                    </a:lnTo>
                    <a:cubicBezTo>
                      <a:pt x="0" y="74319"/>
                      <a:pt x="10656" y="48593"/>
                      <a:pt x="29625" y="29625"/>
                    </a:cubicBezTo>
                    <a:cubicBezTo>
                      <a:pt x="48593" y="10656"/>
                      <a:pt x="74319" y="0"/>
                      <a:pt x="10114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sq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47625"/>
                <a:ext cx="202500" cy="249914"/>
              </a:xfrm>
              <a:prstGeom prst="rect">
                <a:avLst/>
              </a:prstGeom>
            </p:spPr>
            <p:txBody>
              <a:bodyPr anchor="ctr" rtlCol="false" tIns="34139" lIns="34139" bIns="34139" rIns="34139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200859" y="111222"/>
              <a:ext cx="547843" cy="7305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72"/>
                </a:lnSpc>
              </a:pPr>
              <a:r>
                <a:rPr lang="en-US" sz="3611">
                  <a:solidFill>
                    <a:srgbClr val="031C22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753139" y="4785143"/>
            <a:ext cx="712170" cy="714729"/>
            <a:chOff x="0" y="0"/>
            <a:chExt cx="949560" cy="952972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949560" cy="952972"/>
              <a:chOff x="0" y="0"/>
              <a:chExt cx="252439" cy="253346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52439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252439">
                    <a:moveTo>
                      <a:pt x="126220" y="0"/>
                    </a:moveTo>
                    <a:lnTo>
                      <a:pt x="126220" y="0"/>
                    </a:lnTo>
                    <a:cubicBezTo>
                      <a:pt x="195929" y="0"/>
                      <a:pt x="252439" y="56510"/>
                      <a:pt x="252439" y="126220"/>
                    </a:cubicBezTo>
                    <a:lnTo>
                      <a:pt x="252439" y="127127"/>
                    </a:lnTo>
                    <a:cubicBezTo>
                      <a:pt x="252439" y="196836"/>
                      <a:pt x="195929" y="253346"/>
                      <a:pt x="126220" y="253346"/>
                    </a:cubicBezTo>
                    <a:lnTo>
                      <a:pt x="126220" y="253346"/>
                    </a:lnTo>
                    <a:cubicBezTo>
                      <a:pt x="56510" y="253346"/>
                      <a:pt x="0" y="196836"/>
                      <a:pt x="0" y="127127"/>
                    </a:cubicBezTo>
                    <a:lnTo>
                      <a:pt x="0" y="126220"/>
                    </a:lnTo>
                    <a:cubicBezTo>
                      <a:pt x="0" y="56510"/>
                      <a:pt x="56510" y="0"/>
                      <a:pt x="1262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rnd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47625"/>
                <a:ext cx="252439" cy="300971"/>
              </a:xfrm>
              <a:prstGeom prst="rect">
                <a:avLst/>
              </a:prstGeom>
            </p:spPr>
            <p:txBody>
              <a:bodyPr anchor="ctr" rtlCol="false" tIns="34139" lIns="34139" bIns="34139" rIns="34139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93924" y="96027"/>
              <a:ext cx="761712" cy="760918"/>
              <a:chOff x="0" y="0"/>
              <a:chExt cx="202500" cy="202289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02500" cy="202289"/>
              </a:xfrm>
              <a:custGeom>
                <a:avLst/>
                <a:gdLst/>
                <a:ahLst/>
                <a:cxnLst/>
                <a:rect r="r" b="b" t="t" l="l"/>
                <a:pathLst>
                  <a:path h="202289" w="202500">
                    <a:moveTo>
                      <a:pt x="101144" y="0"/>
                    </a:moveTo>
                    <a:lnTo>
                      <a:pt x="101356" y="0"/>
                    </a:lnTo>
                    <a:cubicBezTo>
                      <a:pt x="128181" y="0"/>
                      <a:pt x="153907" y="10656"/>
                      <a:pt x="172875" y="29625"/>
                    </a:cubicBezTo>
                    <a:cubicBezTo>
                      <a:pt x="191844" y="48593"/>
                      <a:pt x="202500" y="74319"/>
                      <a:pt x="202500" y="101144"/>
                    </a:cubicBezTo>
                    <a:lnTo>
                      <a:pt x="202500" y="101144"/>
                    </a:lnTo>
                    <a:cubicBezTo>
                      <a:pt x="202500" y="127970"/>
                      <a:pt x="191844" y="153696"/>
                      <a:pt x="172875" y="172664"/>
                    </a:cubicBezTo>
                    <a:cubicBezTo>
                      <a:pt x="153907" y="191633"/>
                      <a:pt x="128181" y="202289"/>
                      <a:pt x="101356" y="202289"/>
                    </a:cubicBezTo>
                    <a:lnTo>
                      <a:pt x="101144" y="202289"/>
                    </a:lnTo>
                    <a:cubicBezTo>
                      <a:pt x="74319" y="202289"/>
                      <a:pt x="48593" y="191633"/>
                      <a:pt x="29625" y="172664"/>
                    </a:cubicBezTo>
                    <a:cubicBezTo>
                      <a:pt x="10656" y="153696"/>
                      <a:pt x="0" y="127970"/>
                      <a:pt x="0" y="101144"/>
                    </a:cubicBezTo>
                    <a:lnTo>
                      <a:pt x="0" y="101144"/>
                    </a:lnTo>
                    <a:cubicBezTo>
                      <a:pt x="0" y="74319"/>
                      <a:pt x="10656" y="48593"/>
                      <a:pt x="29625" y="29625"/>
                    </a:cubicBezTo>
                    <a:cubicBezTo>
                      <a:pt x="48593" y="10656"/>
                      <a:pt x="74319" y="0"/>
                      <a:pt x="10114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sq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47625"/>
                <a:ext cx="202500" cy="249914"/>
              </a:xfrm>
              <a:prstGeom prst="rect">
                <a:avLst/>
              </a:prstGeom>
            </p:spPr>
            <p:txBody>
              <a:bodyPr anchor="ctr" rtlCol="false" tIns="34139" lIns="34139" bIns="34139" rIns="34139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200859" y="111222"/>
              <a:ext cx="547843" cy="7305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72"/>
                </a:lnSpc>
              </a:pPr>
              <a:r>
                <a:rPr lang="en-US" sz="3611">
                  <a:solidFill>
                    <a:srgbClr val="031C22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753139" y="6047494"/>
            <a:ext cx="712170" cy="714729"/>
            <a:chOff x="0" y="0"/>
            <a:chExt cx="949560" cy="952972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949560" cy="952972"/>
              <a:chOff x="0" y="0"/>
              <a:chExt cx="252439" cy="253346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252439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252439">
                    <a:moveTo>
                      <a:pt x="126220" y="0"/>
                    </a:moveTo>
                    <a:lnTo>
                      <a:pt x="126220" y="0"/>
                    </a:lnTo>
                    <a:cubicBezTo>
                      <a:pt x="195929" y="0"/>
                      <a:pt x="252439" y="56510"/>
                      <a:pt x="252439" y="126220"/>
                    </a:cubicBezTo>
                    <a:lnTo>
                      <a:pt x="252439" y="127127"/>
                    </a:lnTo>
                    <a:cubicBezTo>
                      <a:pt x="252439" y="196836"/>
                      <a:pt x="195929" y="253346"/>
                      <a:pt x="126220" y="253346"/>
                    </a:cubicBezTo>
                    <a:lnTo>
                      <a:pt x="126220" y="253346"/>
                    </a:lnTo>
                    <a:cubicBezTo>
                      <a:pt x="56510" y="253346"/>
                      <a:pt x="0" y="196836"/>
                      <a:pt x="0" y="127127"/>
                    </a:cubicBezTo>
                    <a:lnTo>
                      <a:pt x="0" y="126220"/>
                    </a:lnTo>
                    <a:cubicBezTo>
                      <a:pt x="0" y="56510"/>
                      <a:pt x="56510" y="0"/>
                      <a:pt x="1262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rnd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47625"/>
                <a:ext cx="252439" cy="300971"/>
              </a:xfrm>
              <a:prstGeom prst="rect">
                <a:avLst/>
              </a:prstGeom>
            </p:spPr>
            <p:txBody>
              <a:bodyPr anchor="ctr" rtlCol="false" tIns="34139" lIns="34139" bIns="34139" rIns="34139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93924" y="96027"/>
              <a:ext cx="761712" cy="760918"/>
              <a:chOff x="0" y="0"/>
              <a:chExt cx="202500" cy="202289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202500" cy="202289"/>
              </a:xfrm>
              <a:custGeom>
                <a:avLst/>
                <a:gdLst/>
                <a:ahLst/>
                <a:cxnLst/>
                <a:rect r="r" b="b" t="t" l="l"/>
                <a:pathLst>
                  <a:path h="202289" w="202500">
                    <a:moveTo>
                      <a:pt x="101144" y="0"/>
                    </a:moveTo>
                    <a:lnTo>
                      <a:pt x="101356" y="0"/>
                    </a:lnTo>
                    <a:cubicBezTo>
                      <a:pt x="128181" y="0"/>
                      <a:pt x="153907" y="10656"/>
                      <a:pt x="172875" y="29625"/>
                    </a:cubicBezTo>
                    <a:cubicBezTo>
                      <a:pt x="191844" y="48593"/>
                      <a:pt x="202500" y="74319"/>
                      <a:pt x="202500" y="101144"/>
                    </a:cubicBezTo>
                    <a:lnTo>
                      <a:pt x="202500" y="101144"/>
                    </a:lnTo>
                    <a:cubicBezTo>
                      <a:pt x="202500" y="127970"/>
                      <a:pt x="191844" y="153696"/>
                      <a:pt x="172875" y="172664"/>
                    </a:cubicBezTo>
                    <a:cubicBezTo>
                      <a:pt x="153907" y="191633"/>
                      <a:pt x="128181" y="202289"/>
                      <a:pt x="101356" y="202289"/>
                    </a:cubicBezTo>
                    <a:lnTo>
                      <a:pt x="101144" y="202289"/>
                    </a:lnTo>
                    <a:cubicBezTo>
                      <a:pt x="74319" y="202289"/>
                      <a:pt x="48593" y="191633"/>
                      <a:pt x="29625" y="172664"/>
                    </a:cubicBezTo>
                    <a:cubicBezTo>
                      <a:pt x="10656" y="153696"/>
                      <a:pt x="0" y="127970"/>
                      <a:pt x="0" y="101144"/>
                    </a:cubicBezTo>
                    <a:lnTo>
                      <a:pt x="0" y="101144"/>
                    </a:lnTo>
                    <a:cubicBezTo>
                      <a:pt x="0" y="74319"/>
                      <a:pt x="10656" y="48593"/>
                      <a:pt x="29625" y="29625"/>
                    </a:cubicBezTo>
                    <a:cubicBezTo>
                      <a:pt x="48593" y="10656"/>
                      <a:pt x="74319" y="0"/>
                      <a:pt x="10114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sq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47625"/>
                <a:ext cx="202500" cy="249914"/>
              </a:xfrm>
              <a:prstGeom prst="rect">
                <a:avLst/>
              </a:prstGeom>
            </p:spPr>
            <p:txBody>
              <a:bodyPr anchor="ctr" rtlCol="false" tIns="34139" lIns="34139" bIns="34139" rIns="34139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200859" y="111222"/>
              <a:ext cx="547843" cy="7305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72"/>
                </a:lnSpc>
              </a:pPr>
              <a:r>
                <a:rPr lang="en-US" sz="3611">
                  <a:solidFill>
                    <a:srgbClr val="031C22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3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916616" y="6218161"/>
            <a:ext cx="4353731" cy="37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4"/>
              </a:lnSpc>
            </a:pPr>
            <a:r>
              <a:rPr lang="en-US" sz="2148" spc="7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Atração de leads qualificados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916616" y="5085357"/>
            <a:ext cx="4282514" cy="37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4"/>
              </a:lnSpc>
            </a:pPr>
            <a:r>
              <a:rPr lang="en-US" sz="2148" spc="7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Posicionamento e autoridade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60B">
                <a:alpha val="100000"/>
              </a:srgbClr>
            </a:gs>
            <a:gs pos="50000">
              <a:srgbClr val="03060B">
                <a:alpha val="100000"/>
              </a:srgbClr>
            </a:gs>
            <a:gs pos="100000">
              <a:srgbClr val="023137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73916" y="1751193"/>
            <a:ext cx="5395436" cy="223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2068" indent="-231034" lvl="1">
              <a:lnSpc>
                <a:spcPts val="2953"/>
              </a:lnSpc>
              <a:buFont typeface="Arial"/>
              <a:buChar char="•"/>
            </a:pPr>
            <a:r>
              <a:rPr lang="en-US" sz="2140" spc="7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58 anos de história</a:t>
            </a:r>
          </a:p>
          <a:p>
            <a:pPr algn="l" marL="462068" indent="-231034" lvl="1">
              <a:lnSpc>
                <a:spcPts val="2953"/>
              </a:lnSpc>
              <a:buFont typeface="Arial"/>
              <a:buChar char="•"/>
            </a:pPr>
            <a:r>
              <a:rPr lang="en-US" sz="2140" spc="7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1.554 clientes</a:t>
            </a:r>
          </a:p>
          <a:p>
            <a:pPr algn="l" marL="462068" indent="-231034" lvl="1">
              <a:lnSpc>
                <a:spcPts val="2953"/>
              </a:lnSpc>
              <a:buFont typeface="Arial"/>
              <a:buChar char="•"/>
            </a:pPr>
            <a:r>
              <a:rPr lang="en-US" sz="2140" spc="7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Taxa de retenção: </a:t>
            </a:r>
          </a:p>
          <a:p>
            <a:pPr algn="l">
              <a:lnSpc>
                <a:spcPts val="2953"/>
              </a:lnSpc>
            </a:pPr>
            <a:r>
              <a:rPr lang="en-US" sz="2140" spc="7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     Clientes com 20 anos de contrato</a:t>
            </a:r>
          </a:p>
          <a:p>
            <a:pPr algn="l" marL="462068" indent="-231034" lvl="1">
              <a:lnSpc>
                <a:spcPts val="2953"/>
              </a:lnSpc>
              <a:buFont typeface="Arial"/>
              <a:buChar char="•"/>
            </a:pPr>
            <a:r>
              <a:rPr lang="en-US" sz="2140" spc="7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5 mil colaboradores </a:t>
            </a:r>
          </a:p>
          <a:p>
            <a:pPr algn="l" marL="462068" indent="-231034" lvl="1">
              <a:lnSpc>
                <a:spcPts val="2953"/>
              </a:lnSpc>
              <a:buFont typeface="Arial"/>
              <a:buChar char="•"/>
            </a:pPr>
            <a:r>
              <a:rPr lang="en-US" sz="2140" spc="7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Especialização em </a:t>
            </a:r>
            <a:r>
              <a:rPr lang="en-US" b="true" sz="2140" spc="7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nicho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91293" y="5297342"/>
            <a:ext cx="10156831" cy="409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2068" indent="-231034" lvl="1">
              <a:lnSpc>
                <a:spcPts val="2953"/>
              </a:lnSpc>
              <a:buFont typeface="Arial"/>
              <a:buChar char="•"/>
            </a:pPr>
            <a:r>
              <a:rPr lang="en-US" sz="2140" spc="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Acompanhamento de desempenho dos funcionários.</a:t>
            </a:r>
          </a:p>
          <a:p>
            <a:pPr algn="l" marL="462068" indent="-231034" lvl="1">
              <a:lnSpc>
                <a:spcPts val="2953"/>
              </a:lnSpc>
              <a:buFont typeface="Arial"/>
              <a:buChar char="•"/>
            </a:pPr>
            <a:r>
              <a:rPr lang="en-US" sz="2140" spc="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Apresentação e padronização de uniformes.</a:t>
            </a:r>
          </a:p>
          <a:p>
            <a:pPr algn="l" marL="462068" indent="-231034" lvl="1">
              <a:lnSpc>
                <a:spcPts val="2953"/>
              </a:lnSpc>
              <a:buFont typeface="Arial"/>
              <a:buChar char="•"/>
            </a:pPr>
            <a:r>
              <a:rPr lang="en-US" sz="2140" spc="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Cobertura de faltas em situação de férias ou licenças.</a:t>
            </a:r>
          </a:p>
          <a:p>
            <a:pPr algn="l" marL="462068" indent="-231034" lvl="1">
              <a:lnSpc>
                <a:spcPts val="2953"/>
              </a:lnSpc>
              <a:buFont typeface="Arial"/>
              <a:buChar char="•"/>
            </a:pPr>
            <a:r>
              <a:rPr lang="en-US" sz="2140" spc="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Diferenciais para colaboradores. </a:t>
            </a:r>
          </a:p>
          <a:p>
            <a:pPr algn="l">
              <a:lnSpc>
                <a:spcPts val="2953"/>
              </a:lnSpc>
            </a:pPr>
          </a:p>
          <a:p>
            <a:pPr algn="l">
              <a:lnSpc>
                <a:spcPts val="2953"/>
              </a:lnSpc>
            </a:pPr>
            <a:r>
              <a:rPr lang="en-US" sz="2140" spc="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★ Certificações atendidas.</a:t>
            </a:r>
          </a:p>
          <a:p>
            <a:pPr algn="l">
              <a:lnSpc>
                <a:spcPts val="2953"/>
              </a:lnSpc>
            </a:pPr>
            <a:r>
              <a:rPr lang="en-US" sz="2140" spc="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★ Integração de tecnologia junto aos processos.</a:t>
            </a:r>
          </a:p>
          <a:p>
            <a:pPr algn="l">
              <a:lnSpc>
                <a:spcPts val="2953"/>
              </a:lnSpc>
            </a:pPr>
            <a:r>
              <a:rPr lang="en-US" sz="2140" spc="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★ Sistema de gestão operacional</a:t>
            </a:r>
          </a:p>
          <a:p>
            <a:pPr algn="l">
              <a:lnSpc>
                <a:spcPts val="2953"/>
              </a:lnSpc>
            </a:pPr>
            <a:r>
              <a:rPr lang="en-US" sz="2140" spc="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★ Compliance</a:t>
            </a:r>
          </a:p>
          <a:p>
            <a:pPr algn="l">
              <a:lnSpc>
                <a:spcPts val="2953"/>
              </a:lnSpc>
            </a:pPr>
            <a:r>
              <a:rPr lang="en-US" sz="2140" spc="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★ Ações sociais</a:t>
            </a:r>
          </a:p>
          <a:p>
            <a:pPr algn="l">
              <a:lnSpc>
                <a:spcPts val="2953"/>
              </a:lnSpc>
            </a:pPr>
            <a:r>
              <a:rPr lang="en-US" sz="2140" spc="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★ Modelos operacionais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5335300"/>
            <a:ext cx="945216" cy="948612"/>
            <a:chOff x="0" y="0"/>
            <a:chExt cx="1260288" cy="126481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260288" cy="1264816"/>
              <a:chOff x="0" y="0"/>
              <a:chExt cx="252439" cy="25334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52439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252439">
                    <a:moveTo>
                      <a:pt x="126220" y="0"/>
                    </a:moveTo>
                    <a:lnTo>
                      <a:pt x="126220" y="0"/>
                    </a:lnTo>
                    <a:cubicBezTo>
                      <a:pt x="195929" y="0"/>
                      <a:pt x="252439" y="56510"/>
                      <a:pt x="252439" y="126220"/>
                    </a:cubicBezTo>
                    <a:lnTo>
                      <a:pt x="252439" y="127127"/>
                    </a:lnTo>
                    <a:cubicBezTo>
                      <a:pt x="252439" y="196836"/>
                      <a:pt x="195929" y="253346"/>
                      <a:pt x="126220" y="253346"/>
                    </a:cubicBezTo>
                    <a:lnTo>
                      <a:pt x="126220" y="253346"/>
                    </a:lnTo>
                    <a:cubicBezTo>
                      <a:pt x="56510" y="253346"/>
                      <a:pt x="0" y="196836"/>
                      <a:pt x="0" y="127127"/>
                    </a:cubicBezTo>
                    <a:lnTo>
                      <a:pt x="0" y="126220"/>
                    </a:lnTo>
                    <a:cubicBezTo>
                      <a:pt x="0" y="56510"/>
                      <a:pt x="56510" y="0"/>
                      <a:pt x="1262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rnd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252439" cy="300971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124659" y="127450"/>
              <a:ext cx="1010970" cy="1009916"/>
              <a:chOff x="0" y="0"/>
              <a:chExt cx="202500" cy="202289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02500" cy="202289"/>
              </a:xfrm>
              <a:custGeom>
                <a:avLst/>
                <a:gdLst/>
                <a:ahLst/>
                <a:cxnLst/>
                <a:rect r="r" b="b" t="t" l="l"/>
                <a:pathLst>
                  <a:path h="202289" w="202500">
                    <a:moveTo>
                      <a:pt x="101144" y="0"/>
                    </a:moveTo>
                    <a:lnTo>
                      <a:pt x="101356" y="0"/>
                    </a:lnTo>
                    <a:cubicBezTo>
                      <a:pt x="128181" y="0"/>
                      <a:pt x="153907" y="10656"/>
                      <a:pt x="172875" y="29625"/>
                    </a:cubicBezTo>
                    <a:cubicBezTo>
                      <a:pt x="191844" y="48593"/>
                      <a:pt x="202500" y="74319"/>
                      <a:pt x="202500" y="101144"/>
                    </a:cubicBezTo>
                    <a:lnTo>
                      <a:pt x="202500" y="101144"/>
                    </a:lnTo>
                    <a:cubicBezTo>
                      <a:pt x="202500" y="127970"/>
                      <a:pt x="191844" y="153696"/>
                      <a:pt x="172875" y="172664"/>
                    </a:cubicBezTo>
                    <a:cubicBezTo>
                      <a:pt x="153907" y="191633"/>
                      <a:pt x="128181" y="202289"/>
                      <a:pt x="101356" y="202289"/>
                    </a:cubicBezTo>
                    <a:lnTo>
                      <a:pt x="101144" y="202289"/>
                    </a:lnTo>
                    <a:cubicBezTo>
                      <a:pt x="74319" y="202289"/>
                      <a:pt x="48593" y="191633"/>
                      <a:pt x="29625" y="172664"/>
                    </a:cubicBezTo>
                    <a:cubicBezTo>
                      <a:pt x="10656" y="153696"/>
                      <a:pt x="0" y="127970"/>
                      <a:pt x="0" y="101144"/>
                    </a:cubicBezTo>
                    <a:lnTo>
                      <a:pt x="0" y="101144"/>
                    </a:lnTo>
                    <a:cubicBezTo>
                      <a:pt x="0" y="74319"/>
                      <a:pt x="10656" y="48593"/>
                      <a:pt x="29625" y="29625"/>
                    </a:cubicBezTo>
                    <a:cubicBezTo>
                      <a:pt x="48593" y="10656"/>
                      <a:pt x="74319" y="0"/>
                      <a:pt x="10114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sq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202500" cy="249914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8100000">
              <a:off x="397551" y="363385"/>
              <a:ext cx="465187" cy="538047"/>
            </a:xfrm>
            <a:custGeom>
              <a:avLst/>
              <a:gdLst/>
              <a:ahLst/>
              <a:cxnLst/>
              <a:rect r="r" b="b" t="t" l="l"/>
              <a:pathLst>
                <a:path h="538047" w="465187">
                  <a:moveTo>
                    <a:pt x="0" y="0"/>
                  </a:moveTo>
                  <a:lnTo>
                    <a:pt x="465186" y="0"/>
                  </a:lnTo>
                  <a:lnTo>
                    <a:pt x="465186" y="538047"/>
                  </a:lnTo>
                  <a:lnTo>
                    <a:pt x="0" y="538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785005" y="7930965"/>
            <a:ext cx="2855347" cy="181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1"/>
              </a:lnSpc>
            </a:pPr>
            <a:r>
              <a:rPr lang="en-US" sz="6264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Poppins Light"/>
                <a:ea typeface="Poppins Light"/>
                <a:cs typeface="Poppins Light"/>
                <a:sym typeface="Poppins Light"/>
              </a:rPr>
              <a:t>Estado </a:t>
            </a:r>
            <a:r>
              <a:rPr lang="en-US" sz="6264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Light"/>
                <a:ea typeface="Poppins Light"/>
                <a:cs typeface="Poppins Light"/>
                <a:sym typeface="Poppins Light"/>
              </a:rPr>
              <a:t>Atual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012245"/>
            <a:ext cx="3226807" cy="5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1"/>
              </a:lnSpc>
            </a:pPr>
            <a:r>
              <a:rPr lang="en-US" sz="3946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Poppins Light"/>
                <a:ea typeface="Poppins Light"/>
                <a:cs typeface="Poppins Light"/>
                <a:sym typeface="Poppins Light"/>
              </a:rPr>
              <a:t>Pontos fortes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4539202"/>
            <a:ext cx="9543974" cy="5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1"/>
              </a:lnSpc>
            </a:pPr>
            <a:r>
              <a:rPr lang="en-US" sz="3946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Poppins Light"/>
                <a:ea typeface="Poppins Light"/>
                <a:cs typeface="Poppins Light"/>
                <a:sym typeface="Poppins Light"/>
              </a:rPr>
              <a:t>Oportunidades que podemos explorar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54230" y="1777172"/>
            <a:ext cx="6152158" cy="1195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3876" indent="-246938" lvl="1">
              <a:lnSpc>
                <a:spcPts val="3156"/>
              </a:lnSpc>
              <a:buFont typeface="Arial"/>
              <a:buChar char="•"/>
            </a:pPr>
            <a:r>
              <a:rPr lang="en-US" sz="2287" spc="82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Preço acima da média do mercado.</a:t>
            </a:r>
          </a:p>
          <a:p>
            <a:pPr algn="l" marL="493876" indent="-246938" lvl="1">
              <a:lnSpc>
                <a:spcPts val="3156"/>
              </a:lnSpc>
              <a:buFont typeface="Arial"/>
              <a:buChar char="•"/>
            </a:pPr>
            <a:r>
              <a:rPr lang="en-US" sz="2287" spc="82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Identidade visual do Instagram não reflete o serviço premium.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121715" y="1824797"/>
            <a:ext cx="665373" cy="667764"/>
            <a:chOff x="0" y="0"/>
            <a:chExt cx="887164" cy="89035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887164" cy="890351"/>
              <a:chOff x="0" y="0"/>
              <a:chExt cx="252439" cy="25334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52439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252439">
                    <a:moveTo>
                      <a:pt x="126220" y="0"/>
                    </a:moveTo>
                    <a:lnTo>
                      <a:pt x="126220" y="0"/>
                    </a:lnTo>
                    <a:cubicBezTo>
                      <a:pt x="195929" y="0"/>
                      <a:pt x="252439" y="56510"/>
                      <a:pt x="252439" y="126220"/>
                    </a:cubicBezTo>
                    <a:lnTo>
                      <a:pt x="252439" y="127127"/>
                    </a:lnTo>
                    <a:cubicBezTo>
                      <a:pt x="252439" y="196836"/>
                      <a:pt x="195929" y="253346"/>
                      <a:pt x="126220" y="253346"/>
                    </a:cubicBezTo>
                    <a:lnTo>
                      <a:pt x="126220" y="253346"/>
                    </a:lnTo>
                    <a:cubicBezTo>
                      <a:pt x="56510" y="253346"/>
                      <a:pt x="0" y="196836"/>
                      <a:pt x="0" y="127127"/>
                    </a:cubicBezTo>
                    <a:lnTo>
                      <a:pt x="0" y="126220"/>
                    </a:lnTo>
                    <a:cubicBezTo>
                      <a:pt x="0" y="56510"/>
                      <a:pt x="56510" y="0"/>
                      <a:pt x="1262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rnd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252439" cy="300971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87752" y="89717"/>
              <a:ext cx="711659" cy="710917"/>
              <a:chOff x="0" y="0"/>
              <a:chExt cx="202500" cy="202289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02500" cy="202289"/>
              </a:xfrm>
              <a:custGeom>
                <a:avLst/>
                <a:gdLst/>
                <a:ahLst/>
                <a:cxnLst/>
                <a:rect r="r" b="b" t="t" l="l"/>
                <a:pathLst>
                  <a:path h="202289" w="202500">
                    <a:moveTo>
                      <a:pt x="101144" y="0"/>
                    </a:moveTo>
                    <a:lnTo>
                      <a:pt x="101356" y="0"/>
                    </a:lnTo>
                    <a:cubicBezTo>
                      <a:pt x="128181" y="0"/>
                      <a:pt x="153907" y="10656"/>
                      <a:pt x="172875" y="29625"/>
                    </a:cubicBezTo>
                    <a:cubicBezTo>
                      <a:pt x="191844" y="48593"/>
                      <a:pt x="202500" y="74319"/>
                      <a:pt x="202500" y="101144"/>
                    </a:cubicBezTo>
                    <a:lnTo>
                      <a:pt x="202500" y="101144"/>
                    </a:lnTo>
                    <a:cubicBezTo>
                      <a:pt x="202500" y="127970"/>
                      <a:pt x="191844" y="153696"/>
                      <a:pt x="172875" y="172664"/>
                    </a:cubicBezTo>
                    <a:cubicBezTo>
                      <a:pt x="153907" y="191633"/>
                      <a:pt x="128181" y="202289"/>
                      <a:pt x="101356" y="202289"/>
                    </a:cubicBezTo>
                    <a:lnTo>
                      <a:pt x="101144" y="202289"/>
                    </a:lnTo>
                    <a:cubicBezTo>
                      <a:pt x="74319" y="202289"/>
                      <a:pt x="48593" y="191633"/>
                      <a:pt x="29625" y="172664"/>
                    </a:cubicBezTo>
                    <a:cubicBezTo>
                      <a:pt x="10656" y="153696"/>
                      <a:pt x="0" y="127970"/>
                      <a:pt x="0" y="101144"/>
                    </a:cubicBezTo>
                    <a:lnTo>
                      <a:pt x="0" y="101144"/>
                    </a:lnTo>
                    <a:cubicBezTo>
                      <a:pt x="0" y="74319"/>
                      <a:pt x="10656" y="48593"/>
                      <a:pt x="29625" y="29625"/>
                    </a:cubicBezTo>
                    <a:cubicBezTo>
                      <a:pt x="48593" y="10656"/>
                      <a:pt x="74319" y="0"/>
                      <a:pt x="10114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sq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47625"/>
                <a:ext cx="202500" cy="249914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Freeform 23" id="23"/>
            <p:cNvSpPr/>
            <p:nvPr/>
          </p:nvSpPr>
          <p:spPr>
            <a:xfrm flipH="false" flipV="false" rot="8100000">
              <a:off x="279851" y="255800"/>
              <a:ext cx="327462" cy="378751"/>
            </a:xfrm>
            <a:custGeom>
              <a:avLst/>
              <a:gdLst/>
              <a:ahLst/>
              <a:cxnLst/>
              <a:rect r="r" b="b" t="t" l="l"/>
              <a:pathLst>
                <a:path h="378751" w="327462">
                  <a:moveTo>
                    <a:pt x="0" y="0"/>
                  </a:moveTo>
                  <a:lnTo>
                    <a:pt x="327462" y="0"/>
                  </a:lnTo>
                  <a:lnTo>
                    <a:pt x="327462" y="378751"/>
                  </a:lnTo>
                  <a:lnTo>
                    <a:pt x="0" y="378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28700" y="1808343"/>
            <a:ext cx="665373" cy="667764"/>
            <a:chOff x="0" y="0"/>
            <a:chExt cx="887164" cy="890351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887164" cy="890351"/>
              <a:chOff x="0" y="0"/>
              <a:chExt cx="252439" cy="253346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52439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252439">
                    <a:moveTo>
                      <a:pt x="126220" y="0"/>
                    </a:moveTo>
                    <a:lnTo>
                      <a:pt x="126220" y="0"/>
                    </a:lnTo>
                    <a:cubicBezTo>
                      <a:pt x="195929" y="0"/>
                      <a:pt x="252439" y="56510"/>
                      <a:pt x="252439" y="126220"/>
                    </a:cubicBezTo>
                    <a:lnTo>
                      <a:pt x="252439" y="127127"/>
                    </a:lnTo>
                    <a:cubicBezTo>
                      <a:pt x="252439" y="196836"/>
                      <a:pt x="195929" y="253346"/>
                      <a:pt x="126220" y="253346"/>
                    </a:cubicBezTo>
                    <a:lnTo>
                      <a:pt x="126220" y="253346"/>
                    </a:lnTo>
                    <a:cubicBezTo>
                      <a:pt x="56510" y="253346"/>
                      <a:pt x="0" y="196836"/>
                      <a:pt x="0" y="127127"/>
                    </a:cubicBezTo>
                    <a:lnTo>
                      <a:pt x="0" y="126220"/>
                    </a:lnTo>
                    <a:cubicBezTo>
                      <a:pt x="0" y="56510"/>
                      <a:pt x="56510" y="0"/>
                      <a:pt x="1262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rnd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47625"/>
                <a:ext cx="252439" cy="300971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87752" y="89717"/>
              <a:ext cx="711659" cy="710917"/>
              <a:chOff x="0" y="0"/>
              <a:chExt cx="202500" cy="202289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02500" cy="202289"/>
              </a:xfrm>
              <a:custGeom>
                <a:avLst/>
                <a:gdLst/>
                <a:ahLst/>
                <a:cxnLst/>
                <a:rect r="r" b="b" t="t" l="l"/>
                <a:pathLst>
                  <a:path h="202289" w="202500">
                    <a:moveTo>
                      <a:pt x="101144" y="0"/>
                    </a:moveTo>
                    <a:lnTo>
                      <a:pt x="101356" y="0"/>
                    </a:lnTo>
                    <a:cubicBezTo>
                      <a:pt x="128181" y="0"/>
                      <a:pt x="153907" y="10656"/>
                      <a:pt x="172875" y="29625"/>
                    </a:cubicBezTo>
                    <a:cubicBezTo>
                      <a:pt x="191844" y="48593"/>
                      <a:pt x="202500" y="74319"/>
                      <a:pt x="202500" y="101144"/>
                    </a:cubicBezTo>
                    <a:lnTo>
                      <a:pt x="202500" y="101144"/>
                    </a:lnTo>
                    <a:cubicBezTo>
                      <a:pt x="202500" y="127970"/>
                      <a:pt x="191844" y="153696"/>
                      <a:pt x="172875" y="172664"/>
                    </a:cubicBezTo>
                    <a:cubicBezTo>
                      <a:pt x="153907" y="191633"/>
                      <a:pt x="128181" y="202289"/>
                      <a:pt x="101356" y="202289"/>
                    </a:cubicBezTo>
                    <a:lnTo>
                      <a:pt x="101144" y="202289"/>
                    </a:lnTo>
                    <a:cubicBezTo>
                      <a:pt x="74319" y="202289"/>
                      <a:pt x="48593" y="191633"/>
                      <a:pt x="29625" y="172664"/>
                    </a:cubicBezTo>
                    <a:cubicBezTo>
                      <a:pt x="10656" y="153696"/>
                      <a:pt x="0" y="127970"/>
                      <a:pt x="0" y="101144"/>
                    </a:cubicBezTo>
                    <a:lnTo>
                      <a:pt x="0" y="101144"/>
                    </a:lnTo>
                    <a:cubicBezTo>
                      <a:pt x="0" y="74319"/>
                      <a:pt x="10656" y="48593"/>
                      <a:pt x="29625" y="29625"/>
                    </a:cubicBezTo>
                    <a:cubicBezTo>
                      <a:pt x="48593" y="10656"/>
                      <a:pt x="74319" y="0"/>
                      <a:pt x="10114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sq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47625"/>
                <a:ext cx="202500" cy="249914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Freeform 31" id="31"/>
            <p:cNvSpPr/>
            <p:nvPr/>
          </p:nvSpPr>
          <p:spPr>
            <a:xfrm flipH="false" flipV="false" rot="8100000">
              <a:off x="279851" y="255800"/>
              <a:ext cx="327462" cy="378751"/>
            </a:xfrm>
            <a:custGeom>
              <a:avLst/>
              <a:gdLst/>
              <a:ahLst/>
              <a:cxnLst/>
              <a:rect r="r" b="b" t="t" l="l"/>
              <a:pathLst>
                <a:path h="378751" w="327462">
                  <a:moveTo>
                    <a:pt x="0" y="0"/>
                  </a:moveTo>
                  <a:lnTo>
                    <a:pt x="327462" y="0"/>
                  </a:lnTo>
                  <a:lnTo>
                    <a:pt x="327462" y="378751"/>
                  </a:lnTo>
                  <a:lnTo>
                    <a:pt x="0" y="378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1166808" y="1028700"/>
            <a:ext cx="3614982" cy="637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0"/>
              </a:lnSpc>
            </a:pPr>
            <a:r>
              <a:rPr lang="en-US" sz="4218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Poppins Light"/>
                <a:ea typeface="Poppins Light"/>
                <a:cs typeface="Poppins Light"/>
                <a:sym typeface="Poppins Light"/>
              </a:rPr>
              <a:t>Pontos fracos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60B">
                <a:alpha val="100000"/>
              </a:srgbClr>
            </a:gs>
            <a:gs pos="100000">
              <a:srgbClr val="02313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28209" y="8997360"/>
            <a:ext cx="2688680" cy="260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2"/>
              </a:lnSpc>
            </a:pPr>
            <a:r>
              <a:rPr lang="en-US" b="true" sz="2100" spc="-157">
                <a:solidFill>
                  <a:srgbClr val="64636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Baixo Lucro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78414" y="5260554"/>
            <a:ext cx="2141103" cy="260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12"/>
              </a:lnSpc>
            </a:pPr>
            <a:r>
              <a:rPr lang="en-US" b="true" sz="2100" spc="-157">
                <a:solidFill>
                  <a:srgbClr val="64636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Baixa popularidade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28209" y="1432475"/>
            <a:ext cx="2688680" cy="260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2"/>
              </a:lnSpc>
            </a:pPr>
            <a:r>
              <a:rPr lang="en-US" b="true" sz="2100" spc="-157">
                <a:solidFill>
                  <a:srgbClr val="64636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Alto Lucro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67997" y="1380970"/>
            <a:ext cx="1379458" cy="312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0"/>
              </a:lnSpc>
            </a:pPr>
            <a:r>
              <a:rPr lang="en-US" b="true" sz="2625" spc="-196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ESTRELAS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11430" y="8857134"/>
            <a:ext cx="1536025" cy="312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0"/>
              </a:lnSpc>
            </a:pPr>
            <a:r>
              <a:rPr lang="en-US" b="true" sz="2625" spc="-196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MEDIANOS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78414" y="8857134"/>
            <a:ext cx="2413159" cy="312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0"/>
              </a:lnSpc>
            </a:pPr>
            <a:r>
              <a:rPr lang="en-US" b="true" sz="2625" spc="-196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PROBLEMÁTICOS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78414" y="1365181"/>
            <a:ext cx="2291120" cy="312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0"/>
              </a:lnSpc>
            </a:pPr>
            <a:r>
              <a:rPr lang="en-US" b="true" sz="2625" spc="-196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OPORTUNIDADE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9092554" y="1953488"/>
            <a:ext cx="0" cy="6817921"/>
          </a:xfrm>
          <a:prstGeom prst="line">
            <a:avLst/>
          </a:prstGeom>
          <a:ln cap="flat" w="38100">
            <a:gradFill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  <a:prstDash val="solid"/>
            <a:headEnd type="arrow" len="sm" w="med"/>
            <a:tailEnd type="arrow" len="sm" w="med"/>
          </a:ln>
        </p:spPr>
      </p:sp>
      <p:sp>
        <p:nvSpPr>
          <p:cNvPr name="TextBox 10" id="10"/>
          <p:cNvSpPr txBox="true"/>
          <p:nvPr/>
        </p:nvSpPr>
        <p:spPr>
          <a:xfrm rot="0">
            <a:off x="10748827" y="1647696"/>
            <a:ext cx="3864427" cy="1463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b="true" sz="5250" spc="-409">
                <a:solidFill>
                  <a:srgbClr val="B0F64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Limpeza e Conservação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91573" y="2064900"/>
            <a:ext cx="385120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b="true" sz="2499" spc="89">
                <a:solidFill>
                  <a:srgbClr val="B0F64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Proj</a:t>
            </a:r>
            <a:r>
              <a:rPr lang="en-US" b="true" sz="2499" spc="89">
                <a:solidFill>
                  <a:srgbClr val="B0F64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etos Integrados de Segurança Eletronica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491573" y="2796503"/>
            <a:ext cx="3130391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spc="89">
                <a:solidFill>
                  <a:srgbClr val="B0F64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Controle de Acesso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491573" y="3406103"/>
            <a:ext cx="1697355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spc="89">
                <a:solidFill>
                  <a:srgbClr val="B0F64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Recepção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491573" y="3978138"/>
            <a:ext cx="1637348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89">
                <a:solidFill>
                  <a:srgbClr val="B0F64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Zeladoria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491573" y="4549638"/>
            <a:ext cx="2543889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89">
                <a:solidFill>
                  <a:srgbClr val="B0F64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outras facilities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48827" y="3266403"/>
            <a:ext cx="3327822" cy="1463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b="true" sz="5250" spc="-409">
                <a:solidFill>
                  <a:srgbClr val="B0F64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Vigilância Patrimonial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076650" y="5260554"/>
            <a:ext cx="1970805" cy="260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2100" spc="-157" b="true">
                <a:solidFill>
                  <a:srgbClr val="64636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Alta popularidade</a:t>
            </a:r>
          </a:p>
        </p:txBody>
      </p:sp>
      <p:sp>
        <p:nvSpPr>
          <p:cNvPr name="TextBox 18" id="18"/>
          <p:cNvSpPr txBox="true"/>
          <p:nvPr/>
        </p:nvSpPr>
        <p:spPr>
          <a:xfrm rot="-5400000">
            <a:off x="-43234" y="2631070"/>
            <a:ext cx="2328284" cy="569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3"/>
              </a:lnSpc>
            </a:pPr>
            <a:r>
              <a:rPr lang="en-US" b="true" sz="3116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Analise BCG</a:t>
            </a:r>
          </a:p>
        </p:txBody>
      </p:sp>
      <p:sp>
        <p:nvSpPr>
          <p:cNvPr name="AutoShape 19" id="19"/>
          <p:cNvSpPr/>
          <p:nvPr/>
        </p:nvSpPr>
        <p:spPr>
          <a:xfrm flipH="true">
            <a:off x="4369533" y="5381499"/>
            <a:ext cx="9590703" cy="0"/>
          </a:xfrm>
          <a:prstGeom prst="line">
            <a:avLst/>
          </a:prstGeom>
          <a:ln cap="flat" w="38100">
            <a:gradFill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  <a:prstDash val="solid"/>
            <a:headEnd type="arrow" len="sm" w="med"/>
            <a:tailEnd type="arrow" len="sm" w="med"/>
          </a:ln>
        </p:spPr>
      </p:sp>
      <p:grpSp>
        <p:nvGrpSpPr>
          <p:cNvPr name="Group 20" id="20"/>
          <p:cNvGrpSpPr/>
          <p:nvPr/>
        </p:nvGrpSpPr>
        <p:grpSpPr>
          <a:xfrm rot="0">
            <a:off x="699890" y="553594"/>
            <a:ext cx="946810" cy="950211"/>
            <a:chOff x="0" y="0"/>
            <a:chExt cx="1262413" cy="1266949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262413" cy="1266949"/>
              <a:chOff x="0" y="0"/>
              <a:chExt cx="252439" cy="253346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52439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252439">
                    <a:moveTo>
                      <a:pt x="126220" y="0"/>
                    </a:moveTo>
                    <a:lnTo>
                      <a:pt x="126220" y="0"/>
                    </a:lnTo>
                    <a:cubicBezTo>
                      <a:pt x="195929" y="0"/>
                      <a:pt x="252439" y="56510"/>
                      <a:pt x="252439" y="126220"/>
                    </a:cubicBezTo>
                    <a:lnTo>
                      <a:pt x="252439" y="127127"/>
                    </a:lnTo>
                    <a:cubicBezTo>
                      <a:pt x="252439" y="196836"/>
                      <a:pt x="195929" y="253346"/>
                      <a:pt x="126220" y="253346"/>
                    </a:cubicBezTo>
                    <a:lnTo>
                      <a:pt x="126220" y="253346"/>
                    </a:lnTo>
                    <a:cubicBezTo>
                      <a:pt x="56510" y="253346"/>
                      <a:pt x="0" y="196836"/>
                      <a:pt x="0" y="127127"/>
                    </a:cubicBezTo>
                    <a:lnTo>
                      <a:pt x="0" y="126220"/>
                    </a:lnTo>
                    <a:cubicBezTo>
                      <a:pt x="0" y="56510"/>
                      <a:pt x="56510" y="0"/>
                      <a:pt x="1262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rnd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47625"/>
                <a:ext cx="252439" cy="300971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24869" y="127665"/>
              <a:ext cx="1012674" cy="1011618"/>
              <a:chOff x="0" y="0"/>
              <a:chExt cx="202500" cy="20228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02500" cy="202289"/>
              </a:xfrm>
              <a:custGeom>
                <a:avLst/>
                <a:gdLst/>
                <a:ahLst/>
                <a:cxnLst/>
                <a:rect r="r" b="b" t="t" l="l"/>
                <a:pathLst>
                  <a:path h="202289" w="202500">
                    <a:moveTo>
                      <a:pt x="101144" y="0"/>
                    </a:moveTo>
                    <a:lnTo>
                      <a:pt x="101356" y="0"/>
                    </a:lnTo>
                    <a:cubicBezTo>
                      <a:pt x="128181" y="0"/>
                      <a:pt x="153907" y="10656"/>
                      <a:pt x="172875" y="29625"/>
                    </a:cubicBezTo>
                    <a:cubicBezTo>
                      <a:pt x="191844" y="48593"/>
                      <a:pt x="202500" y="74319"/>
                      <a:pt x="202500" y="101144"/>
                    </a:cubicBezTo>
                    <a:lnTo>
                      <a:pt x="202500" y="101144"/>
                    </a:lnTo>
                    <a:cubicBezTo>
                      <a:pt x="202500" y="127970"/>
                      <a:pt x="191844" y="153696"/>
                      <a:pt x="172875" y="172664"/>
                    </a:cubicBezTo>
                    <a:cubicBezTo>
                      <a:pt x="153907" y="191633"/>
                      <a:pt x="128181" y="202289"/>
                      <a:pt x="101356" y="202289"/>
                    </a:cubicBezTo>
                    <a:lnTo>
                      <a:pt x="101144" y="202289"/>
                    </a:lnTo>
                    <a:cubicBezTo>
                      <a:pt x="74319" y="202289"/>
                      <a:pt x="48593" y="191633"/>
                      <a:pt x="29625" y="172664"/>
                    </a:cubicBezTo>
                    <a:cubicBezTo>
                      <a:pt x="10656" y="153696"/>
                      <a:pt x="0" y="127970"/>
                      <a:pt x="0" y="101144"/>
                    </a:cubicBezTo>
                    <a:lnTo>
                      <a:pt x="0" y="101144"/>
                    </a:lnTo>
                    <a:cubicBezTo>
                      <a:pt x="0" y="74319"/>
                      <a:pt x="10656" y="48593"/>
                      <a:pt x="29625" y="29625"/>
                    </a:cubicBezTo>
                    <a:cubicBezTo>
                      <a:pt x="48593" y="10656"/>
                      <a:pt x="74319" y="0"/>
                      <a:pt x="10114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sq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47625"/>
                <a:ext cx="202500" cy="249914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Freeform 27" id="27"/>
            <p:cNvSpPr/>
            <p:nvPr/>
          </p:nvSpPr>
          <p:spPr>
            <a:xfrm flipH="false" flipV="false" rot="8100000">
              <a:off x="398221" y="363997"/>
              <a:ext cx="465971" cy="538954"/>
            </a:xfrm>
            <a:custGeom>
              <a:avLst/>
              <a:gdLst/>
              <a:ahLst/>
              <a:cxnLst/>
              <a:rect r="r" b="b" t="t" l="l"/>
              <a:pathLst>
                <a:path h="538954" w="465971">
                  <a:moveTo>
                    <a:pt x="0" y="0"/>
                  </a:moveTo>
                  <a:lnTo>
                    <a:pt x="465971" y="0"/>
                  </a:lnTo>
                  <a:lnTo>
                    <a:pt x="465971" y="538954"/>
                  </a:lnTo>
                  <a:lnTo>
                    <a:pt x="0" y="538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95443" y="-381000"/>
            <a:ext cx="12704635" cy="11155998"/>
            <a:chOff x="0" y="0"/>
            <a:chExt cx="3346077" cy="29382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46077" cy="2938205"/>
            </a:xfrm>
            <a:custGeom>
              <a:avLst/>
              <a:gdLst/>
              <a:ahLst/>
              <a:cxnLst/>
              <a:rect r="r" b="b" t="t" l="l"/>
              <a:pathLst>
                <a:path h="2938205" w="3346077">
                  <a:moveTo>
                    <a:pt x="0" y="0"/>
                  </a:moveTo>
                  <a:lnTo>
                    <a:pt x="3346077" y="0"/>
                  </a:lnTo>
                  <a:lnTo>
                    <a:pt x="3346077" y="2938205"/>
                  </a:lnTo>
                  <a:lnTo>
                    <a:pt x="0" y="2938205"/>
                  </a:lnTo>
                  <a:close/>
                </a:path>
              </a:pathLst>
            </a:custGeom>
            <a:solidFill>
              <a:srgbClr val="031C2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3346077" cy="3014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790182" y="3259302"/>
            <a:ext cx="3245406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b="true" sz="5000" spc="-375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Operacional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78363" y="1646681"/>
            <a:ext cx="2557224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b="true" sz="5000" spc="-375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Funcional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66313" y="4871924"/>
            <a:ext cx="276927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b="true" sz="5000" spc="-375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Emocional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70273" y="6484545"/>
            <a:ext cx="156531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true" sz="5000" spc="-375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Social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67270" y="1437131"/>
            <a:ext cx="10127625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Garantir a operação segura, organizada e eficiente das instalações sem precisar gerenciar múltiplos fornecedores.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67270" y="3049752"/>
            <a:ext cx="10127625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Transferir a complexidade da gestão de equipes e serviços para um parceiro especializado.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67270" y="4698648"/>
            <a:ext cx="10127625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Ter tranquilidade e confiança de que tudo está funcionando corretamente, mesmo quando não está presente. </a:t>
            </a:r>
            <a:r>
              <a:rPr lang="en-US" sz="23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PARA OPERAÇÕES QUE NÃO PODEM PARAR.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67270" y="6520423"/>
            <a:ext cx="10127625" cy="293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Transmitir credibilidade para colaboradores, clientes e visitantes.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Associar sua organização a padrões elevados de qualidade e segurança.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 percebido como uma empresa que se preocupa com a segurança e o bem-estar das pessoas.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 percebido como uma empresa de alta qualidade operacional e de infraestrutura.</a:t>
            </a:r>
          </a:p>
        </p:txBody>
      </p:sp>
      <p:sp>
        <p:nvSpPr>
          <p:cNvPr name="TextBox 13" id="13"/>
          <p:cNvSpPr txBox="true"/>
          <p:nvPr/>
        </p:nvSpPr>
        <p:spPr>
          <a:xfrm rot="-5400000">
            <a:off x="-12938" y="2548792"/>
            <a:ext cx="2355691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Job to be done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99890" y="553594"/>
            <a:ext cx="946810" cy="950211"/>
            <a:chOff x="0" y="0"/>
            <a:chExt cx="1262413" cy="1266949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262413" cy="1266949"/>
              <a:chOff x="0" y="0"/>
              <a:chExt cx="252439" cy="25334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52439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252439">
                    <a:moveTo>
                      <a:pt x="126220" y="0"/>
                    </a:moveTo>
                    <a:lnTo>
                      <a:pt x="126220" y="0"/>
                    </a:lnTo>
                    <a:cubicBezTo>
                      <a:pt x="195929" y="0"/>
                      <a:pt x="252439" y="56510"/>
                      <a:pt x="252439" y="126220"/>
                    </a:cubicBezTo>
                    <a:lnTo>
                      <a:pt x="252439" y="127127"/>
                    </a:lnTo>
                    <a:cubicBezTo>
                      <a:pt x="252439" y="196836"/>
                      <a:pt x="195929" y="253346"/>
                      <a:pt x="126220" y="253346"/>
                    </a:cubicBezTo>
                    <a:lnTo>
                      <a:pt x="126220" y="253346"/>
                    </a:lnTo>
                    <a:cubicBezTo>
                      <a:pt x="56510" y="253346"/>
                      <a:pt x="0" y="196836"/>
                      <a:pt x="0" y="127127"/>
                    </a:cubicBezTo>
                    <a:lnTo>
                      <a:pt x="0" y="126220"/>
                    </a:lnTo>
                    <a:cubicBezTo>
                      <a:pt x="0" y="56510"/>
                      <a:pt x="56510" y="0"/>
                      <a:pt x="1262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rnd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252439" cy="300971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24869" y="127665"/>
              <a:ext cx="1012674" cy="1011618"/>
              <a:chOff x="0" y="0"/>
              <a:chExt cx="202500" cy="20228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02500" cy="202289"/>
              </a:xfrm>
              <a:custGeom>
                <a:avLst/>
                <a:gdLst/>
                <a:ahLst/>
                <a:cxnLst/>
                <a:rect r="r" b="b" t="t" l="l"/>
                <a:pathLst>
                  <a:path h="202289" w="202500">
                    <a:moveTo>
                      <a:pt x="101144" y="0"/>
                    </a:moveTo>
                    <a:lnTo>
                      <a:pt x="101356" y="0"/>
                    </a:lnTo>
                    <a:cubicBezTo>
                      <a:pt x="128181" y="0"/>
                      <a:pt x="153907" y="10656"/>
                      <a:pt x="172875" y="29625"/>
                    </a:cubicBezTo>
                    <a:cubicBezTo>
                      <a:pt x="191844" y="48593"/>
                      <a:pt x="202500" y="74319"/>
                      <a:pt x="202500" y="101144"/>
                    </a:cubicBezTo>
                    <a:lnTo>
                      <a:pt x="202500" y="101144"/>
                    </a:lnTo>
                    <a:cubicBezTo>
                      <a:pt x="202500" y="127970"/>
                      <a:pt x="191844" y="153696"/>
                      <a:pt x="172875" y="172664"/>
                    </a:cubicBezTo>
                    <a:cubicBezTo>
                      <a:pt x="153907" y="191633"/>
                      <a:pt x="128181" y="202289"/>
                      <a:pt x="101356" y="202289"/>
                    </a:cubicBezTo>
                    <a:lnTo>
                      <a:pt x="101144" y="202289"/>
                    </a:lnTo>
                    <a:cubicBezTo>
                      <a:pt x="74319" y="202289"/>
                      <a:pt x="48593" y="191633"/>
                      <a:pt x="29625" y="172664"/>
                    </a:cubicBezTo>
                    <a:cubicBezTo>
                      <a:pt x="10656" y="153696"/>
                      <a:pt x="0" y="127970"/>
                      <a:pt x="0" y="101144"/>
                    </a:cubicBezTo>
                    <a:lnTo>
                      <a:pt x="0" y="101144"/>
                    </a:lnTo>
                    <a:cubicBezTo>
                      <a:pt x="0" y="74319"/>
                      <a:pt x="10656" y="48593"/>
                      <a:pt x="29625" y="29625"/>
                    </a:cubicBezTo>
                    <a:cubicBezTo>
                      <a:pt x="48593" y="10656"/>
                      <a:pt x="74319" y="0"/>
                      <a:pt x="10114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sq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202500" cy="249914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8100000">
              <a:off x="398221" y="363997"/>
              <a:ext cx="465971" cy="538954"/>
            </a:xfrm>
            <a:custGeom>
              <a:avLst/>
              <a:gdLst/>
              <a:ahLst/>
              <a:cxnLst/>
              <a:rect r="r" b="b" t="t" l="l"/>
              <a:pathLst>
                <a:path h="538954" w="465971">
                  <a:moveTo>
                    <a:pt x="0" y="0"/>
                  </a:moveTo>
                  <a:lnTo>
                    <a:pt x="465971" y="0"/>
                  </a:lnTo>
                  <a:lnTo>
                    <a:pt x="465971" y="538954"/>
                  </a:lnTo>
                  <a:lnTo>
                    <a:pt x="0" y="538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60B">
                <a:alpha val="100000"/>
              </a:srgbClr>
            </a:gs>
            <a:gs pos="100000">
              <a:srgbClr val="02313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97698" y="729862"/>
            <a:ext cx="3734519" cy="603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4015" b="true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Benchmarket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97698" y="1900468"/>
            <a:ext cx="11251478" cy="246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ORSEGUPS |  </a:t>
            </a:r>
            <a:r>
              <a:rPr lang="en-US" sz="2199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Posicionamento </a:t>
            </a:r>
            <a:r>
              <a:rPr lang="en-US" sz="2199" b="true">
                <a:solidFill>
                  <a:srgbClr val="B0F641"/>
                </a:solidFill>
                <a:latin typeface="Poppins Bold"/>
                <a:ea typeface="Poppins Bold"/>
                <a:cs typeface="Poppins Bold"/>
                <a:sym typeface="Poppins Bold"/>
              </a:rPr>
              <a:t>tecnológico </a:t>
            </a:r>
          </a:p>
          <a:p>
            <a:pPr algn="l">
              <a:lnSpc>
                <a:spcPts val="2419"/>
              </a:lnSpc>
            </a:pPr>
          </a:p>
          <a:p>
            <a:pPr algn="l" marL="474979" indent="-237490" lvl="1">
              <a:lnSpc>
                <a:spcPts val="2419"/>
              </a:lnSpc>
              <a:buAutoNum type="arabicPeriod" startAt="1"/>
            </a:pPr>
            <a:r>
              <a:rPr lang="en-US" sz="21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Light"/>
                <a:ea typeface="Poppins Light"/>
                <a:cs typeface="Poppins Light"/>
                <a:sym typeface="Poppins Light"/>
              </a:rPr>
              <a:t>Posicionamento muito claro em tecnologia </a:t>
            </a:r>
            <a:r>
              <a:rPr lang="en-US" sz="21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Light"/>
                <a:ea typeface="Poppins Light"/>
                <a:cs typeface="Poppins Light"/>
                <a:sym typeface="Poppins Light"/>
              </a:rPr>
              <a:t>e inovação em segurança.</a:t>
            </a:r>
          </a:p>
          <a:p>
            <a:pPr algn="l" marL="474979" indent="-237490" lvl="1">
              <a:lnSpc>
                <a:spcPts val="2419"/>
              </a:lnSpc>
              <a:buAutoNum type="arabicPeriod" startAt="1"/>
            </a:pPr>
            <a:r>
              <a:rPr lang="en-US" sz="21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Light"/>
                <a:ea typeface="Poppins Light"/>
                <a:cs typeface="Poppins Light"/>
                <a:sym typeface="Poppins Light"/>
              </a:rPr>
              <a:t>Comunicação agressiva sobre IA, monitoramento inteligente, menor tempo de resposta, plataforma própria e maior central de monitoramento do país. </a:t>
            </a:r>
          </a:p>
          <a:p>
            <a:pPr algn="l" marL="474979" indent="-237490" lvl="1">
              <a:lnSpc>
                <a:spcPts val="2419"/>
              </a:lnSpc>
              <a:buAutoNum type="arabicPeriod" startAt="1"/>
            </a:pPr>
            <a:r>
              <a:rPr lang="en-US" sz="21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Light"/>
                <a:ea typeface="Poppins Light"/>
                <a:cs typeface="Poppins Light"/>
                <a:sym typeface="Poppins Light"/>
              </a:rPr>
              <a:t>Certificações ligadas à segurança da informação (ISO 27001 e ISO 27701)</a:t>
            </a:r>
          </a:p>
          <a:p>
            <a:pPr algn="l" marL="474979" indent="-237490" lvl="1">
              <a:lnSpc>
                <a:spcPts val="2419"/>
              </a:lnSpc>
              <a:buAutoNum type="arabicPeriod" startAt="1"/>
            </a:pPr>
            <a:r>
              <a:rPr lang="en-US" sz="21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Light"/>
                <a:ea typeface="Poppins Light"/>
                <a:cs typeface="Poppins Light"/>
                <a:sym typeface="Poppins Light"/>
              </a:rPr>
              <a:t>Forte associação da marca à palavra "segurança".</a:t>
            </a:r>
          </a:p>
          <a:p>
            <a:pPr algn="l" marL="474979" indent="-237490" lvl="1">
              <a:lnSpc>
                <a:spcPts val="2419"/>
              </a:lnSpc>
              <a:buAutoNum type="arabicPeriod" startAt="1"/>
            </a:pPr>
            <a:r>
              <a:rPr lang="en-US" sz="21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Light"/>
                <a:ea typeface="Poppins Light"/>
                <a:cs typeface="Poppins Light"/>
                <a:sym typeface="Poppins Light"/>
              </a:rPr>
              <a:t>Escala nacional muito evidente na comunicação.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97698" y="4803688"/>
            <a:ext cx="12166146" cy="277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ORBENK | Foco no bem estar  e </a:t>
            </a:r>
            <a:r>
              <a:rPr lang="en-US" sz="2199" b="true">
                <a:solidFill>
                  <a:srgbClr val="B0F641"/>
                </a:solidFill>
                <a:latin typeface="Poppins Bold"/>
                <a:ea typeface="Poppins Bold"/>
                <a:cs typeface="Poppins Bold"/>
                <a:sym typeface="Poppins Bold"/>
              </a:rPr>
              <a:t>comunidade </a:t>
            </a:r>
            <a:r>
              <a:rPr lang="en-US" sz="2199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Orbank</a:t>
            </a:r>
          </a:p>
          <a:p>
            <a:pPr algn="l">
              <a:lnSpc>
                <a:spcPts val="2419"/>
              </a:lnSpc>
            </a:pPr>
          </a:p>
          <a:p>
            <a:pPr algn="l" marL="474979" indent="-237490" lvl="1">
              <a:lnSpc>
                <a:spcPts val="2419"/>
              </a:lnSpc>
              <a:buAutoNum type="arabicPeriod" startAt="1"/>
            </a:pPr>
            <a:r>
              <a:rPr lang="en-US" sz="21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"/>
                <a:ea typeface="Poppins"/>
                <a:cs typeface="Poppins"/>
                <a:sym typeface="Poppins"/>
              </a:rPr>
              <a:t>Comunicação muito focada em transformação.</a:t>
            </a:r>
          </a:p>
          <a:p>
            <a:pPr algn="l" marL="474979" indent="-237490" lvl="1">
              <a:lnSpc>
                <a:spcPts val="2419"/>
              </a:lnSpc>
              <a:buAutoNum type="arabicPeriod" startAt="1"/>
            </a:pPr>
            <a:r>
              <a:rPr lang="en-US" sz="21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"/>
                <a:ea typeface="Poppins"/>
                <a:cs typeface="Poppins"/>
                <a:sym typeface="Poppins"/>
              </a:rPr>
              <a:t>Uso de robôs de limpeza, drones, equipamentos autônomos e análise de dados como diferencial competitivo. </a:t>
            </a:r>
          </a:p>
          <a:p>
            <a:pPr algn="l" marL="474979" indent="-237490" lvl="1">
              <a:lnSpc>
                <a:spcPts val="2419"/>
              </a:lnSpc>
              <a:buAutoNum type="arabicPeriod" startAt="1"/>
            </a:pPr>
            <a:r>
              <a:rPr lang="en-US" sz="21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"/>
                <a:ea typeface="Poppins"/>
                <a:cs typeface="Poppins"/>
                <a:sym typeface="Poppins"/>
              </a:rPr>
              <a:t>Posicionamento emocional baseado em "cuidado" e "bem-estar”.</a:t>
            </a:r>
          </a:p>
          <a:p>
            <a:pPr algn="l" marL="474979" indent="-237490" lvl="1">
              <a:lnSpc>
                <a:spcPts val="2419"/>
              </a:lnSpc>
              <a:buAutoNum type="arabicPeriod" startAt="1"/>
            </a:pPr>
            <a:r>
              <a:rPr lang="en-US" sz="21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"/>
                <a:ea typeface="Poppins"/>
                <a:cs typeface="Poppins"/>
                <a:sym typeface="Poppins"/>
              </a:rPr>
              <a:t>Atuação nacional amplamente divulgada.</a:t>
            </a:r>
          </a:p>
          <a:p>
            <a:pPr algn="l" marL="474979" indent="-237490" lvl="1">
              <a:lnSpc>
                <a:spcPts val="2419"/>
              </a:lnSpc>
              <a:buAutoNum type="arabicPeriod" startAt="1"/>
            </a:pPr>
            <a:r>
              <a:rPr lang="en-US" sz="21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"/>
                <a:ea typeface="Poppins"/>
                <a:cs typeface="Poppins"/>
                <a:sym typeface="Poppins"/>
              </a:rPr>
              <a:t>Comunicação moderna e mais alinhada a ESG, experiência do cliente e inovação.</a:t>
            </a:r>
          </a:p>
          <a:p>
            <a:pPr algn="l">
              <a:lnSpc>
                <a:spcPts val="2419"/>
              </a:lnSpc>
            </a:pPr>
            <a:r>
              <a:rPr lang="en-US" sz="21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"/>
                <a:ea typeface="Poppins"/>
                <a:cs typeface="Poppins"/>
                <a:sym typeface="Poppins"/>
              </a:rPr>
              <a:t>★ Colaboradores em evidência nas redes sociais.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99890" y="553594"/>
            <a:ext cx="946810" cy="950211"/>
            <a:chOff x="0" y="0"/>
            <a:chExt cx="1262413" cy="126694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262413" cy="1266949"/>
              <a:chOff x="0" y="0"/>
              <a:chExt cx="252439" cy="25334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52439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252439">
                    <a:moveTo>
                      <a:pt x="126220" y="0"/>
                    </a:moveTo>
                    <a:lnTo>
                      <a:pt x="126220" y="0"/>
                    </a:lnTo>
                    <a:cubicBezTo>
                      <a:pt x="195929" y="0"/>
                      <a:pt x="252439" y="56510"/>
                      <a:pt x="252439" y="126220"/>
                    </a:cubicBezTo>
                    <a:lnTo>
                      <a:pt x="252439" y="127127"/>
                    </a:lnTo>
                    <a:cubicBezTo>
                      <a:pt x="252439" y="196836"/>
                      <a:pt x="195929" y="253346"/>
                      <a:pt x="126220" y="253346"/>
                    </a:cubicBezTo>
                    <a:lnTo>
                      <a:pt x="126220" y="253346"/>
                    </a:lnTo>
                    <a:cubicBezTo>
                      <a:pt x="56510" y="253346"/>
                      <a:pt x="0" y="196836"/>
                      <a:pt x="0" y="127127"/>
                    </a:cubicBezTo>
                    <a:lnTo>
                      <a:pt x="0" y="126220"/>
                    </a:lnTo>
                    <a:cubicBezTo>
                      <a:pt x="0" y="56510"/>
                      <a:pt x="56510" y="0"/>
                      <a:pt x="1262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rnd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252439" cy="300971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4869" y="127665"/>
              <a:ext cx="1012674" cy="1011618"/>
              <a:chOff x="0" y="0"/>
              <a:chExt cx="202500" cy="20228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2500" cy="202289"/>
              </a:xfrm>
              <a:custGeom>
                <a:avLst/>
                <a:gdLst/>
                <a:ahLst/>
                <a:cxnLst/>
                <a:rect r="r" b="b" t="t" l="l"/>
                <a:pathLst>
                  <a:path h="202289" w="202500">
                    <a:moveTo>
                      <a:pt x="101144" y="0"/>
                    </a:moveTo>
                    <a:lnTo>
                      <a:pt x="101356" y="0"/>
                    </a:lnTo>
                    <a:cubicBezTo>
                      <a:pt x="128181" y="0"/>
                      <a:pt x="153907" y="10656"/>
                      <a:pt x="172875" y="29625"/>
                    </a:cubicBezTo>
                    <a:cubicBezTo>
                      <a:pt x="191844" y="48593"/>
                      <a:pt x="202500" y="74319"/>
                      <a:pt x="202500" y="101144"/>
                    </a:cubicBezTo>
                    <a:lnTo>
                      <a:pt x="202500" y="101144"/>
                    </a:lnTo>
                    <a:cubicBezTo>
                      <a:pt x="202500" y="127970"/>
                      <a:pt x="191844" y="153696"/>
                      <a:pt x="172875" y="172664"/>
                    </a:cubicBezTo>
                    <a:cubicBezTo>
                      <a:pt x="153907" y="191633"/>
                      <a:pt x="128181" y="202289"/>
                      <a:pt x="101356" y="202289"/>
                    </a:cubicBezTo>
                    <a:lnTo>
                      <a:pt x="101144" y="202289"/>
                    </a:lnTo>
                    <a:cubicBezTo>
                      <a:pt x="74319" y="202289"/>
                      <a:pt x="48593" y="191633"/>
                      <a:pt x="29625" y="172664"/>
                    </a:cubicBezTo>
                    <a:cubicBezTo>
                      <a:pt x="10656" y="153696"/>
                      <a:pt x="0" y="127970"/>
                      <a:pt x="0" y="101144"/>
                    </a:cubicBezTo>
                    <a:lnTo>
                      <a:pt x="0" y="101144"/>
                    </a:lnTo>
                    <a:cubicBezTo>
                      <a:pt x="0" y="74319"/>
                      <a:pt x="10656" y="48593"/>
                      <a:pt x="29625" y="29625"/>
                    </a:cubicBezTo>
                    <a:cubicBezTo>
                      <a:pt x="48593" y="10656"/>
                      <a:pt x="74319" y="0"/>
                      <a:pt x="10114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sq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202500" cy="249914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8100000">
              <a:off x="398221" y="363997"/>
              <a:ext cx="465971" cy="538954"/>
            </a:xfrm>
            <a:custGeom>
              <a:avLst/>
              <a:gdLst/>
              <a:ahLst/>
              <a:cxnLst/>
              <a:rect r="r" b="b" t="t" l="l"/>
              <a:pathLst>
                <a:path h="538954" w="465971">
                  <a:moveTo>
                    <a:pt x="0" y="0"/>
                  </a:moveTo>
                  <a:lnTo>
                    <a:pt x="465971" y="0"/>
                  </a:lnTo>
                  <a:lnTo>
                    <a:pt x="465971" y="538954"/>
                  </a:lnTo>
                  <a:lnTo>
                    <a:pt x="0" y="538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897698" y="8032028"/>
            <a:ext cx="13036805" cy="185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KHRONOS | Know how tecnológico em </a:t>
            </a:r>
            <a:r>
              <a:rPr lang="en-US" sz="2199" b="true">
                <a:solidFill>
                  <a:srgbClr val="B0F641"/>
                </a:solidFill>
                <a:latin typeface="Poppins Bold"/>
                <a:ea typeface="Poppins Bold"/>
                <a:cs typeface="Poppins Bold"/>
                <a:sym typeface="Poppins Bold"/>
              </a:rPr>
              <a:t>segurança</a:t>
            </a:r>
            <a:r>
              <a:rPr lang="en-US" sz="2199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  <a:p>
            <a:pPr algn="l">
              <a:lnSpc>
                <a:spcPts val="2419"/>
              </a:lnSpc>
            </a:pPr>
          </a:p>
          <a:p>
            <a:pPr algn="l" marL="474979" indent="-237490" lvl="1">
              <a:lnSpc>
                <a:spcPts val="2419"/>
              </a:lnSpc>
              <a:buFont typeface="Arial"/>
              <a:buChar char="•"/>
            </a:pPr>
            <a:r>
              <a:rPr lang="en-US" sz="21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Light"/>
                <a:ea typeface="Poppins Light"/>
                <a:cs typeface="Poppins Light"/>
                <a:sym typeface="Poppins Light"/>
              </a:rPr>
              <a:t>Marca fortemente associada à tecnologia de segurança.</a:t>
            </a:r>
          </a:p>
          <a:p>
            <a:pPr algn="l" marL="474979" indent="-237490" lvl="1">
              <a:lnSpc>
                <a:spcPts val="2419"/>
              </a:lnSpc>
              <a:buFont typeface="Arial"/>
              <a:buChar char="•"/>
            </a:pPr>
            <a:r>
              <a:rPr lang="en-US" sz="21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Light"/>
                <a:ea typeface="Poppins Light"/>
                <a:cs typeface="Poppins Light"/>
                <a:sym typeface="Poppins Light"/>
              </a:rPr>
              <a:t>Especialização em monitoramento eletrônico.</a:t>
            </a:r>
          </a:p>
          <a:p>
            <a:pPr algn="l" marL="474979" indent="-237490" lvl="1">
              <a:lnSpc>
                <a:spcPts val="2419"/>
              </a:lnSpc>
              <a:buFont typeface="Arial"/>
              <a:buChar char="•"/>
            </a:pPr>
            <a:r>
              <a:rPr lang="en-US" sz="21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Light"/>
                <a:ea typeface="Poppins Light"/>
                <a:cs typeface="Poppins Light"/>
                <a:sym typeface="Poppins Light"/>
              </a:rPr>
              <a:t>Forte associação a soluções integradas de segurança.</a:t>
            </a:r>
          </a:p>
          <a:p>
            <a:pPr algn="l">
              <a:lnSpc>
                <a:spcPts val="2419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-1132051" y="8166548"/>
            <a:ext cx="2882301" cy="47625"/>
            <a:chOff x="0" y="0"/>
            <a:chExt cx="863095" cy="142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3095" cy="14261"/>
            </a:xfrm>
            <a:custGeom>
              <a:avLst/>
              <a:gdLst/>
              <a:ahLst/>
              <a:cxnLst/>
              <a:rect r="r" b="b" t="t" l="l"/>
              <a:pathLst>
                <a:path h="14261" w="863095">
                  <a:moveTo>
                    <a:pt x="7131" y="0"/>
                  </a:moveTo>
                  <a:lnTo>
                    <a:pt x="855965" y="0"/>
                  </a:lnTo>
                  <a:cubicBezTo>
                    <a:pt x="859903" y="0"/>
                    <a:pt x="863095" y="3192"/>
                    <a:pt x="863095" y="7131"/>
                  </a:cubicBezTo>
                  <a:lnTo>
                    <a:pt x="863095" y="7131"/>
                  </a:lnTo>
                  <a:cubicBezTo>
                    <a:pt x="863095" y="9022"/>
                    <a:pt x="862344" y="10835"/>
                    <a:pt x="861007" y="12173"/>
                  </a:cubicBezTo>
                  <a:cubicBezTo>
                    <a:pt x="859670" y="13510"/>
                    <a:pt x="857856" y="14261"/>
                    <a:pt x="855965" y="14261"/>
                  </a:cubicBezTo>
                  <a:lnTo>
                    <a:pt x="7131" y="14261"/>
                  </a:lnTo>
                  <a:cubicBezTo>
                    <a:pt x="5239" y="14261"/>
                    <a:pt x="3426" y="13510"/>
                    <a:pt x="2088" y="12173"/>
                  </a:cubicBezTo>
                  <a:cubicBezTo>
                    <a:pt x="751" y="10835"/>
                    <a:pt x="0" y="9022"/>
                    <a:pt x="0" y="7131"/>
                  </a:cubicBezTo>
                  <a:lnTo>
                    <a:pt x="0" y="7131"/>
                  </a:lnTo>
                  <a:cubicBezTo>
                    <a:pt x="0" y="5239"/>
                    <a:pt x="751" y="3426"/>
                    <a:pt x="2088" y="2088"/>
                  </a:cubicBezTo>
                  <a:cubicBezTo>
                    <a:pt x="3426" y="751"/>
                    <a:pt x="5239" y="0"/>
                    <a:pt x="71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863095" cy="90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132051" y="4914994"/>
            <a:ext cx="2882301" cy="47625"/>
            <a:chOff x="0" y="0"/>
            <a:chExt cx="863095" cy="1426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63095" cy="14261"/>
            </a:xfrm>
            <a:custGeom>
              <a:avLst/>
              <a:gdLst/>
              <a:ahLst/>
              <a:cxnLst/>
              <a:rect r="r" b="b" t="t" l="l"/>
              <a:pathLst>
                <a:path h="14261" w="863095">
                  <a:moveTo>
                    <a:pt x="7131" y="0"/>
                  </a:moveTo>
                  <a:lnTo>
                    <a:pt x="855965" y="0"/>
                  </a:lnTo>
                  <a:cubicBezTo>
                    <a:pt x="859903" y="0"/>
                    <a:pt x="863095" y="3192"/>
                    <a:pt x="863095" y="7131"/>
                  </a:cubicBezTo>
                  <a:lnTo>
                    <a:pt x="863095" y="7131"/>
                  </a:lnTo>
                  <a:cubicBezTo>
                    <a:pt x="863095" y="9022"/>
                    <a:pt x="862344" y="10835"/>
                    <a:pt x="861007" y="12173"/>
                  </a:cubicBezTo>
                  <a:cubicBezTo>
                    <a:pt x="859670" y="13510"/>
                    <a:pt x="857856" y="14261"/>
                    <a:pt x="855965" y="14261"/>
                  </a:cubicBezTo>
                  <a:lnTo>
                    <a:pt x="7131" y="14261"/>
                  </a:lnTo>
                  <a:cubicBezTo>
                    <a:pt x="5239" y="14261"/>
                    <a:pt x="3426" y="13510"/>
                    <a:pt x="2088" y="12173"/>
                  </a:cubicBezTo>
                  <a:cubicBezTo>
                    <a:pt x="751" y="10835"/>
                    <a:pt x="0" y="9022"/>
                    <a:pt x="0" y="7131"/>
                  </a:cubicBezTo>
                  <a:lnTo>
                    <a:pt x="0" y="7131"/>
                  </a:lnTo>
                  <a:cubicBezTo>
                    <a:pt x="0" y="5239"/>
                    <a:pt x="751" y="3426"/>
                    <a:pt x="2088" y="2088"/>
                  </a:cubicBezTo>
                  <a:cubicBezTo>
                    <a:pt x="3426" y="751"/>
                    <a:pt x="5239" y="0"/>
                    <a:pt x="71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863095" cy="90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1132051" y="2066778"/>
            <a:ext cx="2882301" cy="47625"/>
            <a:chOff x="0" y="0"/>
            <a:chExt cx="863095" cy="1426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3095" cy="14261"/>
            </a:xfrm>
            <a:custGeom>
              <a:avLst/>
              <a:gdLst/>
              <a:ahLst/>
              <a:cxnLst/>
              <a:rect r="r" b="b" t="t" l="l"/>
              <a:pathLst>
                <a:path h="14261" w="863095">
                  <a:moveTo>
                    <a:pt x="7131" y="0"/>
                  </a:moveTo>
                  <a:lnTo>
                    <a:pt x="855965" y="0"/>
                  </a:lnTo>
                  <a:cubicBezTo>
                    <a:pt x="859903" y="0"/>
                    <a:pt x="863095" y="3192"/>
                    <a:pt x="863095" y="7131"/>
                  </a:cubicBezTo>
                  <a:lnTo>
                    <a:pt x="863095" y="7131"/>
                  </a:lnTo>
                  <a:cubicBezTo>
                    <a:pt x="863095" y="9022"/>
                    <a:pt x="862344" y="10835"/>
                    <a:pt x="861007" y="12173"/>
                  </a:cubicBezTo>
                  <a:cubicBezTo>
                    <a:pt x="859670" y="13510"/>
                    <a:pt x="857856" y="14261"/>
                    <a:pt x="855965" y="14261"/>
                  </a:cubicBezTo>
                  <a:lnTo>
                    <a:pt x="7131" y="14261"/>
                  </a:lnTo>
                  <a:cubicBezTo>
                    <a:pt x="5239" y="14261"/>
                    <a:pt x="3426" y="13510"/>
                    <a:pt x="2088" y="12173"/>
                  </a:cubicBezTo>
                  <a:cubicBezTo>
                    <a:pt x="751" y="10835"/>
                    <a:pt x="0" y="9022"/>
                    <a:pt x="0" y="7131"/>
                  </a:cubicBezTo>
                  <a:lnTo>
                    <a:pt x="0" y="7131"/>
                  </a:lnTo>
                  <a:cubicBezTo>
                    <a:pt x="0" y="5239"/>
                    <a:pt x="751" y="3426"/>
                    <a:pt x="2088" y="2088"/>
                  </a:cubicBezTo>
                  <a:cubicBezTo>
                    <a:pt x="3426" y="751"/>
                    <a:pt x="5239" y="0"/>
                    <a:pt x="71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863095" cy="90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60B">
                <a:alpha val="100000"/>
              </a:srgbClr>
            </a:gs>
            <a:gs pos="100000">
              <a:srgbClr val="02313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97698" y="729862"/>
            <a:ext cx="3734519" cy="603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4015" b="true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Benchmarket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97698" y="4803688"/>
            <a:ext cx="12166146" cy="942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Minister / GT Serviços/ Ondrepisb  | </a:t>
            </a:r>
          </a:p>
          <a:p>
            <a:pPr algn="l">
              <a:lnSpc>
                <a:spcPts val="2419"/>
              </a:lnSpc>
            </a:pPr>
          </a:p>
          <a:p>
            <a:pPr algn="l">
              <a:lnSpc>
                <a:spcPts val="2419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699890" y="553594"/>
            <a:ext cx="946810" cy="950211"/>
            <a:chOff x="0" y="0"/>
            <a:chExt cx="1262413" cy="126694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262413" cy="1266949"/>
              <a:chOff x="0" y="0"/>
              <a:chExt cx="252439" cy="25334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52439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252439">
                    <a:moveTo>
                      <a:pt x="126220" y="0"/>
                    </a:moveTo>
                    <a:lnTo>
                      <a:pt x="126220" y="0"/>
                    </a:lnTo>
                    <a:cubicBezTo>
                      <a:pt x="195929" y="0"/>
                      <a:pt x="252439" y="56510"/>
                      <a:pt x="252439" y="126220"/>
                    </a:cubicBezTo>
                    <a:lnTo>
                      <a:pt x="252439" y="127127"/>
                    </a:lnTo>
                    <a:cubicBezTo>
                      <a:pt x="252439" y="196836"/>
                      <a:pt x="195929" y="253346"/>
                      <a:pt x="126220" y="253346"/>
                    </a:cubicBezTo>
                    <a:lnTo>
                      <a:pt x="126220" y="253346"/>
                    </a:lnTo>
                    <a:cubicBezTo>
                      <a:pt x="56510" y="253346"/>
                      <a:pt x="0" y="196836"/>
                      <a:pt x="0" y="127127"/>
                    </a:cubicBezTo>
                    <a:lnTo>
                      <a:pt x="0" y="126220"/>
                    </a:lnTo>
                    <a:cubicBezTo>
                      <a:pt x="0" y="56510"/>
                      <a:pt x="56510" y="0"/>
                      <a:pt x="1262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rnd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252439" cy="300971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124869" y="127665"/>
              <a:ext cx="1012674" cy="1011618"/>
              <a:chOff x="0" y="0"/>
              <a:chExt cx="202500" cy="202289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02500" cy="202289"/>
              </a:xfrm>
              <a:custGeom>
                <a:avLst/>
                <a:gdLst/>
                <a:ahLst/>
                <a:cxnLst/>
                <a:rect r="r" b="b" t="t" l="l"/>
                <a:pathLst>
                  <a:path h="202289" w="202500">
                    <a:moveTo>
                      <a:pt x="101144" y="0"/>
                    </a:moveTo>
                    <a:lnTo>
                      <a:pt x="101356" y="0"/>
                    </a:lnTo>
                    <a:cubicBezTo>
                      <a:pt x="128181" y="0"/>
                      <a:pt x="153907" y="10656"/>
                      <a:pt x="172875" y="29625"/>
                    </a:cubicBezTo>
                    <a:cubicBezTo>
                      <a:pt x="191844" y="48593"/>
                      <a:pt x="202500" y="74319"/>
                      <a:pt x="202500" y="101144"/>
                    </a:cubicBezTo>
                    <a:lnTo>
                      <a:pt x="202500" y="101144"/>
                    </a:lnTo>
                    <a:cubicBezTo>
                      <a:pt x="202500" y="127970"/>
                      <a:pt x="191844" y="153696"/>
                      <a:pt x="172875" y="172664"/>
                    </a:cubicBezTo>
                    <a:cubicBezTo>
                      <a:pt x="153907" y="191633"/>
                      <a:pt x="128181" y="202289"/>
                      <a:pt x="101356" y="202289"/>
                    </a:cubicBezTo>
                    <a:lnTo>
                      <a:pt x="101144" y="202289"/>
                    </a:lnTo>
                    <a:cubicBezTo>
                      <a:pt x="74319" y="202289"/>
                      <a:pt x="48593" y="191633"/>
                      <a:pt x="29625" y="172664"/>
                    </a:cubicBezTo>
                    <a:cubicBezTo>
                      <a:pt x="10656" y="153696"/>
                      <a:pt x="0" y="127970"/>
                      <a:pt x="0" y="101144"/>
                    </a:cubicBezTo>
                    <a:lnTo>
                      <a:pt x="0" y="101144"/>
                    </a:lnTo>
                    <a:cubicBezTo>
                      <a:pt x="0" y="74319"/>
                      <a:pt x="10656" y="48593"/>
                      <a:pt x="29625" y="29625"/>
                    </a:cubicBezTo>
                    <a:cubicBezTo>
                      <a:pt x="48593" y="10656"/>
                      <a:pt x="74319" y="0"/>
                      <a:pt x="10114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sq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202500" cy="249914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8100000">
              <a:off x="398221" y="363997"/>
              <a:ext cx="465971" cy="538954"/>
            </a:xfrm>
            <a:custGeom>
              <a:avLst/>
              <a:gdLst/>
              <a:ahLst/>
              <a:cxnLst/>
              <a:rect r="r" b="b" t="t" l="l"/>
              <a:pathLst>
                <a:path h="538954" w="465971">
                  <a:moveTo>
                    <a:pt x="0" y="0"/>
                  </a:moveTo>
                  <a:lnTo>
                    <a:pt x="465971" y="0"/>
                  </a:lnTo>
                  <a:lnTo>
                    <a:pt x="465971" y="538954"/>
                  </a:lnTo>
                  <a:lnTo>
                    <a:pt x="0" y="538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1132051" y="8166548"/>
            <a:ext cx="2882301" cy="47625"/>
            <a:chOff x="0" y="0"/>
            <a:chExt cx="863095" cy="1426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63095" cy="14261"/>
            </a:xfrm>
            <a:custGeom>
              <a:avLst/>
              <a:gdLst/>
              <a:ahLst/>
              <a:cxnLst/>
              <a:rect r="r" b="b" t="t" l="l"/>
              <a:pathLst>
                <a:path h="14261" w="863095">
                  <a:moveTo>
                    <a:pt x="7131" y="0"/>
                  </a:moveTo>
                  <a:lnTo>
                    <a:pt x="855965" y="0"/>
                  </a:lnTo>
                  <a:cubicBezTo>
                    <a:pt x="859903" y="0"/>
                    <a:pt x="863095" y="3192"/>
                    <a:pt x="863095" y="7131"/>
                  </a:cubicBezTo>
                  <a:lnTo>
                    <a:pt x="863095" y="7131"/>
                  </a:lnTo>
                  <a:cubicBezTo>
                    <a:pt x="863095" y="9022"/>
                    <a:pt x="862344" y="10835"/>
                    <a:pt x="861007" y="12173"/>
                  </a:cubicBezTo>
                  <a:cubicBezTo>
                    <a:pt x="859670" y="13510"/>
                    <a:pt x="857856" y="14261"/>
                    <a:pt x="855965" y="14261"/>
                  </a:cubicBezTo>
                  <a:lnTo>
                    <a:pt x="7131" y="14261"/>
                  </a:lnTo>
                  <a:cubicBezTo>
                    <a:pt x="5239" y="14261"/>
                    <a:pt x="3426" y="13510"/>
                    <a:pt x="2088" y="12173"/>
                  </a:cubicBezTo>
                  <a:cubicBezTo>
                    <a:pt x="751" y="10835"/>
                    <a:pt x="0" y="9022"/>
                    <a:pt x="0" y="7131"/>
                  </a:cubicBezTo>
                  <a:lnTo>
                    <a:pt x="0" y="7131"/>
                  </a:lnTo>
                  <a:cubicBezTo>
                    <a:pt x="0" y="5239"/>
                    <a:pt x="751" y="3426"/>
                    <a:pt x="2088" y="2088"/>
                  </a:cubicBezTo>
                  <a:cubicBezTo>
                    <a:pt x="3426" y="751"/>
                    <a:pt x="5239" y="0"/>
                    <a:pt x="71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863095" cy="90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-1132051" y="4914994"/>
            <a:ext cx="2882301" cy="47625"/>
            <a:chOff x="0" y="0"/>
            <a:chExt cx="863095" cy="1426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63095" cy="14261"/>
            </a:xfrm>
            <a:custGeom>
              <a:avLst/>
              <a:gdLst/>
              <a:ahLst/>
              <a:cxnLst/>
              <a:rect r="r" b="b" t="t" l="l"/>
              <a:pathLst>
                <a:path h="14261" w="863095">
                  <a:moveTo>
                    <a:pt x="7131" y="0"/>
                  </a:moveTo>
                  <a:lnTo>
                    <a:pt x="855965" y="0"/>
                  </a:lnTo>
                  <a:cubicBezTo>
                    <a:pt x="859903" y="0"/>
                    <a:pt x="863095" y="3192"/>
                    <a:pt x="863095" y="7131"/>
                  </a:cubicBezTo>
                  <a:lnTo>
                    <a:pt x="863095" y="7131"/>
                  </a:lnTo>
                  <a:cubicBezTo>
                    <a:pt x="863095" y="9022"/>
                    <a:pt x="862344" y="10835"/>
                    <a:pt x="861007" y="12173"/>
                  </a:cubicBezTo>
                  <a:cubicBezTo>
                    <a:pt x="859670" y="13510"/>
                    <a:pt x="857856" y="14261"/>
                    <a:pt x="855965" y="14261"/>
                  </a:cubicBezTo>
                  <a:lnTo>
                    <a:pt x="7131" y="14261"/>
                  </a:lnTo>
                  <a:cubicBezTo>
                    <a:pt x="5239" y="14261"/>
                    <a:pt x="3426" y="13510"/>
                    <a:pt x="2088" y="12173"/>
                  </a:cubicBezTo>
                  <a:cubicBezTo>
                    <a:pt x="751" y="10835"/>
                    <a:pt x="0" y="9022"/>
                    <a:pt x="0" y="7131"/>
                  </a:cubicBezTo>
                  <a:lnTo>
                    <a:pt x="0" y="7131"/>
                  </a:lnTo>
                  <a:cubicBezTo>
                    <a:pt x="0" y="5239"/>
                    <a:pt x="751" y="3426"/>
                    <a:pt x="2088" y="2088"/>
                  </a:cubicBezTo>
                  <a:cubicBezTo>
                    <a:pt x="3426" y="751"/>
                    <a:pt x="5239" y="0"/>
                    <a:pt x="71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863095" cy="90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1132051" y="2066778"/>
            <a:ext cx="2882301" cy="47625"/>
            <a:chOff x="0" y="0"/>
            <a:chExt cx="863095" cy="1426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63095" cy="14261"/>
            </a:xfrm>
            <a:custGeom>
              <a:avLst/>
              <a:gdLst/>
              <a:ahLst/>
              <a:cxnLst/>
              <a:rect r="r" b="b" t="t" l="l"/>
              <a:pathLst>
                <a:path h="14261" w="863095">
                  <a:moveTo>
                    <a:pt x="7131" y="0"/>
                  </a:moveTo>
                  <a:lnTo>
                    <a:pt x="855965" y="0"/>
                  </a:lnTo>
                  <a:cubicBezTo>
                    <a:pt x="859903" y="0"/>
                    <a:pt x="863095" y="3192"/>
                    <a:pt x="863095" y="7131"/>
                  </a:cubicBezTo>
                  <a:lnTo>
                    <a:pt x="863095" y="7131"/>
                  </a:lnTo>
                  <a:cubicBezTo>
                    <a:pt x="863095" y="9022"/>
                    <a:pt x="862344" y="10835"/>
                    <a:pt x="861007" y="12173"/>
                  </a:cubicBezTo>
                  <a:cubicBezTo>
                    <a:pt x="859670" y="13510"/>
                    <a:pt x="857856" y="14261"/>
                    <a:pt x="855965" y="14261"/>
                  </a:cubicBezTo>
                  <a:lnTo>
                    <a:pt x="7131" y="14261"/>
                  </a:lnTo>
                  <a:cubicBezTo>
                    <a:pt x="5239" y="14261"/>
                    <a:pt x="3426" y="13510"/>
                    <a:pt x="2088" y="12173"/>
                  </a:cubicBezTo>
                  <a:cubicBezTo>
                    <a:pt x="751" y="10835"/>
                    <a:pt x="0" y="9022"/>
                    <a:pt x="0" y="7131"/>
                  </a:cubicBezTo>
                  <a:lnTo>
                    <a:pt x="0" y="7131"/>
                  </a:lnTo>
                  <a:cubicBezTo>
                    <a:pt x="0" y="5239"/>
                    <a:pt x="751" y="3426"/>
                    <a:pt x="2088" y="2088"/>
                  </a:cubicBezTo>
                  <a:cubicBezTo>
                    <a:pt x="3426" y="751"/>
                    <a:pt x="5239" y="0"/>
                    <a:pt x="71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863095" cy="90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60B">
                <a:alpha val="100000"/>
              </a:srgbClr>
            </a:gs>
            <a:gs pos="100000">
              <a:srgbClr val="02313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97698" y="819898"/>
            <a:ext cx="1684494" cy="417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6"/>
              </a:lnSpc>
            </a:pPr>
            <a:r>
              <a:rPr lang="en-US" sz="2778" b="true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Personas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99890" y="553594"/>
            <a:ext cx="946810" cy="950211"/>
            <a:chOff x="0" y="0"/>
            <a:chExt cx="1262413" cy="126694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262413" cy="1266949"/>
              <a:chOff x="0" y="0"/>
              <a:chExt cx="252439" cy="25334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52439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252439">
                    <a:moveTo>
                      <a:pt x="126220" y="0"/>
                    </a:moveTo>
                    <a:lnTo>
                      <a:pt x="126220" y="0"/>
                    </a:lnTo>
                    <a:cubicBezTo>
                      <a:pt x="195929" y="0"/>
                      <a:pt x="252439" y="56510"/>
                      <a:pt x="252439" y="126220"/>
                    </a:cubicBezTo>
                    <a:lnTo>
                      <a:pt x="252439" y="127127"/>
                    </a:lnTo>
                    <a:cubicBezTo>
                      <a:pt x="252439" y="196836"/>
                      <a:pt x="195929" y="253346"/>
                      <a:pt x="126220" y="253346"/>
                    </a:cubicBezTo>
                    <a:lnTo>
                      <a:pt x="126220" y="253346"/>
                    </a:lnTo>
                    <a:cubicBezTo>
                      <a:pt x="56510" y="253346"/>
                      <a:pt x="0" y="196836"/>
                      <a:pt x="0" y="127127"/>
                    </a:cubicBezTo>
                    <a:lnTo>
                      <a:pt x="0" y="126220"/>
                    </a:lnTo>
                    <a:cubicBezTo>
                      <a:pt x="0" y="56510"/>
                      <a:pt x="56510" y="0"/>
                      <a:pt x="1262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rnd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252439" cy="300971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24869" y="127665"/>
              <a:ext cx="1012674" cy="1011618"/>
              <a:chOff x="0" y="0"/>
              <a:chExt cx="202500" cy="202289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02500" cy="202289"/>
              </a:xfrm>
              <a:custGeom>
                <a:avLst/>
                <a:gdLst/>
                <a:ahLst/>
                <a:cxnLst/>
                <a:rect r="r" b="b" t="t" l="l"/>
                <a:pathLst>
                  <a:path h="202289" w="202500">
                    <a:moveTo>
                      <a:pt x="101144" y="0"/>
                    </a:moveTo>
                    <a:lnTo>
                      <a:pt x="101356" y="0"/>
                    </a:lnTo>
                    <a:cubicBezTo>
                      <a:pt x="128181" y="0"/>
                      <a:pt x="153907" y="10656"/>
                      <a:pt x="172875" y="29625"/>
                    </a:cubicBezTo>
                    <a:cubicBezTo>
                      <a:pt x="191844" y="48593"/>
                      <a:pt x="202500" y="74319"/>
                      <a:pt x="202500" y="101144"/>
                    </a:cubicBezTo>
                    <a:lnTo>
                      <a:pt x="202500" y="101144"/>
                    </a:lnTo>
                    <a:cubicBezTo>
                      <a:pt x="202500" y="127970"/>
                      <a:pt x="191844" y="153696"/>
                      <a:pt x="172875" y="172664"/>
                    </a:cubicBezTo>
                    <a:cubicBezTo>
                      <a:pt x="153907" y="191633"/>
                      <a:pt x="128181" y="202289"/>
                      <a:pt x="101356" y="202289"/>
                    </a:cubicBezTo>
                    <a:lnTo>
                      <a:pt x="101144" y="202289"/>
                    </a:lnTo>
                    <a:cubicBezTo>
                      <a:pt x="74319" y="202289"/>
                      <a:pt x="48593" y="191633"/>
                      <a:pt x="29625" y="172664"/>
                    </a:cubicBezTo>
                    <a:cubicBezTo>
                      <a:pt x="10656" y="153696"/>
                      <a:pt x="0" y="127970"/>
                      <a:pt x="0" y="101144"/>
                    </a:cubicBezTo>
                    <a:lnTo>
                      <a:pt x="0" y="101144"/>
                    </a:lnTo>
                    <a:cubicBezTo>
                      <a:pt x="0" y="74319"/>
                      <a:pt x="10656" y="48593"/>
                      <a:pt x="29625" y="29625"/>
                    </a:cubicBezTo>
                    <a:cubicBezTo>
                      <a:pt x="48593" y="10656"/>
                      <a:pt x="74319" y="0"/>
                      <a:pt x="10114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sq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202500" cy="249914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8100000">
              <a:off x="398221" y="363997"/>
              <a:ext cx="465971" cy="538954"/>
            </a:xfrm>
            <a:custGeom>
              <a:avLst/>
              <a:gdLst/>
              <a:ahLst/>
              <a:cxnLst/>
              <a:rect r="r" b="b" t="t" l="l"/>
              <a:pathLst>
                <a:path h="538954" w="465971">
                  <a:moveTo>
                    <a:pt x="0" y="0"/>
                  </a:moveTo>
                  <a:lnTo>
                    <a:pt x="465971" y="0"/>
                  </a:lnTo>
                  <a:lnTo>
                    <a:pt x="465971" y="538954"/>
                  </a:lnTo>
                  <a:lnTo>
                    <a:pt x="0" y="538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124055" y="486919"/>
            <a:ext cx="9626526" cy="847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 spc="-4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Principais dores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Falta de profissionais para cobertura de postos.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Falhas de limpeza que possam gerar riscos sanitários.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Problemas de segurança em áreas críticas.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Fornecedores que não respondem rapidamente a emergências.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Pressão constante por redução de custos sem perda de qualidade.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 spc="-4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Medos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Interdições ou não conformidades em auditorias.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Eventos que comprometam a segurança dos pacientes.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Reclamações da diretoria e órgãos reguladores.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Ter que trocar frequentemente de fornecedor.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 spc="-4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Manter o hospital funcionando 24 horas por dia sem interrupções.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Reduzir riscos operacionais.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Trabalhar com fornecedores confiáveis e previsíveis.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Ter indicadores que comprovem a qualidade dos serviços.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Job to Be Done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"Preciso garantir um ambiente seguro, limpo e operacionalmente eficiente para que equipes médicas possam focar no atendimento aos pacientes."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9890" y="5216239"/>
            <a:ext cx="6367275" cy="4401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7"/>
              </a:lnSpc>
              <a:spcBef>
                <a:spcPct val="0"/>
              </a:spcBef>
            </a:pPr>
            <a:r>
              <a:rPr lang="en-US" sz="1819" spc="-3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Persona 1: Mariana Costa, 42 anos</a:t>
            </a:r>
          </a:p>
          <a:p>
            <a:pPr algn="l">
              <a:lnSpc>
                <a:spcPts val="2547"/>
              </a:lnSpc>
              <a:spcBef>
                <a:spcPct val="0"/>
              </a:spcBef>
            </a:pPr>
          </a:p>
          <a:p>
            <a:pPr algn="l">
              <a:lnSpc>
                <a:spcPts val="2547"/>
              </a:lnSpc>
              <a:spcBef>
                <a:spcPct val="0"/>
              </a:spcBef>
            </a:pPr>
            <a:r>
              <a:rPr lang="en-US" sz="1819" spc="-3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Gerente Administrativa de hospital de médio ou grande porte; Atua há mais de 15 anos na área da saúde. Responde diretamente para a diretoria executiva.</a:t>
            </a:r>
          </a:p>
          <a:p>
            <a:pPr algn="l">
              <a:lnSpc>
                <a:spcPts val="2547"/>
              </a:lnSpc>
              <a:spcBef>
                <a:spcPct val="0"/>
              </a:spcBef>
            </a:pPr>
          </a:p>
          <a:p>
            <a:pPr algn="l">
              <a:lnSpc>
                <a:spcPts val="2547"/>
              </a:lnSpc>
              <a:spcBef>
                <a:spcPct val="0"/>
              </a:spcBef>
            </a:pPr>
            <a:r>
              <a:rPr lang="en-US" b="true" sz="1819" spc="-3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Responsabilidades</a:t>
            </a:r>
          </a:p>
          <a:p>
            <a:pPr algn="l">
              <a:lnSpc>
                <a:spcPts val="2547"/>
              </a:lnSpc>
              <a:spcBef>
                <a:spcPct val="0"/>
              </a:spcBef>
            </a:pPr>
            <a:r>
              <a:rPr lang="en-US" sz="1819" spc="-3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Garantir o funcionamento ininterrupto do hospital.</a:t>
            </a:r>
          </a:p>
          <a:p>
            <a:pPr algn="l">
              <a:lnSpc>
                <a:spcPts val="2547"/>
              </a:lnSpc>
              <a:spcBef>
                <a:spcPct val="0"/>
              </a:spcBef>
            </a:pPr>
            <a:r>
              <a:rPr lang="en-US" sz="1819" spc="-3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Gerenciar contratos terceirizados.</a:t>
            </a:r>
          </a:p>
          <a:p>
            <a:pPr algn="l">
              <a:lnSpc>
                <a:spcPts val="2547"/>
              </a:lnSpc>
              <a:spcBef>
                <a:spcPct val="0"/>
              </a:spcBef>
            </a:pPr>
            <a:r>
              <a:rPr lang="en-US" sz="1819" spc="-3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Controlar custos operacionais.</a:t>
            </a:r>
          </a:p>
          <a:p>
            <a:pPr algn="l">
              <a:lnSpc>
                <a:spcPts val="2547"/>
              </a:lnSpc>
              <a:spcBef>
                <a:spcPct val="0"/>
              </a:spcBef>
            </a:pPr>
            <a:r>
              <a:rPr lang="en-US" sz="1819" spc="-3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Assegurar conformidade com normas sanitárias e regulatórias.</a:t>
            </a:r>
          </a:p>
          <a:p>
            <a:pPr algn="l">
              <a:lnSpc>
                <a:spcPts val="2547"/>
              </a:lnSpc>
              <a:spcBef>
                <a:spcPct val="0"/>
              </a:spcBef>
            </a:pPr>
            <a:r>
              <a:rPr lang="en-US" sz="1819" spc="-3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Garantir a segurança de pacientes, acompanhantes e colaboradores.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99890" y="1805887"/>
            <a:ext cx="2882301" cy="2820867"/>
            <a:chOff x="0" y="0"/>
            <a:chExt cx="641629" cy="6279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1629" cy="627953"/>
            </a:xfrm>
            <a:custGeom>
              <a:avLst/>
              <a:gdLst/>
              <a:ahLst/>
              <a:cxnLst/>
              <a:rect r="r" b="b" t="t" l="l"/>
              <a:pathLst>
                <a:path h="627953" w="641629">
                  <a:moveTo>
                    <a:pt x="174591" y="0"/>
                  </a:moveTo>
                  <a:lnTo>
                    <a:pt x="467037" y="0"/>
                  </a:lnTo>
                  <a:cubicBezTo>
                    <a:pt x="563462" y="0"/>
                    <a:pt x="641629" y="78167"/>
                    <a:pt x="641629" y="174591"/>
                  </a:cubicBezTo>
                  <a:lnTo>
                    <a:pt x="641629" y="453362"/>
                  </a:lnTo>
                  <a:cubicBezTo>
                    <a:pt x="641629" y="499666"/>
                    <a:pt x="623234" y="544074"/>
                    <a:pt x="590492" y="576816"/>
                  </a:cubicBezTo>
                  <a:cubicBezTo>
                    <a:pt x="557750" y="609558"/>
                    <a:pt x="513342" y="627953"/>
                    <a:pt x="467037" y="627953"/>
                  </a:cubicBezTo>
                  <a:lnTo>
                    <a:pt x="174591" y="627953"/>
                  </a:lnTo>
                  <a:cubicBezTo>
                    <a:pt x="78167" y="627953"/>
                    <a:pt x="0" y="549786"/>
                    <a:pt x="0" y="453362"/>
                  </a:cubicBezTo>
                  <a:lnTo>
                    <a:pt x="0" y="174591"/>
                  </a:lnTo>
                  <a:cubicBezTo>
                    <a:pt x="0" y="78167"/>
                    <a:pt x="78167" y="0"/>
                    <a:pt x="174591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7163" r="0" b="-45964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19389" y="4931554"/>
            <a:ext cx="2882301" cy="88328"/>
            <a:chOff x="0" y="0"/>
            <a:chExt cx="863095" cy="264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63095" cy="26450"/>
            </a:xfrm>
            <a:custGeom>
              <a:avLst/>
              <a:gdLst/>
              <a:ahLst/>
              <a:cxnLst/>
              <a:rect r="r" b="b" t="t" l="l"/>
              <a:pathLst>
                <a:path h="26450" w="863095">
                  <a:moveTo>
                    <a:pt x="13225" y="0"/>
                  </a:moveTo>
                  <a:lnTo>
                    <a:pt x="849871" y="0"/>
                  </a:lnTo>
                  <a:cubicBezTo>
                    <a:pt x="857174" y="0"/>
                    <a:pt x="863095" y="5921"/>
                    <a:pt x="863095" y="13225"/>
                  </a:cubicBezTo>
                  <a:lnTo>
                    <a:pt x="863095" y="13225"/>
                  </a:lnTo>
                  <a:cubicBezTo>
                    <a:pt x="863095" y="16732"/>
                    <a:pt x="861702" y="20096"/>
                    <a:pt x="859222" y="22576"/>
                  </a:cubicBezTo>
                  <a:cubicBezTo>
                    <a:pt x="856742" y="25056"/>
                    <a:pt x="853378" y="26450"/>
                    <a:pt x="849871" y="26450"/>
                  </a:cubicBezTo>
                  <a:lnTo>
                    <a:pt x="13225" y="26450"/>
                  </a:lnTo>
                  <a:cubicBezTo>
                    <a:pt x="9717" y="26450"/>
                    <a:pt x="6354" y="25056"/>
                    <a:pt x="3873" y="22576"/>
                  </a:cubicBezTo>
                  <a:cubicBezTo>
                    <a:pt x="1393" y="20096"/>
                    <a:pt x="0" y="16732"/>
                    <a:pt x="0" y="13225"/>
                  </a:cubicBezTo>
                  <a:lnTo>
                    <a:pt x="0" y="13225"/>
                  </a:lnTo>
                  <a:cubicBezTo>
                    <a:pt x="0" y="9717"/>
                    <a:pt x="1393" y="6354"/>
                    <a:pt x="3873" y="3873"/>
                  </a:cubicBezTo>
                  <a:cubicBezTo>
                    <a:pt x="6354" y="1393"/>
                    <a:pt x="9717" y="0"/>
                    <a:pt x="1322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863095" cy="102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60B">
                <a:alpha val="100000"/>
              </a:srgbClr>
            </a:gs>
            <a:gs pos="100000">
              <a:srgbClr val="02313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97698" y="819898"/>
            <a:ext cx="1684494" cy="417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6"/>
              </a:lnSpc>
            </a:pPr>
            <a:r>
              <a:rPr lang="en-US" sz="2778" b="true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Personas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99890" y="553594"/>
            <a:ext cx="946810" cy="950211"/>
            <a:chOff x="0" y="0"/>
            <a:chExt cx="1262413" cy="126694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262413" cy="1266949"/>
              <a:chOff x="0" y="0"/>
              <a:chExt cx="252439" cy="25334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52439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252439">
                    <a:moveTo>
                      <a:pt x="126220" y="0"/>
                    </a:moveTo>
                    <a:lnTo>
                      <a:pt x="126220" y="0"/>
                    </a:lnTo>
                    <a:cubicBezTo>
                      <a:pt x="195929" y="0"/>
                      <a:pt x="252439" y="56510"/>
                      <a:pt x="252439" y="126220"/>
                    </a:cubicBezTo>
                    <a:lnTo>
                      <a:pt x="252439" y="127127"/>
                    </a:lnTo>
                    <a:cubicBezTo>
                      <a:pt x="252439" y="196836"/>
                      <a:pt x="195929" y="253346"/>
                      <a:pt x="126220" y="253346"/>
                    </a:cubicBezTo>
                    <a:lnTo>
                      <a:pt x="126220" y="253346"/>
                    </a:lnTo>
                    <a:cubicBezTo>
                      <a:pt x="56510" y="253346"/>
                      <a:pt x="0" y="196836"/>
                      <a:pt x="0" y="127127"/>
                    </a:cubicBezTo>
                    <a:lnTo>
                      <a:pt x="0" y="126220"/>
                    </a:lnTo>
                    <a:cubicBezTo>
                      <a:pt x="0" y="56510"/>
                      <a:pt x="56510" y="0"/>
                      <a:pt x="1262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rnd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252439" cy="300971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24869" y="127665"/>
              <a:ext cx="1012674" cy="1011618"/>
              <a:chOff x="0" y="0"/>
              <a:chExt cx="202500" cy="202289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02500" cy="202289"/>
              </a:xfrm>
              <a:custGeom>
                <a:avLst/>
                <a:gdLst/>
                <a:ahLst/>
                <a:cxnLst/>
                <a:rect r="r" b="b" t="t" l="l"/>
                <a:pathLst>
                  <a:path h="202289" w="202500">
                    <a:moveTo>
                      <a:pt x="101144" y="0"/>
                    </a:moveTo>
                    <a:lnTo>
                      <a:pt x="101356" y="0"/>
                    </a:lnTo>
                    <a:cubicBezTo>
                      <a:pt x="128181" y="0"/>
                      <a:pt x="153907" y="10656"/>
                      <a:pt x="172875" y="29625"/>
                    </a:cubicBezTo>
                    <a:cubicBezTo>
                      <a:pt x="191844" y="48593"/>
                      <a:pt x="202500" y="74319"/>
                      <a:pt x="202500" y="101144"/>
                    </a:cubicBezTo>
                    <a:lnTo>
                      <a:pt x="202500" y="101144"/>
                    </a:lnTo>
                    <a:cubicBezTo>
                      <a:pt x="202500" y="127970"/>
                      <a:pt x="191844" y="153696"/>
                      <a:pt x="172875" y="172664"/>
                    </a:cubicBezTo>
                    <a:cubicBezTo>
                      <a:pt x="153907" y="191633"/>
                      <a:pt x="128181" y="202289"/>
                      <a:pt x="101356" y="202289"/>
                    </a:cubicBezTo>
                    <a:lnTo>
                      <a:pt x="101144" y="202289"/>
                    </a:lnTo>
                    <a:cubicBezTo>
                      <a:pt x="74319" y="202289"/>
                      <a:pt x="48593" y="191633"/>
                      <a:pt x="29625" y="172664"/>
                    </a:cubicBezTo>
                    <a:cubicBezTo>
                      <a:pt x="10656" y="153696"/>
                      <a:pt x="0" y="127970"/>
                      <a:pt x="0" y="101144"/>
                    </a:cubicBezTo>
                    <a:lnTo>
                      <a:pt x="0" y="101144"/>
                    </a:lnTo>
                    <a:cubicBezTo>
                      <a:pt x="0" y="74319"/>
                      <a:pt x="10656" y="48593"/>
                      <a:pt x="29625" y="29625"/>
                    </a:cubicBezTo>
                    <a:cubicBezTo>
                      <a:pt x="48593" y="10656"/>
                      <a:pt x="74319" y="0"/>
                      <a:pt x="10114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sq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202500" cy="249914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8100000">
              <a:off x="398221" y="363997"/>
              <a:ext cx="465971" cy="538954"/>
            </a:xfrm>
            <a:custGeom>
              <a:avLst/>
              <a:gdLst/>
              <a:ahLst/>
              <a:cxnLst/>
              <a:rect r="r" b="b" t="t" l="l"/>
              <a:pathLst>
                <a:path h="538954" w="465971">
                  <a:moveTo>
                    <a:pt x="0" y="0"/>
                  </a:moveTo>
                  <a:lnTo>
                    <a:pt x="465971" y="0"/>
                  </a:lnTo>
                  <a:lnTo>
                    <a:pt x="465971" y="538954"/>
                  </a:lnTo>
                  <a:lnTo>
                    <a:pt x="0" y="538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536894" y="753223"/>
            <a:ext cx="9931849" cy="706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Principais dores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Reclamações sobre limpeza e conservação.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Falta de controle de acesso.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Problemas de segurança dentro do campus.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Gestão de múltiplos prestadores de serviço.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Pressão por eficiência orçamentária.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Medos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Incidentes envolvendo alunos ou visitantes.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Danos à reputação da instituição.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Interrupções das atividades acadêmicas.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Problemas operacionais em períodos de alta circulação.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Objetivos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Proporcionar um ambiente seguro e acolhedor.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Garantir que a operação funcione sem interferir na atividade educacional.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Reduzir riscos e retrabalho.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Trabalhar com fornecedores que entendam a dinâmica do setor educacional.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699890" y="5216239"/>
            <a:ext cx="6367275" cy="3458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7"/>
              </a:lnSpc>
              <a:spcBef>
                <a:spcPct val="0"/>
              </a:spcBef>
            </a:pPr>
            <a:r>
              <a:rPr lang="en-US" sz="1819" spc="-3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1819" spc="-3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icardo Almeida, 42 anos</a:t>
            </a:r>
          </a:p>
          <a:p>
            <a:pPr algn="l">
              <a:lnSpc>
                <a:spcPts val="2547"/>
              </a:lnSpc>
              <a:spcBef>
                <a:spcPct val="0"/>
              </a:spcBef>
            </a:pPr>
            <a:r>
              <a:rPr lang="en-US" sz="1819" spc="-3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Diretor A</a:t>
            </a:r>
            <a:r>
              <a:rPr lang="en-US" sz="1819" spc="-3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1819" spc="-3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ministrativo de Instituição de Ensino</a:t>
            </a:r>
          </a:p>
          <a:p>
            <a:pPr algn="l">
              <a:lnSpc>
                <a:spcPts val="2547"/>
              </a:lnSpc>
              <a:spcBef>
                <a:spcPct val="0"/>
              </a:spcBef>
            </a:pPr>
          </a:p>
          <a:p>
            <a:pPr algn="l">
              <a:lnSpc>
                <a:spcPts val="2547"/>
              </a:lnSpc>
              <a:spcBef>
                <a:spcPct val="0"/>
              </a:spcBef>
            </a:pPr>
            <a:r>
              <a:rPr lang="en-US" sz="1819" spc="-3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Responsabilidades</a:t>
            </a:r>
          </a:p>
          <a:p>
            <a:pPr algn="l" marL="392794" indent="-196397" lvl="1">
              <a:lnSpc>
                <a:spcPts val="2547"/>
              </a:lnSpc>
              <a:spcBef>
                <a:spcPct val="0"/>
              </a:spcBef>
              <a:buFont typeface="Arial"/>
              <a:buChar char="•"/>
            </a:pPr>
            <a:r>
              <a:rPr lang="en-US" sz="1819" spc="-3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Garantir o funcionamento das unidades.</a:t>
            </a:r>
          </a:p>
          <a:p>
            <a:pPr algn="l" marL="392794" indent="-196397" lvl="1">
              <a:lnSpc>
                <a:spcPts val="2547"/>
              </a:lnSpc>
              <a:spcBef>
                <a:spcPct val="0"/>
              </a:spcBef>
              <a:buFont typeface="Arial"/>
              <a:buChar char="•"/>
            </a:pPr>
            <a:r>
              <a:rPr lang="en-US" sz="1819" spc="-3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Gerenciar orçamento operacional.</a:t>
            </a:r>
          </a:p>
          <a:p>
            <a:pPr algn="l" marL="392794" indent="-196397" lvl="1">
              <a:lnSpc>
                <a:spcPts val="2547"/>
              </a:lnSpc>
              <a:spcBef>
                <a:spcPct val="0"/>
              </a:spcBef>
              <a:buFont typeface="Arial"/>
              <a:buChar char="•"/>
            </a:pPr>
            <a:r>
              <a:rPr lang="en-US" sz="1819" spc="-3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Coordenar fornecedores terceirizados.</a:t>
            </a:r>
          </a:p>
          <a:p>
            <a:pPr algn="l" marL="392794" indent="-196397" lvl="1">
              <a:lnSpc>
                <a:spcPts val="2547"/>
              </a:lnSpc>
              <a:spcBef>
                <a:spcPct val="0"/>
              </a:spcBef>
              <a:buFont typeface="Arial"/>
              <a:buChar char="•"/>
            </a:pPr>
            <a:r>
              <a:rPr lang="en-US" sz="1819" spc="-3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Assegurar segurança e conservação dos ambientes.</a:t>
            </a:r>
          </a:p>
          <a:p>
            <a:pPr algn="l" marL="392794" indent="-196397" lvl="1">
              <a:lnSpc>
                <a:spcPts val="2547"/>
              </a:lnSpc>
              <a:spcBef>
                <a:spcPct val="0"/>
              </a:spcBef>
              <a:buFont typeface="Arial"/>
              <a:buChar char="•"/>
            </a:pPr>
            <a:r>
              <a:rPr lang="en-US" sz="1819" spc="-3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Manter a experiência positiva de alunos, professores e visitantes.</a:t>
            </a:r>
          </a:p>
          <a:p>
            <a:pPr algn="l">
              <a:lnSpc>
                <a:spcPts val="2547"/>
              </a:lnSpc>
              <a:spcBef>
                <a:spcPct val="0"/>
              </a:spcBef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699890" y="1805887"/>
            <a:ext cx="2882301" cy="2820867"/>
            <a:chOff x="0" y="0"/>
            <a:chExt cx="641629" cy="6279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1629" cy="627953"/>
            </a:xfrm>
            <a:custGeom>
              <a:avLst/>
              <a:gdLst/>
              <a:ahLst/>
              <a:cxnLst/>
              <a:rect r="r" b="b" t="t" l="l"/>
              <a:pathLst>
                <a:path h="627953" w="641629">
                  <a:moveTo>
                    <a:pt x="174591" y="0"/>
                  </a:moveTo>
                  <a:lnTo>
                    <a:pt x="467037" y="0"/>
                  </a:lnTo>
                  <a:cubicBezTo>
                    <a:pt x="563462" y="0"/>
                    <a:pt x="641629" y="78167"/>
                    <a:pt x="641629" y="174591"/>
                  </a:cubicBezTo>
                  <a:lnTo>
                    <a:pt x="641629" y="453362"/>
                  </a:lnTo>
                  <a:cubicBezTo>
                    <a:pt x="641629" y="499666"/>
                    <a:pt x="623234" y="544074"/>
                    <a:pt x="590492" y="576816"/>
                  </a:cubicBezTo>
                  <a:cubicBezTo>
                    <a:pt x="557750" y="609558"/>
                    <a:pt x="513342" y="627953"/>
                    <a:pt x="467037" y="627953"/>
                  </a:cubicBezTo>
                  <a:lnTo>
                    <a:pt x="174591" y="627953"/>
                  </a:lnTo>
                  <a:cubicBezTo>
                    <a:pt x="78167" y="627953"/>
                    <a:pt x="0" y="549786"/>
                    <a:pt x="0" y="453362"/>
                  </a:cubicBezTo>
                  <a:lnTo>
                    <a:pt x="0" y="174591"/>
                  </a:lnTo>
                  <a:cubicBezTo>
                    <a:pt x="0" y="78167"/>
                    <a:pt x="78167" y="0"/>
                    <a:pt x="174591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7163" r="0" b="-45964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19389" y="4931554"/>
            <a:ext cx="2882301" cy="88328"/>
            <a:chOff x="0" y="0"/>
            <a:chExt cx="863095" cy="264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63095" cy="26450"/>
            </a:xfrm>
            <a:custGeom>
              <a:avLst/>
              <a:gdLst/>
              <a:ahLst/>
              <a:cxnLst/>
              <a:rect r="r" b="b" t="t" l="l"/>
              <a:pathLst>
                <a:path h="26450" w="863095">
                  <a:moveTo>
                    <a:pt x="13225" y="0"/>
                  </a:moveTo>
                  <a:lnTo>
                    <a:pt x="849871" y="0"/>
                  </a:lnTo>
                  <a:cubicBezTo>
                    <a:pt x="857174" y="0"/>
                    <a:pt x="863095" y="5921"/>
                    <a:pt x="863095" y="13225"/>
                  </a:cubicBezTo>
                  <a:lnTo>
                    <a:pt x="863095" y="13225"/>
                  </a:lnTo>
                  <a:cubicBezTo>
                    <a:pt x="863095" y="16732"/>
                    <a:pt x="861702" y="20096"/>
                    <a:pt x="859222" y="22576"/>
                  </a:cubicBezTo>
                  <a:cubicBezTo>
                    <a:pt x="856742" y="25056"/>
                    <a:pt x="853378" y="26450"/>
                    <a:pt x="849871" y="26450"/>
                  </a:cubicBezTo>
                  <a:lnTo>
                    <a:pt x="13225" y="26450"/>
                  </a:lnTo>
                  <a:cubicBezTo>
                    <a:pt x="9717" y="26450"/>
                    <a:pt x="6354" y="25056"/>
                    <a:pt x="3873" y="22576"/>
                  </a:cubicBezTo>
                  <a:cubicBezTo>
                    <a:pt x="1393" y="20096"/>
                    <a:pt x="0" y="16732"/>
                    <a:pt x="0" y="13225"/>
                  </a:cubicBezTo>
                  <a:lnTo>
                    <a:pt x="0" y="13225"/>
                  </a:lnTo>
                  <a:cubicBezTo>
                    <a:pt x="0" y="9717"/>
                    <a:pt x="1393" y="6354"/>
                    <a:pt x="3873" y="3873"/>
                  </a:cubicBezTo>
                  <a:cubicBezTo>
                    <a:pt x="6354" y="1393"/>
                    <a:pt x="9717" y="0"/>
                    <a:pt x="1322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863095" cy="102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19389" y="1805887"/>
            <a:ext cx="2882301" cy="2820867"/>
            <a:chOff x="0" y="0"/>
            <a:chExt cx="641629" cy="62795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1629" cy="627953"/>
            </a:xfrm>
            <a:custGeom>
              <a:avLst/>
              <a:gdLst/>
              <a:ahLst/>
              <a:cxnLst/>
              <a:rect r="r" b="b" t="t" l="l"/>
              <a:pathLst>
                <a:path h="627953" w="641629">
                  <a:moveTo>
                    <a:pt x="174591" y="0"/>
                  </a:moveTo>
                  <a:lnTo>
                    <a:pt x="467037" y="0"/>
                  </a:lnTo>
                  <a:cubicBezTo>
                    <a:pt x="563462" y="0"/>
                    <a:pt x="641629" y="78167"/>
                    <a:pt x="641629" y="174591"/>
                  </a:cubicBezTo>
                  <a:lnTo>
                    <a:pt x="641629" y="453362"/>
                  </a:lnTo>
                  <a:cubicBezTo>
                    <a:pt x="641629" y="499666"/>
                    <a:pt x="623234" y="544074"/>
                    <a:pt x="590492" y="576816"/>
                  </a:cubicBezTo>
                  <a:cubicBezTo>
                    <a:pt x="557750" y="609558"/>
                    <a:pt x="513342" y="627953"/>
                    <a:pt x="467037" y="627953"/>
                  </a:cubicBezTo>
                  <a:lnTo>
                    <a:pt x="174591" y="627953"/>
                  </a:lnTo>
                  <a:cubicBezTo>
                    <a:pt x="78167" y="627953"/>
                    <a:pt x="0" y="549786"/>
                    <a:pt x="0" y="453362"/>
                  </a:cubicBezTo>
                  <a:lnTo>
                    <a:pt x="0" y="174591"/>
                  </a:lnTo>
                  <a:cubicBezTo>
                    <a:pt x="0" y="78167"/>
                    <a:pt x="78167" y="0"/>
                    <a:pt x="174591" y="0"/>
                  </a:cubicBezTo>
                  <a:close/>
                </a:path>
              </a:pathLst>
            </a:custGeom>
            <a:blipFill>
              <a:blip r:embed="rId5"/>
              <a:stretch>
                <a:fillRect l="-8261" t="0" r="-39186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60B">
                <a:alpha val="100000"/>
              </a:srgbClr>
            </a:gs>
            <a:gs pos="100000">
              <a:srgbClr val="02313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5750" y="4302738"/>
            <a:ext cx="2430746" cy="2378937"/>
            <a:chOff x="0" y="0"/>
            <a:chExt cx="641629" cy="6279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1629" cy="627953"/>
            </a:xfrm>
            <a:custGeom>
              <a:avLst/>
              <a:gdLst/>
              <a:ahLst/>
              <a:cxnLst/>
              <a:rect r="r" b="b" t="t" l="l"/>
              <a:pathLst>
                <a:path h="627953" w="641629">
                  <a:moveTo>
                    <a:pt x="207025" y="0"/>
                  </a:moveTo>
                  <a:lnTo>
                    <a:pt x="434604" y="0"/>
                  </a:lnTo>
                  <a:cubicBezTo>
                    <a:pt x="548941" y="0"/>
                    <a:pt x="641629" y="92688"/>
                    <a:pt x="641629" y="207025"/>
                  </a:cubicBezTo>
                  <a:lnTo>
                    <a:pt x="641629" y="420928"/>
                  </a:lnTo>
                  <a:cubicBezTo>
                    <a:pt x="641629" y="475834"/>
                    <a:pt x="619817" y="528492"/>
                    <a:pt x="580993" y="567317"/>
                  </a:cubicBezTo>
                  <a:cubicBezTo>
                    <a:pt x="542168" y="606141"/>
                    <a:pt x="489510" y="627953"/>
                    <a:pt x="434604" y="627953"/>
                  </a:cubicBezTo>
                  <a:lnTo>
                    <a:pt x="207025" y="627953"/>
                  </a:lnTo>
                  <a:cubicBezTo>
                    <a:pt x="92688" y="627953"/>
                    <a:pt x="0" y="535265"/>
                    <a:pt x="0" y="420928"/>
                  </a:cubicBezTo>
                  <a:lnTo>
                    <a:pt x="0" y="207025"/>
                  </a:lnTo>
                  <a:cubicBezTo>
                    <a:pt x="0" y="152118"/>
                    <a:pt x="21811" y="99461"/>
                    <a:pt x="60636" y="60636"/>
                  </a:cubicBezTo>
                  <a:cubicBezTo>
                    <a:pt x="99461" y="21811"/>
                    <a:pt x="152118" y="0"/>
                    <a:pt x="207025" y="0"/>
                  </a:cubicBezTo>
                  <a:close/>
                </a:path>
              </a:pathLst>
            </a:custGeom>
            <a:blipFill>
              <a:blip r:embed="rId2"/>
              <a:stretch>
                <a:fillRect l="-12590" t="0" r="-1259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366145" y="4302738"/>
            <a:ext cx="2430746" cy="2378937"/>
            <a:chOff x="0" y="0"/>
            <a:chExt cx="641629" cy="6279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1629" cy="627953"/>
            </a:xfrm>
            <a:custGeom>
              <a:avLst/>
              <a:gdLst/>
              <a:ahLst/>
              <a:cxnLst/>
              <a:rect r="r" b="b" t="t" l="l"/>
              <a:pathLst>
                <a:path h="627953" w="641629">
                  <a:moveTo>
                    <a:pt x="207025" y="0"/>
                  </a:moveTo>
                  <a:lnTo>
                    <a:pt x="434604" y="0"/>
                  </a:lnTo>
                  <a:cubicBezTo>
                    <a:pt x="548941" y="0"/>
                    <a:pt x="641629" y="92688"/>
                    <a:pt x="641629" y="207025"/>
                  </a:cubicBezTo>
                  <a:lnTo>
                    <a:pt x="641629" y="420928"/>
                  </a:lnTo>
                  <a:cubicBezTo>
                    <a:pt x="641629" y="475834"/>
                    <a:pt x="619817" y="528492"/>
                    <a:pt x="580993" y="567317"/>
                  </a:cubicBezTo>
                  <a:cubicBezTo>
                    <a:pt x="542168" y="606141"/>
                    <a:pt x="489510" y="627953"/>
                    <a:pt x="434604" y="627953"/>
                  </a:cubicBezTo>
                  <a:lnTo>
                    <a:pt x="207025" y="627953"/>
                  </a:lnTo>
                  <a:cubicBezTo>
                    <a:pt x="92688" y="627953"/>
                    <a:pt x="0" y="535265"/>
                    <a:pt x="0" y="420928"/>
                  </a:cubicBezTo>
                  <a:lnTo>
                    <a:pt x="0" y="207025"/>
                  </a:lnTo>
                  <a:cubicBezTo>
                    <a:pt x="0" y="152118"/>
                    <a:pt x="21811" y="99461"/>
                    <a:pt x="60636" y="60636"/>
                  </a:cubicBezTo>
                  <a:cubicBezTo>
                    <a:pt x="99461" y="21811"/>
                    <a:pt x="152118" y="0"/>
                    <a:pt x="207025" y="0"/>
                  </a:cubicBezTo>
                  <a:close/>
                </a:path>
              </a:pathLst>
            </a:custGeom>
            <a:blipFill>
              <a:blip r:embed="rId3"/>
              <a:stretch>
                <a:fillRect l="-23447" t="0" r="-23447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997736" y="4302738"/>
            <a:ext cx="2430746" cy="2378937"/>
            <a:chOff x="0" y="0"/>
            <a:chExt cx="641629" cy="6279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1629" cy="627953"/>
            </a:xfrm>
            <a:custGeom>
              <a:avLst/>
              <a:gdLst/>
              <a:ahLst/>
              <a:cxnLst/>
              <a:rect r="r" b="b" t="t" l="l"/>
              <a:pathLst>
                <a:path h="627953" w="641629">
                  <a:moveTo>
                    <a:pt x="207025" y="0"/>
                  </a:moveTo>
                  <a:lnTo>
                    <a:pt x="434604" y="0"/>
                  </a:lnTo>
                  <a:cubicBezTo>
                    <a:pt x="548941" y="0"/>
                    <a:pt x="641629" y="92688"/>
                    <a:pt x="641629" y="207025"/>
                  </a:cubicBezTo>
                  <a:lnTo>
                    <a:pt x="641629" y="420928"/>
                  </a:lnTo>
                  <a:cubicBezTo>
                    <a:pt x="641629" y="475834"/>
                    <a:pt x="619817" y="528492"/>
                    <a:pt x="580993" y="567317"/>
                  </a:cubicBezTo>
                  <a:cubicBezTo>
                    <a:pt x="542168" y="606141"/>
                    <a:pt x="489510" y="627953"/>
                    <a:pt x="434604" y="627953"/>
                  </a:cubicBezTo>
                  <a:lnTo>
                    <a:pt x="207025" y="627953"/>
                  </a:lnTo>
                  <a:cubicBezTo>
                    <a:pt x="92688" y="627953"/>
                    <a:pt x="0" y="535265"/>
                    <a:pt x="0" y="420928"/>
                  </a:cubicBezTo>
                  <a:lnTo>
                    <a:pt x="0" y="207025"/>
                  </a:lnTo>
                  <a:cubicBezTo>
                    <a:pt x="0" y="152118"/>
                    <a:pt x="21811" y="99461"/>
                    <a:pt x="60636" y="60636"/>
                  </a:cubicBezTo>
                  <a:cubicBezTo>
                    <a:pt x="99461" y="21811"/>
                    <a:pt x="152118" y="0"/>
                    <a:pt x="207025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-4661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45750" y="7098528"/>
            <a:ext cx="2430746" cy="74490"/>
            <a:chOff x="0" y="0"/>
            <a:chExt cx="863095" cy="264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63095" cy="26450"/>
            </a:xfrm>
            <a:custGeom>
              <a:avLst/>
              <a:gdLst/>
              <a:ahLst/>
              <a:cxnLst/>
              <a:rect r="r" b="b" t="t" l="l"/>
              <a:pathLst>
                <a:path h="26450" w="863095">
                  <a:moveTo>
                    <a:pt x="13225" y="0"/>
                  </a:moveTo>
                  <a:lnTo>
                    <a:pt x="849871" y="0"/>
                  </a:lnTo>
                  <a:cubicBezTo>
                    <a:pt x="857174" y="0"/>
                    <a:pt x="863095" y="5921"/>
                    <a:pt x="863095" y="13225"/>
                  </a:cubicBezTo>
                  <a:lnTo>
                    <a:pt x="863095" y="13225"/>
                  </a:lnTo>
                  <a:cubicBezTo>
                    <a:pt x="863095" y="16732"/>
                    <a:pt x="861702" y="20096"/>
                    <a:pt x="859222" y="22576"/>
                  </a:cubicBezTo>
                  <a:cubicBezTo>
                    <a:pt x="856742" y="25056"/>
                    <a:pt x="853378" y="26450"/>
                    <a:pt x="849871" y="26450"/>
                  </a:cubicBezTo>
                  <a:lnTo>
                    <a:pt x="13225" y="26450"/>
                  </a:lnTo>
                  <a:cubicBezTo>
                    <a:pt x="9717" y="26450"/>
                    <a:pt x="6354" y="25056"/>
                    <a:pt x="3873" y="22576"/>
                  </a:cubicBezTo>
                  <a:cubicBezTo>
                    <a:pt x="1393" y="20096"/>
                    <a:pt x="0" y="16732"/>
                    <a:pt x="0" y="13225"/>
                  </a:cubicBezTo>
                  <a:lnTo>
                    <a:pt x="0" y="13225"/>
                  </a:lnTo>
                  <a:cubicBezTo>
                    <a:pt x="0" y="9717"/>
                    <a:pt x="1393" y="6354"/>
                    <a:pt x="3873" y="3873"/>
                  </a:cubicBezTo>
                  <a:cubicBezTo>
                    <a:pt x="6354" y="1393"/>
                    <a:pt x="9717" y="0"/>
                    <a:pt x="1322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863095" cy="102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366145" y="7098528"/>
            <a:ext cx="2430746" cy="74490"/>
            <a:chOff x="0" y="0"/>
            <a:chExt cx="863095" cy="264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63095" cy="26450"/>
            </a:xfrm>
            <a:custGeom>
              <a:avLst/>
              <a:gdLst/>
              <a:ahLst/>
              <a:cxnLst/>
              <a:rect r="r" b="b" t="t" l="l"/>
              <a:pathLst>
                <a:path h="26450" w="863095">
                  <a:moveTo>
                    <a:pt x="13225" y="0"/>
                  </a:moveTo>
                  <a:lnTo>
                    <a:pt x="849871" y="0"/>
                  </a:lnTo>
                  <a:cubicBezTo>
                    <a:pt x="857174" y="0"/>
                    <a:pt x="863095" y="5921"/>
                    <a:pt x="863095" y="13225"/>
                  </a:cubicBezTo>
                  <a:lnTo>
                    <a:pt x="863095" y="13225"/>
                  </a:lnTo>
                  <a:cubicBezTo>
                    <a:pt x="863095" y="16732"/>
                    <a:pt x="861702" y="20096"/>
                    <a:pt x="859222" y="22576"/>
                  </a:cubicBezTo>
                  <a:cubicBezTo>
                    <a:pt x="856742" y="25056"/>
                    <a:pt x="853378" y="26450"/>
                    <a:pt x="849871" y="26450"/>
                  </a:cubicBezTo>
                  <a:lnTo>
                    <a:pt x="13225" y="26450"/>
                  </a:lnTo>
                  <a:cubicBezTo>
                    <a:pt x="9717" y="26450"/>
                    <a:pt x="6354" y="25056"/>
                    <a:pt x="3873" y="22576"/>
                  </a:cubicBezTo>
                  <a:cubicBezTo>
                    <a:pt x="1393" y="20096"/>
                    <a:pt x="0" y="16732"/>
                    <a:pt x="0" y="13225"/>
                  </a:cubicBezTo>
                  <a:lnTo>
                    <a:pt x="0" y="13225"/>
                  </a:lnTo>
                  <a:cubicBezTo>
                    <a:pt x="0" y="9717"/>
                    <a:pt x="1393" y="6354"/>
                    <a:pt x="3873" y="3873"/>
                  </a:cubicBezTo>
                  <a:cubicBezTo>
                    <a:pt x="6354" y="1393"/>
                    <a:pt x="9717" y="0"/>
                    <a:pt x="1322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863095" cy="102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997736" y="7098528"/>
            <a:ext cx="2430746" cy="74490"/>
            <a:chOff x="0" y="0"/>
            <a:chExt cx="863095" cy="26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3095" cy="26450"/>
            </a:xfrm>
            <a:custGeom>
              <a:avLst/>
              <a:gdLst/>
              <a:ahLst/>
              <a:cxnLst/>
              <a:rect r="r" b="b" t="t" l="l"/>
              <a:pathLst>
                <a:path h="26450" w="863095">
                  <a:moveTo>
                    <a:pt x="13225" y="0"/>
                  </a:moveTo>
                  <a:lnTo>
                    <a:pt x="849871" y="0"/>
                  </a:lnTo>
                  <a:cubicBezTo>
                    <a:pt x="857174" y="0"/>
                    <a:pt x="863095" y="5921"/>
                    <a:pt x="863095" y="13225"/>
                  </a:cubicBezTo>
                  <a:lnTo>
                    <a:pt x="863095" y="13225"/>
                  </a:lnTo>
                  <a:cubicBezTo>
                    <a:pt x="863095" y="16732"/>
                    <a:pt x="861702" y="20096"/>
                    <a:pt x="859222" y="22576"/>
                  </a:cubicBezTo>
                  <a:cubicBezTo>
                    <a:pt x="856742" y="25056"/>
                    <a:pt x="853378" y="26450"/>
                    <a:pt x="849871" y="26450"/>
                  </a:cubicBezTo>
                  <a:lnTo>
                    <a:pt x="13225" y="26450"/>
                  </a:lnTo>
                  <a:cubicBezTo>
                    <a:pt x="9717" y="26450"/>
                    <a:pt x="6354" y="25056"/>
                    <a:pt x="3873" y="22576"/>
                  </a:cubicBezTo>
                  <a:cubicBezTo>
                    <a:pt x="1393" y="20096"/>
                    <a:pt x="0" y="16732"/>
                    <a:pt x="0" y="13225"/>
                  </a:cubicBezTo>
                  <a:lnTo>
                    <a:pt x="0" y="13225"/>
                  </a:lnTo>
                  <a:cubicBezTo>
                    <a:pt x="0" y="9717"/>
                    <a:pt x="1393" y="6354"/>
                    <a:pt x="3873" y="3873"/>
                  </a:cubicBezTo>
                  <a:cubicBezTo>
                    <a:pt x="6354" y="1393"/>
                    <a:pt x="9717" y="0"/>
                    <a:pt x="1322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863095" cy="102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745750" y="2580774"/>
            <a:ext cx="2363748" cy="852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9"/>
              </a:lnSpc>
            </a:pPr>
            <a:r>
              <a:rPr lang="en-US" sz="5617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Light"/>
                <a:ea typeface="Poppins Light"/>
                <a:cs typeface="Poppins Light"/>
                <a:sym typeface="Poppins Light"/>
              </a:rPr>
              <a:t>Nichos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58420" y="4293213"/>
            <a:ext cx="6933791" cy="772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9"/>
              </a:lnSpc>
            </a:pPr>
            <a:r>
              <a:rPr lang="en-US" sz="5026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Light"/>
                <a:ea typeface="Poppins Light"/>
                <a:cs typeface="Poppins Light"/>
                <a:sym typeface="Poppins Light"/>
              </a:rPr>
              <a:t>Instituições de </a:t>
            </a:r>
            <a:r>
              <a:rPr lang="en-US" sz="502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ensino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58420" y="5482681"/>
            <a:ext cx="6775479" cy="772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9"/>
              </a:lnSpc>
            </a:pPr>
            <a:r>
              <a:rPr lang="en-US" sz="5026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Light"/>
                <a:ea typeface="Poppins Light"/>
                <a:cs typeface="Poppins Light"/>
                <a:sym typeface="Poppins Light"/>
              </a:rPr>
              <a:t>Instituições de </a:t>
            </a:r>
            <a:r>
              <a:rPr lang="en-US" sz="502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saúde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58420" y="6595950"/>
            <a:ext cx="7468708" cy="772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9"/>
              </a:lnSpc>
            </a:pPr>
            <a:r>
              <a:rPr lang="en-US" sz="5026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Light"/>
                <a:ea typeface="Poppins Light"/>
                <a:cs typeface="Poppins Light"/>
                <a:sym typeface="Poppins Light"/>
              </a:rPr>
              <a:t>Instituições </a:t>
            </a:r>
            <a:r>
              <a:rPr lang="en-US" sz="5026" b="tru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B8B8B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financeiras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3060B">
                <a:alpha val="100000"/>
              </a:srgbClr>
            </a:gs>
            <a:gs pos="100000">
              <a:srgbClr val="02313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544269"/>
            <a:ext cx="16230600" cy="2477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62"/>
              </a:lnSpc>
            </a:pPr>
            <a:r>
              <a:rPr lang="en-US" sz="18394" spc="-588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Posicionamento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417466" y="-7494848"/>
            <a:ext cx="10870534" cy="10426838"/>
            <a:chOff x="0" y="0"/>
            <a:chExt cx="622300" cy="5969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2300" cy="596900"/>
            </a:xfrm>
            <a:custGeom>
              <a:avLst/>
              <a:gdLst/>
              <a:ahLst/>
              <a:cxnLst/>
              <a:rect r="r" b="b" t="t" l="l"/>
              <a:pathLst>
                <a:path h="596900" w="6223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50800"/>
              <a:ext cx="6223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0" y="9258300"/>
            <a:ext cx="10724745" cy="10287000"/>
            <a:chOff x="0" y="0"/>
            <a:chExt cx="622300" cy="596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2300" cy="596900"/>
            </a:xfrm>
            <a:custGeom>
              <a:avLst/>
              <a:gdLst/>
              <a:ahLst/>
              <a:cxnLst/>
              <a:rect r="r" b="b" t="t" l="l"/>
              <a:pathLst>
                <a:path h="596900" w="6223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50800"/>
              <a:ext cx="6223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60B">
                <a:alpha val="100000"/>
              </a:srgbClr>
            </a:gs>
            <a:gs pos="100000">
              <a:srgbClr val="02313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39064" y="4649647"/>
            <a:ext cx="10409873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0"/>
              </a:lnSpc>
            </a:pPr>
            <a:r>
              <a:rPr lang="en-US" sz="5000" spc="-160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Para empresas que não podem parar. </a:t>
            </a:r>
          </a:p>
        </p:txBody>
      </p:sp>
      <p:grpSp>
        <p:nvGrpSpPr>
          <p:cNvPr name="Group 3" id="3"/>
          <p:cNvGrpSpPr/>
          <p:nvPr/>
        </p:nvGrpSpPr>
        <p:grpSpPr>
          <a:xfrm rot="-10800000">
            <a:off x="3939064" y="6698280"/>
            <a:ext cx="10724745" cy="10287000"/>
            <a:chOff x="0" y="0"/>
            <a:chExt cx="622300" cy="5969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2300" cy="596900"/>
            </a:xfrm>
            <a:custGeom>
              <a:avLst/>
              <a:gdLst/>
              <a:ahLst/>
              <a:cxnLst/>
              <a:rect r="r" b="b" t="t" l="l"/>
              <a:pathLst>
                <a:path h="596900" w="622300">
                  <a:moveTo>
                    <a:pt x="295910" y="297180"/>
                  </a:moveTo>
                  <a:lnTo>
                    <a:pt x="295910" y="596900"/>
                  </a:lnTo>
                  <a:cubicBezTo>
                    <a:pt x="129540" y="590550"/>
                    <a:pt x="0" y="459740"/>
                    <a:pt x="0" y="297180"/>
                  </a:cubicBezTo>
                  <a:cubicBezTo>
                    <a:pt x="0" y="135890"/>
                    <a:pt x="129540" y="3810"/>
                    <a:pt x="295910" y="0"/>
                  </a:cubicBezTo>
                  <a:lnTo>
                    <a:pt x="295910" y="299720"/>
                  </a:lnTo>
                  <a:close/>
                  <a:moveTo>
                    <a:pt x="295910" y="287020"/>
                  </a:moveTo>
                  <a:lnTo>
                    <a:pt x="295910" y="289560"/>
                  </a:lnTo>
                  <a:cubicBezTo>
                    <a:pt x="295910" y="210820"/>
                    <a:pt x="328930" y="138430"/>
                    <a:pt x="365760" y="86360"/>
                  </a:cubicBezTo>
                  <a:cubicBezTo>
                    <a:pt x="402590" y="35560"/>
                    <a:pt x="452120" y="2540"/>
                    <a:pt x="511810" y="0"/>
                  </a:cubicBezTo>
                  <a:lnTo>
                    <a:pt x="511810" y="297180"/>
                  </a:lnTo>
                  <a:lnTo>
                    <a:pt x="511810" y="596900"/>
                  </a:lnTo>
                  <a:cubicBezTo>
                    <a:pt x="452120" y="591820"/>
                    <a:pt x="402590" y="560070"/>
                    <a:pt x="365760" y="509270"/>
                  </a:cubicBezTo>
                  <a:cubicBezTo>
                    <a:pt x="328930" y="457200"/>
                    <a:pt x="295910" y="384810"/>
                    <a:pt x="295910" y="304800"/>
                  </a:cubicBezTo>
                  <a:lnTo>
                    <a:pt x="295910" y="287020"/>
                  </a:lnTo>
                  <a:close/>
                  <a:moveTo>
                    <a:pt x="511810" y="297180"/>
                  </a:moveTo>
                  <a:cubicBezTo>
                    <a:pt x="511810" y="214630"/>
                    <a:pt x="533400" y="138430"/>
                    <a:pt x="554990" y="85090"/>
                  </a:cubicBezTo>
                  <a:cubicBezTo>
                    <a:pt x="566420" y="58420"/>
                    <a:pt x="579120" y="36830"/>
                    <a:pt x="593090" y="21590"/>
                  </a:cubicBezTo>
                  <a:cubicBezTo>
                    <a:pt x="604520" y="10160"/>
                    <a:pt x="615950" y="2540"/>
                    <a:pt x="622300" y="1270"/>
                  </a:cubicBezTo>
                  <a:lnTo>
                    <a:pt x="622300" y="596900"/>
                  </a:lnTo>
                  <a:cubicBezTo>
                    <a:pt x="615950" y="591820"/>
                    <a:pt x="600710" y="585470"/>
                    <a:pt x="593090" y="572770"/>
                  </a:cubicBezTo>
                  <a:cubicBezTo>
                    <a:pt x="579120" y="558800"/>
                    <a:pt x="566420" y="537210"/>
                    <a:pt x="554990" y="510540"/>
                  </a:cubicBezTo>
                  <a:cubicBezTo>
                    <a:pt x="534670" y="459740"/>
                    <a:pt x="511810" y="389890"/>
                    <a:pt x="511810" y="313690"/>
                  </a:cubicBezTo>
                  <a:lnTo>
                    <a:pt x="511810" y="297180"/>
                  </a:ln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50800"/>
              <a:ext cx="6223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382289" y="2017972"/>
            <a:ext cx="3523422" cy="1192643"/>
            <a:chOff x="0" y="0"/>
            <a:chExt cx="927980" cy="314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7980" cy="314112"/>
            </a:xfrm>
            <a:custGeom>
              <a:avLst/>
              <a:gdLst/>
              <a:ahLst/>
              <a:cxnLst/>
              <a:rect r="r" b="b" t="t" l="l"/>
              <a:pathLst>
                <a:path h="314112" w="927980">
                  <a:moveTo>
                    <a:pt x="157056" y="0"/>
                  </a:moveTo>
                  <a:lnTo>
                    <a:pt x="770924" y="0"/>
                  </a:lnTo>
                  <a:cubicBezTo>
                    <a:pt x="857663" y="0"/>
                    <a:pt x="927980" y="70316"/>
                    <a:pt x="927980" y="157056"/>
                  </a:cubicBezTo>
                  <a:lnTo>
                    <a:pt x="927980" y="157056"/>
                  </a:lnTo>
                  <a:cubicBezTo>
                    <a:pt x="927980" y="198710"/>
                    <a:pt x="911433" y="238657"/>
                    <a:pt x="881979" y="268111"/>
                  </a:cubicBezTo>
                  <a:cubicBezTo>
                    <a:pt x="852525" y="297565"/>
                    <a:pt x="812577" y="314112"/>
                    <a:pt x="770924" y="314112"/>
                  </a:cubicBezTo>
                  <a:lnTo>
                    <a:pt x="157056" y="314112"/>
                  </a:lnTo>
                  <a:cubicBezTo>
                    <a:pt x="115402" y="314112"/>
                    <a:pt x="75454" y="297565"/>
                    <a:pt x="46001" y="268111"/>
                  </a:cubicBezTo>
                  <a:cubicBezTo>
                    <a:pt x="16547" y="238657"/>
                    <a:pt x="0" y="198710"/>
                    <a:pt x="0" y="157056"/>
                  </a:cubicBezTo>
                  <a:lnTo>
                    <a:pt x="0" y="157056"/>
                  </a:lnTo>
                  <a:cubicBezTo>
                    <a:pt x="0" y="115402"/>
                    <a:pt x="16547" y="75454"/>
                    <a:pt x="46001" y="46001"/>
                  </a:cubicBezTo>
                  <a:cubicBezTo>
                    <a:pt x="75454" y="16547"/>
                    <a:pt x="115402" y="0"/>
                    <a:pt x="157056" y="0"/>
                  </a:cubicBezTo>
                  <a:close/>
                </a:path>
              </a:pathLst>
            </a:custGeom>
            <a:solidFill>
              <a:srgbClr val="022228"/>
            </a:solidFill>
            <a:ln w="9525" cap="rnd">
              <a:gradFill>
                <a:gsLst>
                  <a:gs pos="0">
                    <a:srgbClr val="C5DFFF">
                      <a:alpha val="33000"/>
                    </a:srgbClr>
                  </a:gs>
                  <a:gs pos="50000">
                    <a:srgbClr val="C5DFFF">
                      <a:alpha val="46500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27980" cy="361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488659" y="2126027"/>
            <a:ext cx="3310682" cy="961924"/>
            <a:chOff x="0" y="0"/>
            <a:chExt cx="871949" cy="2533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71949" cy="253346"/>
            </a:xfrm>
            <a:custGeom>
              <a:avLst/>
              <a:gdLst/>
              <a:ahLst/>
              <a:cxnLst/>
              <a:rect r="r" b="b" t="t" l="l"/>
              <a:pathLst>
                <a:path h="253346" w="871949">
                  <a:moveTo>
                    <a:pt x="126673" y="0"/>
                  </a:moveTo>
                  <a:lnTo>
                    <a:pt x="745276" y="0"/>
                  </a:lnTo>
                  <a:cubicBezTo>
                    <a:pt x="778872" y="0"/>
                    <a:pt x="811092" y="13346"/>
                    <a:pt x="834848" y="37102"/>
                  </a:cubicBezTo>
                  <a:cubicBezTo>
                    <a:pt x="858603" y="60857"/>
                    <a:pt x="871949" y="93077"/>
                    <a:pt x="871949" y="126673"/>
                  </a:cubicBezTo>
                  <a:lnTo>
                    <a:pt x="871949" y="126673"/>
                  </a:lnTo>
                  <a:cubicBezTo>
                    <a:pt x="871949" y="160269"/>
                    <a:pt x="858603" y="192489"/>
                    <a:pt x="834848" y="216244"/>
                  </a:cubicBezTo>
                  <a:cubicBezTo>
                    <a:pt x="811092" y="240000"/>
                    <a:pt x="778872" y="253346"/>
                    <a:pt x="745276" y="253346"/>
                  </a:cubicBezTo>
                  <a:lnTo>
                    <a:pt x="126673" y="253346"/>
                  </a:lnTo>
                  <a:cubicBezTo>
                    <a:pt x="93077" y="253346"/>
                    <a:pt x="60857" y="240000"/>
                    <a:pt x="37102" y="216244"/>
                  </a:cubicBezTo>
                  <a:cubicBezTo>
                    <a:pt x="13346" y="192489"/>
                    <a:pt x="0" y="160269"/>
                    <a:pt x="0" y="126673"/>
                  </a:cubicBezTo>
                  <a:lnTo>
                    <a:pt x="0" y="126673"/>
                  </a:lnTo>
                  <a:cubicBezTo>
                    <a:pt x="0" y="93077"/>
                    <a:pt x="13346" y="60857"/>
                    <a:pt x="37102" y="37102"/>
                  </a:cubicBezTo>
                  <a:cubicBezTo>
                    <a:pt x="60857" y="13346"/>
                    <a:pt x="93077" y="0"/>
                    <a:pt x="1266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  <a:ln w="9525" cap="rnd">
              <a:gradFill>
                <a:gsLst>
                  <a:gs pos="0">
                    <a:srgbClr val="C5DFFF">
                      <a:alpha val="33000"/>
                    </a:srgbClr>
                  </a:gs>
                  <a:gs pos="50000">
                    <a:srgbClr val="C5DFFF">
                      <a:alpha val="46500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71949" cy="300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8100000">
            <a:off x="7750755" y="2399146"/>
            <a:ext cx="353786" cy="409198"/>
          </a:xfrm>
          <a:custGeom>
            <a:avLst/>
            <a:gdLst/>
            <a:ahLst/>
            <a:cxnLst/>
            <a:rect r="r" b="b" t="t" l="l"/>
            <a:pathLst>
              <a:path h="409198" w="353786">
                <a:moveTo>
                  <a:pt x="0" y="0"/>
                </a:moveTo>
                <a:lnTo>
                  <a:pt x="353785" y="0"/>
                </a:lnTo>
                <a:lnTo>
                  <a:pt x="353785" y="409198"/>
                </a:lnTo>
                <a:lnTo>
                  <a:pt x="0" y="409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215590" y="2325131"/>
            <a:ext cx="2334578" cy="64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2"/>
              </a:lnSpc>
            </a:pPr>
            <a:r>
              <a:rPr lang="en-US" sz="4950" spc="232" b="true">
                <a:solidFill>
                  <a:srgbClr val="031C22"/>
                </a:solidFill>
                <a:latin typeface="DM Sans Bold"/>
                <a:ea typeface="DM Sans Bold"/>
                <a:cs typeface="DM Sans Bold"/>
                <a:sym typeface="DM Sans Bold"/>
              </a:rPr>
              <a:t>Tagline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60B">
                <a:alpha val="100000"/>
              </a:srgbClr>
            </a:gs>
            <a:gs pos="100000">
              <a:srgbClr val="02313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550704"/>
            <a:ext cx="1865295" cy="1825538"/>
            <a:chOff x="0" y="0"/>
            <a:chExt cx="641629" cy="6279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1629" cy="627953"/>
            </a:xfrm>
            <a:custGeom>
              <a:avLst/>
              <a:gdLst/>
              <a:ahLst/>
              <a:cxnLst/>
              <a:rect r="r" b="b" t="t" l="l"/>
              <a:pathLst>
                <a:path h="627953" w="641629">
                  <a:moveTo>
                    <a:pt x="174321" y="0"/>
                  </a:moveTo>
                  <a:lnTo>
                    <a:pt x="467307" y="0"/>
                  </a:lnTo>
                  <a:cubicBezTo>
                    <a:pt x="563582" y="0"/>
                    <a:pt x="641629" y="78046"/>
                    <a:pt x="641629" y="174321"/>
                  </a:cubicBezTo>
                  <a:lnTo>
                    <a:pt x="641629" y="453632"/>
                  </a:lnTo>
                  <a:cubicBezTo>
                    <a:pt x="641629" y="499864"/>
                    <a:pt x="623263" y="544204"/>
                    <a:pt x="590571" y="576895"/>
                  </a:cubicBezTo>
                  <a:cubicBezTo>
                    <a:pt x="557880" y="609587"/>
                    <a:pt x="513540" y="627953"/>
                    <a:pt x="467307" y="627953"/>
                  </a:cubicBezTo>
                  <a:lnTo>
                    <a:pt x="174321" y="627953"/>
                  </a:lnTo>
                  <a:cubicBezTo>
                    <a:pt x="128088" y="627953"/>
                    <a:pt x="83749" y="609587"/>
                    <a:pt x="51058" y="576895"/>
                  </a:cubicBezTo>
                  <a:cubicBezTo>
                    <a:pt x="18366" y="544204"/>
                    <a:pt x="0" y="499864"/>
                    <a:pt x="0" y="453632"/>
                  </a:cubicBezTo>
                  <a:lnTo>
                    <a:pt x="0" y="174321"/>
                  </a:lnTo>
                  <a:cubicBezTo>
                    <a:pt x="0" y="128088"/>
                    <a:pt x="18366" y="83749"/>
                    <a:pt x="51058" y="51058"/>
                  </a:cubicBezTo>
                  <a:cubicBezTo>
                    <a:pt x="83749" y="18366"/>
                    <a:pt x="128088" y="0"/>
                    <a:pt x="174321" y="0"/>
                  </a:cubicBezTo>
                  <a:close/>
                </a:path>
              </a:pathLst>
            </a:custGeom>
            <a:blipFill>
              <a:blip r:embed="rId2"/>
              <a:stretch>
                <a:fillRect l="-57140" t="-28449" r="-6634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65650" y="2550704"/>
            <a:ext cx="1865295" cy="1825538"/>
            <a:chOff x="0" y="0"/>
            <a:chExt cx="641629" cy="6279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1629" cy="627953"/>
            </a:xfrm>
            <a:custGeom>
              <a:avLst/>
              <a:gdLst/>
              <a:ahLst/>
              <a:cxnLst/>
              <a:rect r="r" b="b" t="t" l="l"/>
              <a:pathLst>
                <a:path h="627953" w="641629">
                  <a:moveTo>
                    <a:pt x="174321" y="0"/>
                  </a:moveTo>
                  <a:lnTo>
                    <a:pt x="467307" y="0"/>
                  </a:lnTo>
                  <a:cubicBezTo>
                    <a:pt x="563582" y="0"/>
                    <a:pt x="641629" y="78046"/>
                    <a:pt x="641629" y="174321"/>
                  </a:cubicBezTo>
                  <a:lnTo>
                    <a:pt x="641629" y="453632"/>
                  </a:lnTo>
                  <a:cubicBezTo>
                    <a:pt x="641629" y="499864"/>
                    <a:pt x="623263" y="544204"/>
                    <a:pt x="590571" y="576895"/>
                  </a:cubicBezTo>
                  <a:cubicBezTo>
                    <a:pt x="557880" y="609587"/>
                    <a:pt x="513540" y="627953"/>
                    <a:pt x="467307" y="627953"/>
                  </a:cubicBezTo>
                  <a:lnTo>
                    <a:pt x="174321" y="627953"/>
                  </a:lnTo>
                  <a:cubicBezTo>
                    <a:pt x="128088" y="627953"/>
                    <a:pt x="83749" y="609587"/>
                    <a:pt x="51058" y="576895"/>
                  </a:cubicBezTo>
                  <a:cubicBezTo>
                    <a:pt x="18366" y="544204"/>
                    <a:pt x="0" y="499864"/>
                    <a:pt x="0" y="453632"/>
                  </a:cubicBezTo>
                  <a:lnTo>
                    <a:pt x="0" y="174321"/>
                  </a:lnTo>
                  <a:cubicBezTo>
                    <a:pt x="0" y="128088"/>
                    <a:pt x="18366" y="83749"/>
                    <a:pt x="51058" y="51058"/>
                  </a:cubicBezTo>
                  <a:cubicBezTo>
                    <a:pt x="83749" y="18366"/>
                    <a:pt x="128088" y="0"/>
                    <a:pt x="174321" y="0"/>
                  </a:cubicBezTo>
                  <a:close/>
                </a:path>
              </a:pathLst>
            </a:custGeom>
            <a:blipFill>
              <a:blip r:embed="rId3"/>
              <a:stretch>
                <a:fillRect l="-2042" t="0" r="-44852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4648501"/>
            <a:ext cx="1865295" cy="57162"/>
            <a:chOff x="0" y="0"/>
            <a:chExt cx="863095" cy="264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63095" cy="26450"/>
            </a:xfrm>
            <a:custGeom>
              <a:avLst/>
              <a:gdLst/>
              <a:ahLst/>
              <a:cxnLst/>
              <a:rect r="r" b="b" t="t" l="l"/>
              <a:pathLst>
                <a:path h="26450" w="863095">
                  <a:moveTo>
                    <a:pt x="13225" y="0"/>
                  </a:moveTo>
                  <a:lnTo>
                    <a:pt x="849871" y="0"/>
                  </a:lnTo>
                  <a:cubicBezTo>
                    <a:pt x="857174" y="0"/>
                    <a:pt x="863095" y="5921"/>
                    <a:pt x="863095" y="13225"/>
                  </a:cubicBezTo>
                  <a:lnTo>
                    <a:pt x="863095" y="13225"/>
                  </a:lnTo>
                  <a:cubicBezTo>
                    <a:pt x="863095" y="16732"/>
                    <a:pt x="861702" y="20096"/>
                    <a:pt x="859222" y="22576"/>
                  </a:cubicBezTo>
                  <a:cubicBezTo>
                    <a:pt x="856742" y="25056"/>
                    <a:pt x="853378" y="26450"/>
                    <a:pt x="849871" y="26450"/>
                  </a:cubicBezTo>
                  <a:lnTo>
                    <a:pt x="13225" y="26450"/>
                  </a:lnTo>
                  <a:cubicBezTo>
                    <a:pt x="9717" y="26450"/>
                    <a:pt x="6354" y="25056"/>
                    <a:pt x="3873" y="22576"/>
                  </a:cubicBezTo>
                  <a:cubicBezTo>
                    <a:pt x="1393" y="20096"/>
                    <a:pt x="0" y="16732"/>
                    <a:pt x="0" y="13225"/>
                  </a:cubicBezTo>
                  <a:lnTo>
                    <a:pt x="0" y="13225"/>
                  </a:lnTo>
                  <a:cubicBezTo>
                    <a:pt x="0" y="9717"/>
                    <a:pt x="1393" y="6354"/>
                    <a:pt x="3873" y="3873"/>
                  </a:cubicBezTo>
                  <a:cubicBezTo>
                    <a:pt x="6354" y="1393"/>
                    <a:pt x="9717" y="0"/>
                    <a:pt x="1322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863095" cy="102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65650" y="4648501"/>
            <a:ext cx="1865295" cy="57162"/>
            <a:chOff x="0" y="0"/>
            <a:chExt cx="863095" cy="264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63095" cy="26450"/>
            </a:xfrm>
            <a:custGeom>
              <a:avLst/>
              <a:gdLst/>
              <a:ahLst/>
              <a:cxnLst/>
              <a:rect r="r" b="b" t="t" l="l"/>
              <a:pathLst>
                <a:path h="26450" w="863095">
                  <a:moveTo>
                    <a:pt x="13225" y="0"/>
                  </a:moveTo>
                  <a:lnTo>
                    <a:pt x="849871" y="0"/>
                  </a:lnTo>
                  <a:cubicBezTo>
                    <a:pt x="857174" y="0"/>
                    <a:pt x="863095" y="5921"/>
                    <a:pt x="863095" y="13225"/>
                  </a:cubicBezTo>
                  <a:lnTo>
                    <a:pt x="863095" y="13225"/>
                  </a:lnTo>
                  <a:cubicBezTo>
                    <a:pt x="863095" y="16732"/>
                    <a:pt x="861702" y="20096"/>
                    <a:pt x="859222" y="22576"/>
                  </a:cubicBezTo>
                  <a:cubicBezTo>
                    <a:pt x="856742" y="25056"/>
                    <a:pt x="853378" y="26450"/>
                    <a:pt x="849871" y="26450"/>
                  </a:cubicBezTo>
                  <a:lnTo>
                    <a:pt x="13225" y="26450"/>
                  </a:lnTo>
                  <a:cubicBezTo>
                    <a:pt x="9717" y="26450"/>
                    <a:pt x="6354" y="25056"/>
                    <a:pt x="3873" y="22576"/>
                  </a:cubicBezTo>
                  <a:cubicBezTo>
                    <a:pt x="1393" y="20096"/>
                    <a:pt x="0" y="16732"/>
                    <a:pt x="0" y="13225"/>
                  </a:cubicBezTo>
                  <a:lnTo>
                    <a:pt x="0" y="13225"/>
                  </a:lnTo>
                  <a:cubicBezTo>
                    <a:pt x="0" y="9717"/>
                    <a:pt x="1393" y="6354"/>
                    <a:pt x="3873" y="3873"/>
                  </a:cubicBezTo>
                  <a:cubicBezTo>
                    <a:pt x="6354" y="1393"/>
                    <a:pt x="9717" y="0"/>
                    <a:pt x="1322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863095" cy="102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013555" y="555533"/>
            <a:ext cx="4260890" cy="94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1"/>
              </a:lnSpc>
            </a:pPr>
            <a:r>
              <a:rPr lang="en-US" sz="6264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Poppins Light"/>
                <a:ea typeface="Poppins Light"/>
                <a:cs typeface="Poppins Light"/>
                <a:sym typeface="Poppins Light"/>
              </a:rPr>
              <a:t>Arquétipos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82363" y="2550704"/>
            <a:ext cx="4890968" cy="94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1"/>
              </a:lnSpc>
            </a:pPr>
            <a:r>
              <a:rPr lang="en-US" sz="6264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Poppins Light"/>
                <a:ea typeface="Poppins Light"/>
                <a:cs typeface="Poppins Light"/>
                <a:sym typeface="Poppins Light"/>
              </a:rPr>
              <a:t>Governante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64321" y="2550704"/>
            <a:ext cx="3868698" cy="94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1"/>
              </a:lnSpc>
            </a:pPr>
            <a:r>
              <a:rPr lang="en-US" sz="6264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Poppins Light"/>
                <a:ea typeface="Poppins Light"/>
                <a:cs typeface="Poppins Light"/>
                <a:sym typeface="Poppins Light"/>
              </a:rPr>
              <a:t>Prestativo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359513" y="3668273"/>
            <a:ext cx="5437108" cy="5473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5"/>
              </a:lnSpc>
            </a:pPr>
            <a:r>
              <a:rPr lang="en-US" sz="2242" spc="80">
                <a:solidFill>
                  <a:srgbClr val="D9D9D9"/>
                </a:solidFill>
                <a:latin typeface="Poppins Light"/>
                <a:ea typeface="Poppins Light"/>
                <a:cs typeface="Poppins Light"/>
                <a:sym typeface="Poppins Light"/>
              </a:rPr>
              <a:t>Arquétipo Principal</a:t>
            </a:r>
          </a:p>
          <a:p>
            <a:pPr algn="l">
              <a:lnSpc>
                <a:spcPts val="3095"/>
              </a:lnSpc>
            </a:pPr>
            <a:r>
              <a:rPr lang="en-US" sz="2242" spc="80">
                <a:solidFill>
                  <a:srgbClr val="D9D9D9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</a:p>
          <a:p>
            <a:pPr algn="l">
              <a:lnSpc>
                <a:spcPts val="3095"/>
              </a:lnSpc>
            </a:pPr>
            <a:r>
              <a:rPr lang="en-US" sz="2242" spc="80" b="true">
                <a:solidFill>
                  <a:srgbClr val="D9D9D9"/>
                </a:solidFill>
                <a:latin typeface="Poppins Bold"/>
                <a:ea typeface="Poppins Bold"/>
                <a:cs typeface="Poppins Bold"/>
                <a:sym typeface="Poppins Bold"/>
              </a:rPr>
              <a:t>Representa:</a:t>
            </a:r>
          </a:p>
          <a:p>
            <a:pPr algn="l" marL="484248" indent="-242124" lvl="1">
              <a:lnSpc>
                <a:spcPts val="3095"/>
              </a:lnSpc>
              <a:buFont typeface="Arial"/>
              <a:buChar char="•"/>
            </a:pPr>
            <a:r>
              <a:rPr lang="en-US" sz="2242" spc="80">
                <a:solidFill>
                  <a:srgbClr val="D9D9D9"/>
                </a:solidFill>
                <a:latin typeface="Poppins Light"/>
                <a:ea typeface="Poppins Light"/>
                <a:cs typeface="Poppins Light"/>
                <a:sym typeface="Poppins Light"/>
              </a:rPr>
              <a:t>Compliance</a:t>
            </a:r>
          </a:p>
          <a:p>
            <a:pPr algn="l" marL="484248" indent="-242124" lvl="1">
              <a:lnSpc>
                <a:spcPts val="3095"/>
              </a:lnSpc>
              <a:buFont typeface="Arial"/>
              <a:buChar char="•"/>
            </a:pPr>
            <a:r>
              <a:rPr lang="en-US" sz="2242" spc="80">
                <a:solidFill>
                  <a:srgbClr val="D9D9D9"/>
                </a:solidFill>
                <a:latin typeface="Poppins Light"/>
                <a:ea typeface="Poppins Light"/>
                <a:cs typeface="Poppins Light"/>
                <a:sym typeface="Poppins Light"/>
              </a:rPr>
              <a:t>Certificações</a:t>
            </a:r>
          </a:p>
          <a:p>
            <a:pPr algn="l" marL="484248" indent="-242124" lvl="1">
              <a:lnSpc>
                <a:spcPts val="3095"/>
              </a:lnSpc>
              <a:buFont typeface="Arial"/>
              <a:buChar char="•"/>
            </a:pPr>
            <a:r>
              <a:rPr lang="en-US" sz="2242" spc="80">
                <a:solidFill>
                  <a:srgbClr val="D9D9D9"/>
                </a:solidFill>
                <a:latin typeface="Poppins Light"/>
                <a:ea typeface="Poppins Light"/>
                <a:cs typeface="Poppins Light"/>
                <a:sym typeface="Poppins Light"/>
              </a:rPr>
              <a:t>Padronização</a:t>
            </a:r>
          </a:p>
          <a:p>
            <a:pPr algn="l" marL="484248" indent="-242124" lvl="1">
              <a:lnSpc>
                <a:spcPts val="3095"/>
              </a:lnSpc>
              <a:buFont typeface="Arial"/>
              <a:buChar char="•"/>
            </a:pPr>
            <a:r>
              <a:rPr lang="en-US" sz="2242" spc="80">
                <a:solidFill>
                  <a:srgbClr val="D9D9D9"/>
                </a:solidFill>
                <a:latin typeface="Poppins Light"/>
                <a:ea typeface="Poppins Light"/>
                <a:cs typeface="Poppins Light"/>
                <a:sym typeface="Poppins Light"/>
              </a:rPr>
              <a:t>Gestão operacional</a:t>
            </a:r>
          </a:p>
          <a:p>
            <a:pPr algn="l" marL="484248" indent="-242124" lvl="1">
              <a:lnSpc>
                <a:spcPts val="3095"/>
              </a:lnSpc>
              <a:buFont typeface="Arial"/>
              <a:buChar char="•"/>
            </a:pPr>
            <a:r>
              <a:rPr lang="en-US" sz="2242" spc="80">
                <a:solidFill>
                  <a:srgbClr val="D9D9D9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Controle de desempenho</a:t>
            </a:r>
          </a:p>
          <a:p>
            <a:pPr algn="l" marL="484248" indent="-242124" lvl="1">
              <a:lnSpc>
                <a:spcPts val="3095"/>
              </a:lnSpc>
              <a:buFont typeface="Arial"/>
              <a:buChar char="•"/>
            </a:pPr>
            <a:r>
              <a:rPr lang="en-US" sz="2242" spc="80">
                <a:solidFill>
                  <a:srgbClr val="D9D9D9"/>
                </a:solidFill>
                <a:latin typeface="Poppins Light"/>
                <a:ea typeface="Poppins Light"/>
                <a:cs typeface="Poppins Light"/>
                <a:sym typeface="Poppins Light"/>
              </a:rPr>
              <a:t>Modelos operacionais</a:t>
            </a:r>
          </a:p>
          <a:p>
            <a:pPr algn="l" marL="484248" indent="-242124" lvl="1">
              <a:lnSpc>
                <a:spcPts val="3095"/>
              </a:lnSpc>
              <a:buFont typeface="Arial"/>
              <a:buChar char="•"/>
            </a:pPr>
            <a:r>
              <a:rPr lang="en-US" sz="2242" spc="80">
                <a:solidFill>
                  <a:srgbClr val="D9D9D9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Continuidade dos serviços</a:t>
            </a:r>
          </a:p>
          <a:p>
            <a:pPr algn="l">
              <a:lnSpc>
                <a:spcPts val="3095"/>
              </a:lnSpc>
            </a:pPr>
          </a:p>
          <a:p>
            <a:pPr algn="l">
              <a:lnSpc>
                <a:spcPts val="3095"/>
              </a:lnSpc>
            </a:pPr>
            <a:r>
              <a:rPr lang="en-US" sz="2242" spc="80" b="true">
                <a:solidFill>
                  <a:srgbClr val="D9D9D9"/>
                </a:solidFill>
                <a:latin typeface="Poppins Bold"/>
                <a:ea typeface="Poppins Bold"/>
                <a:cs typeface="Poppins Bold"/>
                <a:sym typeface="Poppins Bold"/>
              </a:rPr>
              <a:t>A mensagem é:</a:t>
            </a:r>
          </a:p>
          <a:p>
            <a:pPr algn="l">
              <a:lnSpc>
                <a:spcPts val="3095"/>
              </a:lnSpc>
            </a:pPr>
            <a:r>
              <a:rPr lang="en-US" sz="2242" spc="80">
                <a:solidFill>
                  <a:srgbClr val="D9D9D9"/>
                </a:solidFill>
                <a:latin typeface="Poppins Light"/>
                <a:ea typeface="Poppins Light"/>
                <a:cs typeface="Poppins Light"/>
                <a:sym typeface="Poppins Light"/>
              </a:rPr>
              <a:t>Empresas q</a:t>
            </a:r>
            <a:r>
              <a:rPr lang="en-US" sz="2242" spc="80">
                <a:solidFill>
                  <a:srgbClr val="D9D9D9"/>
                </a:solidFill>
                <a:latin typeface="Poppins Light"/>
                <a:ea typeface="Poppins Light"/>
                <a:cs typeface="Poppins Light"/>
                <a:sym typeface="Poppins Light"/>
              </a:rPr>
              <a:t>ue não param precisam</a:t>
            </a:r>
          </a:p>
          <a:p>
            <a:pPr algn="l">
              <a:lnSpc>
                <a:spcPts val="3095"/>
              </a:lnSpc>
            </a:pPr>
            <a:r>
              <a:rPr lang="en-US" sz="2242" spc="80">
                <a:solidFill>
                  <a:srgbClr val="D9D9D9"/>
                </a:solidFill>
                <a:latin typeface="Poppins Light"/>
                <a:ea typeface="Poppins Light"/>
                <a:cs typeface="Poppins Light"/>
                <a:sym typeface="Poppins Light"/>
              </a:rPr>
              <a:t>de facilities que não falham.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64321" y="3668273"/>
            <a:ext cx="5659386" cy="5473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5"/>
              </a:lnSpc>
            </a:pPr>
            <a:r>
              <a:rPr lang="en-US" sz="2242" spc="80">
                <a:solidFill>
                  <a:srgbClr val="D9D9D9"/>
                </a:solidFill>
                <a:latin typeface="Poppins Light"/>
                <a:ea typeface="Poppins Light"/>
                <a:cs typeface="Poppins Light"/>
                <a:sym typeface="Poppins Light"/>
              </a:rPr>
              <a:t>Arquétipo Secundário</a:t>
            </a:r>
          </a:p>
          <a:p>
            <a:pPr algn="l">
              <a:lnSpc>
                <a:spcPts val="3095"/>
              </a:lnSpc>
            </a:pPr>
          </a:p>
          <a:p>
            <a:pPr algn="l">
              <a:lnSpc>
                <a:spcPts val="3095"/>
              </a:lnSpc>
            </a:pPr>
            <a:r>
              <a:rPr lang="en-US" sz="2242" spc="80" b="true">
                <a:solidFill>
                  <a:srgbClr val="D9D9D9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sz="2242" spc="80" b="true">
                <a:solidFill>
                  <a:srgbClr val="D9D9D9"/>
                </a:solidFill>
                <a:latin typeface="Poppins Bold"/>
                <a:ea typeface="Poppins Bold"/>
                <a:cs typeface="Poppins Bold"/>
                <a:sym typeface="Poppins Bold"/>
              </a:rPr>
              <a:t>epresenta</a:t>
            </a:r>
            <a:r>
              <a:rPr lang="en-US" sz="2242" spc="80">
                <a:solidFill>
                  <a:srgbClr val="D9D9D9"/>
                </a:solidFill>
                <a:latin typeface="Poppins Light"/>
                <a:ea typeface="Poppins Light"/>
                <a:cs typeface="Poppins Light"/>
                <a:sym typeface="Poppins Light"/>
              </a:rPr>
              <a:t>:</a:t>
            </a:r>
          </a:p>
          <a:p>
            <a:pPr algn="l" marL="484248" indent="-242124" lvl="1">
              <a:lnSpc>
                <a:spcPts val="3095"/>
              </a:lnSpc>
              <a:buFont typeface="Arial"/>
              <a:buChar char="•"/>
            </a:pPr>
            <a:r>
              <a:rPr lang="en-US" sz="2242" spc="80">
                <a:solidFill>
                  <a:srgbClr val="D9D9D9"/>
                </a:solidFill>
                <a:latin typeface="Poppins Light"/>
                <a:ea typeface="Poppins Light"/>
                <a:cs typeface="Poppins Light"/>
                <a:sym typeface="Poppins Light"/>
              </a:rPr>
              <a:t>Cobertura de faltas</a:t>
            </a:r>
          </a:p>
          <a:p>
            <a:pPr algn="l" marL="484248" indent="-242124" lvl="1">
              <a:lnSpc>
                <a:spcPts val="3095"/>
              </a:lnSpc>
              <a:buFont typeface="Arial"/>
              <a:buChar char="•"/>
            </a:pPr>
            <a:r>
              <a:rPr lang="en-US" sz="2242" spc="80">
                <a:solidFill>
                  <a:srgbClr val="D9D9D9"/>
                </a:solidFill>
                <a:latin typeface="Poppins Light"/>
                <a:ea typeface="Poppins Light"/>
                <a:cs typeface="Poppins Light"/>
                <a:sym typeface="Poppins Light"/>
              </a:rPr>
              <a:t>Atendimento próximo</a:t>
            </a:r>
          </a:p>
          <a:p>
            <a:pPr algn="l" marL="484248" indent="-242124" lvl="1">
              <a:lnSpc>
                <a:spcPts val="3095"/>
              </a:lnSpc>
              <a:buFont typeface="Arial"/>
              <a:buChar char="•"/>
            </a:pPr>
            <a:r>
              <a:rPr lang="en-US" sz="2242" spc="8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Facilitires 360</a:t>
            </a:r>
          </a:p>
          <a:p>
            <a:pPr algn="l" marL="484248" indent="-242124" lvl="1">
              <a:lnSpc>
                <a:spcPts val="3095"/>
              </a:lnSpc>
              <a:buFont typeface="Arial"/>
              <a:buChar char="•"/>
            </a:pPr>
            <a:r>
              <a:rPr lang="en-US" sz="2242" spc="80">
                <a:solidFill>
                  <a:srgbClr val="D9D9D9"/>
                </a:solidFill>
                <a:latin typeface="Poppins Light"/>
                <a:ea typeface="Poppins Light"/>
                <a:cs typeface="Poppins Light"/>
                <a:sym typeface="Poppins Light"/>
              </a:rPr>
              <a:t>Relacionamento de longo prazo</a:t>
            </a:r>
          </a:p>
          <a:p>
            <a:pPr algn="l" marL="484248" indent="-242124" lvl="1">
              <a:lnSpc>
                <a:spcPts val="3095"/>
              </a:lnSpc>
              <a:buFont typeface="Arial"/>
              <a:buChar char="•"/>
            </a:pPr>
            <a:r>
              <a:rPr lang="en-US" sz="2242" spc="80">
                <a:solidFill>
                  <a:srgbClr val="D9D9D9"/>
                </a:solidFill>
                <a:latin typeface="Poppins Light"/>
                <a:ea typeface="Poppins Light"/>
                <a:cs typeface="Poppins Light"/>
                <a:sym typeface="Poppins Light"/>
              </a:rPr>
              <a:t>Suporte ao cliente</a:t>
            </a:r>
          </a:p>
          <a:p>
            <a:pPr algn="l" marL="484248" indent="-242124" lvl="1">
              <a:lnSpc>
                <a:spcPts val="3095"/>
              </a:lnSpc>
              <a:buFont typeface="Arial"/>
              <a:buChar char="•"/>
            </a:pPr>
            <a:r>
              <a:rPr lang="en-US" sz="2242" spc="80">
                <a:solidFill>
                  <a:srgbClr val="D9D9D9"/>
                </a:solidFill>
                <a:latin typeface="Poppins Light"/>
                <a:ea typeface="Poppins Light"/>
                <a:cs typeface="Poppins Light"/>
                <a:sym typeface="Poppins Light"/>
              </a:rPr>
              <a:t>Flexibilidade operacional</a:t>
            </a:r>
          </a:p>
          <a:p>
            <a:pPr algn="l">
              <a:lnSpc>
                <a:spcPts val="3095"/>
              </a:lnSpc>
            </a:pPr>
          </a:p>
          <a:p>
            <a:pPr algn="l">
              <a:lnSpc>
                <a:spcPts val="3095"/>
              </a:lnSpc>
            </a:pPr>
          </a:p>
          <a:p>
            <a:pPr algn="l">
              <a:lnSpc>
                <a:spcPts val="3095"/>
              </a:lnSpc>
            </a:pPr>
            <a:r>
              <a:rPr lang="en-US" sz="2242" spc="80" b="true">
                <a:solidFill>
                  <a:srgbClr val="D9D9D9"/>
                </a:solidFill>
                <a:latin typeface="Poppins Bold"/>
                <a:ea typeface="Poppins Bold"/>
                <a:cs typeface="Poppins Bold"/>
                <a:sym typeface="Poppins Bold"/>
              </a:rPr>
              <a:t>A mensagem é:</a:t>
            </a:r>
          </a:p>
          <a:p>
            <a:pPr algn="l">
              <a:lnSpc>
                <a:spcPts val="3095"/>
              </a:lnSpc>
            </a:pPr>
            <a:r>
              <a:rPr lang="en-US" sz="2242" spc="8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58 anos garantindo suporte para operações que não podem parar.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3060B">
                <a:alpha val="100000"/>
              </a:srgbClr>
            </a:gs>
            <a:gs pos="100000">
              <a:srgbClr val="02313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27145" y="2711850"/>
            <a:ext cx="2424016" cy="6376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609" strike="noStrike" u="non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  ACOLHEDOR  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609" strike="noStrike" u="non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  ENGRAÇADO  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609" strike="noStrike" u="non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  SARCÁSTICO  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609" strike="noStrike" u="non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  FORMAL 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609" strike="noStrike" u="non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  RESPEITOSO  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609" strike="noStrike" u="non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  FILOSÓFICO  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609" strike="noStrike" u="non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  TÉCNICO 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609" strike="noStrike" u="non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  INSPIRADOR  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609" strike="noStrike" u="non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  EDUCATIVO  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609" strike="noStrike" u="non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  EMOCIONAL  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609" strike="noStrike" u="non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  SUAVE  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609" strike="noStrike" u="non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  AMOROSO 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609" strike="noStrike" u="non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  AGRESSIVO  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609" strike="noStrike" u="non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  OBJETIVO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992762" y="2946164"/>
            <a:ext cx="2172908" cy="66589"/>
            <a:chOff x="0" y="0"/>
            <a:chExt cx="863095" cy="264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3095" cy="26450"/>
            </a:xfrm>
            <a:custGeom>
              <a:avLst/>
              <a:gdLst/>
              <a:ahLst/>
              <a:cxnLst/>
              <a:rect r="r" b="b" t="t" l="l"/>
              <a:pathLst>
                <a:path h="26450" w="863095">
                  <a:moveTo>
                    <a:pt x="13225" y="0"/>
                  </a:moveTo>
                  <a:lnTo>
                    <a:pt x="849871" y="0"/>
                  </a:lnTo>
                  <a:cubicBezTo>
                    <a:pt x="857174" y="0"/>
                    <a:pt x="863095" y="5921"/>
                    <a:pt x="863095" y="13225"/>
                  </a:cubicBezTo>
                  <a:lnTo>
                    <a:pt x="863095" y="13225"/>
                  </a:lnTo>
                  <a:cubicBezTo>
                    <a:pt x="863095" y="16732"/>
                    <a:pt x="861702" y="20096"/>
                    <a:pt x="859222" y="22576"/>
                  </a:cubicBezTo>
                  <a:cubicBezTo>
                    <a:pt x="856742" y="25056"/>
                    <a:pt x="853378" y="26450"/>
                    <a:pt x="849871" y="26450"/>
                  </a:cubicBezTo>
                  <a:lnTo>
                    <a:pt x="13225" y="26450"/>
                  </a:lnTo>
                  <a:cubicBezTo>
                    <a:pt x="9717" y="26450"/>
                    <a:pt x="6354" y="25056"/>
                    <a:pt x="3873" y="22576"/>
                  </a:cubicBezTo>
                  <a:cubicBezTo>
                    <a:pt x="1393" y="20096"/>
                    <a:pt x="0" y="16732"/>
                    <a:pt x="0" y="13225"/>
                  </a:cubicBezTo>
                  <a:lnTo>
                    <a:pt x="0" y="13225"/>
                  </a:lnTo>
                  <a:cubicBezTo>
                    <a:pt x="0" y="9717"/>
                    <a:pt x="1393" y="6354"/>
                    <a:pt x="3873" y="3873"/>
                  </a:cubicBezTo>
                  <a:cubicBezTo>
                    <a:pt x="6354" y="1393"/>
                    <a:pt x="9717" y="0"/>
                    <a:pt x="1322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863095" cy="102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992762" y="3406299"/>
            <a:ext cx="2172908" cy="66589"/>
            <a:chOff x="0" y="0"/>
            <a:chExt cx="863095" cy="264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63095" cy="26450"/>
            </a:xfrm>
            <a:custGeom>
              <a:avLst/>
              <a:gdLst/>
              <a:ahLst/>
              <a:cxnLst/>
              <a:rect r="r" b="b" t="t" l="l"/>
              <a:pathLst>
                <a:path h="26450" w="863095">
                  <a:moveTo>
                    <a:pt x="13225" y="0"/>
                  </a:moveTo>
                  <a:lnTo>
                    <a:pt x="849871" y="0"/>
                  </a:lnTo>
                  <a:cubicBezTo>
                    <a:pt x="857174" y="0"/>
                    <a:pt x="863095" y="5921"/>
                    <a:pt x="863095" y="13225"/>
                  </a:cubicBezTo>
                  <a:lnTo>
                    <a:pt x="863095" y="13225"/>
                  </a:lnTo>
                  <a:cubicBezTo>
                    <a:pt x="863095" y="16732"/>
                    <a:pt x="861702" y="20096"/>
                    <a:pt x="859222" y="22576"/>
                  </a:cubicBezTo>
                  <a:cubicBezTo>
                    <a:pt x="856742" y="25056"/>
                    <a:pt x="853378" y="26450"/>
                    <a:pt x="849871" y="26450"/>
                  </a:cubicBezTo>
                  <a:lnTo>
                    <a:pt x="13225" y="26450"/>
                  </a:lnTo>
                  <a:cubicBezTo>
                    <a:pt x="9717" y="26450"/>
                    <a:pt x="6354" y="25056"/>
                    <a:pt x="3873" y="22576"/>
                  </a:cubicBezTo>
                  <a:cubicBezTo>
                    <a:pt x="1393" y="20096"/>
                    <a:pt x="0" y="16732"/>
                    <a:pt x="0" y="13225"/>
                  </a:cubicBezTo>
                  <a:lnTo>
                    <a:pt x="0" y="13225"/>
                  </a:lnTo>
                  <a:cubicBezTo>
                    <a:pt x="0" y="9717"/>
                    <a:pt x="1393" y="6354"/>
                    <a:pt x="3873" y="3873"/>
                  </a:cubicBezTo>
                  <a:cubicBezTo>
                    <a:pt x="6354" y="1393"/>
                    <a:pt x="9717" y="0"/>
                    <a:pt x="1322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863095" cy="102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992762" y="3861240"/>
            <a:ext cx="2172908" cy="66589"/>
            <a:chOff x="0" y="0"/>
            <a:chExt cx="863095" cy="264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63095" cy="26450"/>
            </a:xfrm>
            <a:custGeom>
              <a:avLst/>
              <a:gdLst/>
              <a:ahLst/>
              <a:cxnLst/>
              <a:rect r="r" b="b" t="t" l="l"/>
              <a:pathLst>
                <a:path h="26450" w="863095">
                  <a:moveTo>
                    <a:pt x="13225" y="0"/>
                  </a:moveTo>
                  <a:lnTo>
                    <a:pt x="849871" y="0"/>
                  </a:lnTo>
                  <a:cubicBezTo>
                    <a:pt x="857174" y="0"/>
                    <a:pt x="863095" y="5921"/>
                    <a:pt x="863095" y="13225"/>
                  </a:cubicBezTo>
                  <a:lnTo>
                    <a:pt x="863095" y="13225"/>
                  </a:lnTo>
                  <a:cubicBezTo>
                    <a:pt x="863095" y="16732"/>
                    <a:pt x="861702" y="20096"/>
                    <a:pt x="859222" y="22576"/>
                  </a:cubicBezTo>
                  <a:cubicBezTo>
                    <a:pt x="856742" y="25056"/>
                    <a:pt x="853378" y="26450"/>
                    <a:pt x="849871" y="26450"/>
                  </a:cubicBezTo>
                  <a:lnTo>
                    <a:pt x="13225" y="26450"/>
                  </a:lnTo>
                  <a:cubicBezTo>
                    <a:pt x="9717" y="26450"/>
                    <a:pt x="6354" y="25056"/>
                    <a:pt x="3873" y="22576"/>
                  </a:cubicBezTo>
                  <a:cubicBezTo>
                    <a:pt x="1393" y="20096"/>
                    <a:pt x="0" y="16732"/>
                    <a:pt x="0" y="13225"/>
                  </a:cubicBezTo>
                  <a:lnTo>
                    <a:pt x="0" y="13225"/>
                  </a:lnTo>
                  <a:cubicBezTo>
                    <a:pt x="0" y="9717"/>
                    <a:pt x="1393" y="6354"/>
                    <a:pt x="3873" y="3873"/>
                  </a:cubicBezTo>
                  <a:cubicBezTo>
                    <a:pt x="6354" y="1393"/>
                    <a:pt x="9717" y="0"/>
                    <a:pt x="1322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863095" cy="102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992762" y="4316182"/>
            <a:ext cx="2172908" cy="66589"/>
            <a:chOff x="0" y="0"/>
            <a:chExt cx="863095" cy="264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63095" cy="26450"/>
            </a:xfrm>
            <a:custGeom>
              <a:avLst/>
              <a:gdLst/>
              <a:ahLst/>
              <a:cxnLst/>
              <a:rect r="r" b="b" t="t" l="l"/>
              <a:pathLst>
                <a:path h="26450" w="863095">
                  <a:moveTo>
                    <a:pt x="13225" y="0"/>
                  </a:moveTo>
                  <a:lnTo>
                    <a:pt x="849871" y="0"/>
                  </a:lnTo>
                  <a:cubicBezTo>
                    <a:pt x="857174" y="0"/>
                    <a:pt x="863095" y="5921"/>
                    <a:pt x="863095" y="13225"/>
                  </a:cubicBezTo>
                  <a:lnTo>
                    <a:pt x="863095" y="13225"/>
                  </a:lnTo>
                  <a:cubicBezTo>
                    <a:pt x="863095" y="16732"/>
                    <a:pt x="861702" y="20096"/>
                    <a:pt x="859222" y="22576"/>
                  </a:cubicBezTo>
                  <a:cubicBezTo>
                    <a:pt x="856742" y="25056"/>
                    <a:pt x="853378" y="26450"/>
                    <a:pt x="849871" y="26450"/>
                  </a:cubicBezTo>
                  <a:lnTo>
                    <a:pt x="13225" y="26450"/>
                  </a:lnTo>
                  <a:cubicBezTo>
                    <a:pt x="9717" y="26450"/>
                    <a:pt x="6354" y="25056"/>
                    <a:pt x="3873" y="22576"/>
                  </a:cubicBezTo>
                  <a:cubicBezTo>
                    <a:pt x="1393" y="20096"/>
                    <a:pt x="0" y="16732"/>
                    <a:pt x="0" y="13225"/>
                  </a:cubicBezTo>
                  <a:lnTo>
                    <a:pt x="0" y="13225"/>
                  </a:lnTo>
                  <a:cubicBezTo>
                    <a:pt x="0" y="9717"/>
                    <a:pt x="1393" y="6354"/>
                    <a:pt x="3873" y="3873"/>
                  </a:cubicBezTo>
                  <a:cubicBezTo>
                    <a:pt x="6354" y="1393"/>
                    <a:pt x="9717" y="0"/>
                    <a:pt x="1322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863095" cy="102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992762" y="4771124"/>
            <a:ext cx="2172908" cy="66589"/>
            <a:chOff x="0" y="0"/>
            <a:chExt cx="863095" cy="264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63095" cy="26450"/>
            </a:xfrm>
            <a:custGeom>
              <a:avLst/>
              <a:gdLst/>
              <a:ahLst/>
              <a:cxnLst/>
              <a:rect r="r" b="b" t="t" l="l"/>
              <a:pathLst>
                <a:path h="26450" w="863095">
                  <a:moveTo>
                    <a:pt x="13225" y="0"/>
                  </a:moveTo>
                  <a:lnTo>
                    <a:pt x="849871" y="0"/>
                  </a:lnTo>
                  <a:cubicBezTo>
                    <a:pt x="857174" y="0"/>
                    <a:pt x="863095" y="5921"/>
                    <a:pt x="863095" y="13225"/>
                  </a:cubicBezTo>
                  <a:lnTo>
                    <a:pt x="863095" y="13225"/>
                  </a:lnTo>
                  <a:cubicBezTo>
                    <a:pt x="863095" y="16732"/>
                    <a:pt x="861702" y="20096"/>
                    <a:pt x="859222" y="22576"/>
                  </a:cubicBezTo>
                  <a:cubicBezTo>
                    <a:pt x="856742" y="25056"/>
                    <a:pt x="853378" y="26450"/>
                    <a:pt x="849871" y="26450"/>
                  </a:cubicBezTo>
                  <a:lnTo>
                    <a:pt x="13225" y="26450"/>
                  </a:lnTo>
                  <a:cubicBezTo>
                    <a:pt x="9717" y="26450"/>
                    <a:pt x="6354" y="25056"/>
                    <a:pt x="3873" y="22576"/>
                  </a:cubicBezTo>
                  <a:cubicBezTo>
                    <a:pt x="1393" y="20096"/>
                    <a:pt x="0" y="16732"/>
                    <a:pt x="0" y="13225"/>
                  </a:cubicBezTo>
                  <a:lnTo>
                    <a:pt x="0" y="13225"/>
                  </a:lnTo>
                  <a:cubicBezTo>
                    <a:pt x="0" y="9717"/>
                    <a:pt x="1393" y="6354"/>
                    <a:pt x="3873" y="3873"/>
                  </a:cubicBezTo>
                  <a:cubicBezTo>
                    <a:pt x="6354" y="1393"/>
                    <a:pt x="9717" y="0"/>
                    <a:pt x="1322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863095" cy="102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992762" y="5226066"/>
            <a:ext cx="2172908" cy="66589"/>
            <a:chOff x="0" y="0"/>
            <a:chExt cx="863095" cy="264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63095" cy="26450"/>
            </a:xfrm>
            <a:custGeom>
              <a:avLst/>
              <a:gdLst/>
              <a:ahLst/>
              <a:cxnLst/>
              <a:rect r="r" b="b" t="t" l="l"/>
              <a:pathLst>
                <a:path h="26450" w="863095">
                  <a:moveTo>
                    <a:pt x="13225" y="0"/>
                  </a:moveTo>
                  <a:lnTo>
                    <a:pt x="849871" y="0"/>
                  </a:lnTo>
                  <a:cubicBezTo>
                    <a:pt x="857174" y="0"/>
                    <a:pt x="863095" y="5921"/>
                    <a:pt x="863095" y="13225"/>
                  </a:cubicBezTo>
                  <a:lnTo>
                    <a:pt x="863095" y="13225"/>
                  </a:lnTo>
                  <a:cubicBezTo>
                    <a:pt x="863095" y="16732"/>
                    <a:pt x="861702" y="20096"/>
                    <a:pt x="859222" y="22576"/>
                  </a:cubicBezTo>
                  <a:cubicBezTo>
                    <a:pt x="856742" y="25056"/>
                    <a:pt x="853378" y="26450"/>
                    <a:pt x="849871" y="26450"/>
                  </a:cubicBezTo>
                  <a:lnTo>
                    <a:pt x="13225" y="26450"/>
                  </a:lnTo>
                  <a:cubicBezTo>
                    <a:pt x="9717" y="26450"/>
                    <a:pt x="6354" y="25056"/>
                    <a:pt x="3873" y="22576"/>
                  </a:cubicBezTo>
                  <a:cubicBezTo>
                    <a:pt x="1393" y="20096"/>
                    <a:pt x="0" y="16732"/>
                    <a:pt x="0" y="13225"/>
                  </a:cubicBezTo>
                  <a:lnTo>
                    <a:pt x="0" y="13225"/>
                  </a:lnTo>
                  <a:cubicBezTo>
                    <a:pt x="0" y="9717"/>
                    <a:pt x="1393" y="6354"/>
                    <a:pt x="3873" y="3873"/>
                  </a:cubicBezTo>
                  <a:cubicBezTo>
                    <a:pt x="6354" y="1393"/>
                    <a:pt x="9717" y="0"/>
                    <a:pt x="1322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863095" cy="102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992762" y="5681008"/>
            <a:ext cx="2172908" cy="66589"/>
            <a:chOff x="0" y="0"/>
            <a:chExt cx="863095" cy="264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63095" cy="26450"/>
            </a:xfrm>
            <a:custGeom>
              <a:avLst/>
              <a:gdLst/>
              <a:ahLst/>
              <a:cxnLst/>
              <a:rect r="r" b="b" t="t" l="l"/>
              <a:pathLst>
                <a:path h="26450" w="863095">
                  <a:moveTo>
                    <a:pt x="13225" y="0"/>
                  </a:moveTo>
                  <a:lnTo>
                    <a:pt x="849871" y="0"/>
                  </a:lnTo>
                  <a:cubicBezTo>
                    <a:pt x="857174" y="0"/>
                    <a:pt x="863095" y="5921"/>
                    <a:pt x="863095" y="13225"/>
                  </a:cubicBezTo>
                  <a:lnTo>
                    <a:pt x="863095" y="13225"/>
                  </a:lnTo>
                  <a:cubicBezTo>
                    <a:pt x="863095" y="16732"/>
                    <a:pt x="861702" y="20096"/>
                    <a:pt x="859222" y="22576"/>
                  </a:cubicBezTo>
                  <a:cubicBezTo>
                    <a:pt x="856742" y="25056"/>
                    <a:pt x="853378" y="26450"/>
                    <a:pt x="849871" y="26450"/>
                  </a:cubicBezTo>
                  <a:lnTo>
                    <a:pt x="13225" y="26450"/>
                  </a:lnTo>
                  <a:cubicBezTo>
                    <a:pt x="9717" y="26450"/>
                    <a:pt x="6354" y="25056"/>
                    <a:pt x="3873" y="22576"/>
                  </a:cubicBezTo>
                  <a:cubicBezTo>
                    <a:pt x="1393" y="20096"/>
                    <a:pt x="0" y="16732"/>
                    <a:pt x="0" y="13225"/>
                  </a:cubicBezTo>
                  <a:lnTo>
                    <a:pt x="0" y="13225"/>
                  </a:lnTo>
                  <a:cubicBezTo>
                    <a:pt x="0" y="9717"/>
                    <a:pt x="1393" y="6354"/>
                    <a:pt x="3873" y="3873"/>
                  </a:cubicBezTo>
                  <a:cubicBezTo>
                    <a:pt x="6354" y="1393"/>
                    <a:pt x="9717" y="0"/>
                    <a:pt x="1322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76200"/>
              <a:ext cx="863095" cy="102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992762" y="6135949"/>
            <a:ext cx="2172908" cy="66589"/>
            <a:chOff x="0" y="0"/>
            <a:chExt cx="863095" cy="264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63095" cy="26450"/>
            </a:xfrm>
            <a:custGeom>
              <a:avLst/>
              <a:gdLst/>
              <a:ahLst/>
              <a:cxnLst/>
              <a:rect r="r" b="b" t="t" l="l"/>
              <a:pathLst>
                <a:path h="26450" w="863095">
                  <a:moveTo>
                    <a:pt x="13225" y="0"/>
                  </a:moveTo>
                  <a:lnTo>
                    <a:pt x="849871" y="0"/>
                  </a:lnTo>
                  <a:cubicBezTo>
                    <a:pt x="857174" y="0"/>
                    <a:pt x="863095" y="5921"/>
                    <a:pt x="863095" y="13225"/>
                  </a:cubicBezTo>
                  <a:lnTo>
                    <a:pt x="863095" y="13225"/>
                  </a:lnTo>
                  <a:cubicBezTo>
                    <a:pt x="863095" y="16732"/>
                    <a:pt x="861702" y="20096"/>
                    <a:pt x="859222" y="22576"/>
                  </a:cubicBezTo>
                  <a:cubicBezTo>
                    <a:pt x="856742" y="25056"/>
                    <a:pt x="853378" y="26450"/>
                    <a:pt x="849871" y="26450"/>
                  </a:cubicBezTo>
                  <a:lnTo>
                    <a:pt x="13225" y="26450"/>
                  </a:lnTo>
                  <a:cubicBezTo>
                    <a:pt x="9717" y="26450"/>
                    <a:pt x="6354" y="25056"/>
                    <a:pt x="3873" y="22576"/>
                  </a:cubicBezTo>
                  <a:cubicBezTo>
                    <a:pt x="1393" y="20096"/>
                    <a:pt x="0" y="16732"/>
                    <a:pt x="0" y="13225"/>
                  </a:cubicBezTo>
                  <a:lnTo>
                    <a:pt x="0" y="13225"/>
                  </a:lnTo>
                  <a:cubicBezTo>
                    <a:pt x="0" y="9717"/>
                    <a:pt x="1393" y="6354"/>
                    <a:pt x="3873" y="3873"/>
                  </a:cubicBezTo>
                  <a:cubicBezTo>
                    <a:pt x="6354" y="1393"/>
                    <a:pt x="9717" y="0"/>
                    <a:pt x="1322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76200"/>
              <a:ext cx="863095" cy="102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992762" y="6590891"/>
            <a:ext cx="2172908" cy="66589"/>
            <a:chOff x="0" y="0"/>
            <a:chExt cx="863095" cy="264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63095" cy="26450"/>
            </a:xfrm>
            <a:custGeom>
              <a:avLst/>
              <a:gdLst/>
              <a:ahLst/>
              <a:cxnLst/>
              <a:rect r="r" b="b" t="t" l="l"/>
              <a:pathLst>
                <a:path h="26450" w="863095">
                  <a:moveTo>
                    <a:pt x="13225" y="0"/>
                  </a:moveTo>
                  <a:lnTo>
                    <a:pt x="849871" y="0"/>
                  </a:lnTo>
                  <a:cubicBezTo>
                    <a:pt x="857174" y="0"/>
                    <a:pt x="863095" y="5921"/>
                    <a:pt x="863095" y="13225"/>
                  </a:cubicBezTo>
                  <a:lnTo>
                    <a:pt x="863095" y="13225"/>
                  </a:lnTo>
                  <a:cubicBezTo>
                    <a:pt x="863095" y="16732"/>
                    <a:pt x="861702" y="20096"/>
                    <a:pt x="859222" y="22576"/>
                  </a:cubicBezTo>
                  <a:cubicBezTo>
                    <a:pt x="856742" y="25056"/>
                    <a:pt x="853378" y="26450"/>
                    <a:pt x="849871" y="26450"/>
                  </a:cubicBezTo>
                  <a:lnTo>
                    <a:pt x="13225" y="26450"/>
                  </a:lnTo>
                  <a:cubicBezTo>
                    <a:pt x="9717" y="26450"/>
                    <a:pt x="6354" y="25056"/>
                    <a:pt x="3873" y="22576"/>
                  </a:cubicBezTo>
                  <a:cubicBezTo>
                    <a:pt x="1393" y="20096"/>
                    <a:pt x="0" y="16732"/>
                    <a:pt x="0" y="13225"/>
                  </a:cubicBezTo>
                  <a:lnTo>
                    <a:pt x="0" y="13225"/>
                  </a:lnTo>
                  <a:cubicBezTo>
                    <a:pt x="0" y="9717"/>
                    <a:pt x="1393" y="6354"/>
                    <a:pt x="3873" y="3873"/>
                  </a:cubicBezTo>
                  <a:cubicBezTo>
                    <a:pt x="6354" y="1393"/>
                    <a:pt x="9717" y="0"/>
                    <a:pt x="1322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76200"/>
              <a:ext cx="863095" cy="102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992762" y="7045833"/>
            <a:ext cx="2172908" cy="66589"/>
            <a:chOff x="0" y="0"/>
            <a:chExt cx="863095" cy="264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63095" cy="26450"/>
            </a:xfrm>
            <a:custGeom>
              <a:avLst/>
              <a:gdLst/>
              <a:ahLst/>
              <a:cxnLst/>
              <a:rect r="r" b="b" t="t" l="l"/>
              <a:pathLst>
                <a:path h="26450" w="863095">
                  <a:moveTo>
                    <a:pt x="13225" y="0"/>
                  </a:moveTo>
                  <a:lnTo>
                    <a:pt x="849871" y="0"/>
                  </a:lnTo>
                  <a:cubicBezTo>
                    <a:pt x="857174" y="0"/>
                    <a:pt x="863095" y="5921"/>
                    <a:pt x="863095" y="13225"/>
                  </a:cubicBezTo>
                  <a:lnTo>
                    <a:pt x="863095" y="13225"/>
                  </a:lnTo>
                  <a:cubicBezTo>
                    <a:pt x="863095" y="16732"/>
                    <a:pt x="861702" y="20096"/>
                    <a:pt x="859222" y="22576"/>
                  </a:cubicBezTo>
                  <a:cubicBezTo>
                    <a:pt x="856742" y="25056"/>
                    <a:pt x="853378" y="26450"/>
                    <a:pt x="849871" y="26450"/>
                  </a:cubicBezTo>
                  <a:lnTo>
                    <a:pt x="13225" y="26450"/>
                  </a:lnTo>
                  <a:cubicBezTo>
                    <a:pt x="9717" y="26450"/>
                    <a:pt x="6354" y="25056"/>
                    <a:pt x="3873" y="22576"/>
                  </a:cubicBezTo>
                  <a:cubicBezTo>
                    <a:pt x="1393" y="20096"/>
                    <a:pt x="0" y="16732"/>
                    <a:pt x="0" y="13225"/>
                  </a:cubicBezTo>
                  <a:lnTo>
                    <a:pt x="0" y="13225"/>
                  </a:lnTo>
                  <a:cubicBezTo>
                    <a:pt x="0" y="9717"/>
                    <a:pt x="1393" y="6354"/>
                    <a:pt x="3873" y="3873"/>
                  </a:cubicBezTo>
                  <a:cubicBezTo>
                    <a:pt x="6354" y="1393"/>
                    <a:pt x="9717" y="0"/>
                    <a:pt x="1322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76200"/>
              <a:ext cx="863095" cy="102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992762" y="7500775"/>
            <a:ext cx="2172908" cy="66589"/>
            <a:chOff x="0" y="0"/>
            <a:chExt cx="863095" cy="264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63095" cy="26450"/>
            </a:xfrm>
            <a:custGeom>
              <a:avLst/>
              <a:gdLst/>
              <a:ahLst/>
              <a:cxnLst/>
              <a:rect r="r" b="b" t="t" l="l"/>
              <a:pathLst>
                <a:path h="26450" w="863095">
                  <a:moveTo>
                    <a:pt x="13225" y="0"/>
                  </a:moveTo>
                  <a:lnTo>
                    <a:pt x="849871" y="0"/>
                  </a:lnTo>
                  <a:cubicBezTo>
                    <a:pt x="857174" y="0"/>
                    <a:pt x="863095" y="5921"/>
                    <a:pt x="863095" y="13225"/>
                  </a:cubicBezTo>
                  <a:lnTo>
                    <a:pt x="863095" y="13225"/>
                  </a:lnTo>
                  <a:cubicBezTo>
                    <a:pt x="863095" y="16732"/>
                    <a:pt x="861702" y="20096"/>
                    <a:pt x="859222" y="22576"/>
                  </a:cubicBezTo>
                  <a:cubicBezTo>
                    <a:pt x="856742" y="25056"/>
                    <a:pt x="853378" y="26450"/>
                    <a:pt x="849871" y="26450"/>
                  </a:cubicBezTo>
                  <a:lnTo>
                    <a:pt x="13225" y="26450"/>
                  </a:lnTo>
                  <a:cubicBezTo>
                    <a:pt x="9717" y="26450"/>
                    <a:pt x="6354" y="25056"/>
                    <a:pt x="3873" y="22576"/>
                  </a:cubicBezTo>
                  <a:cubicBezTo>
                    <a:pt x="1393" y="20096"/>
                    <a:pt x="0" y="16732"/>
                    <a:pt x="0" y="13225"/>
                  </a:cubicBezTo>
                  <a:lnTo>
                    <a:pt x="0" y="13225"/>
                  </a:lnTo>
                  <a:cubicBezTo>
                    <a:pt x="0" y="9717"/>
                    <a:pt x="1393" y="6354"/>
                    <a:pt x="3873" y="3873"/>
                  </a:cubicBezTo>
                  <a:cubicBezTo>
                    <a:pt x="6354" y="1393"/>
                    <a:pt x="9717" y="0"/>
                    <a:pt x="1322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76200"/>
              <a:ext cx="863095" cy="102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992762" y="7955716"/>
            <a:ext cx="2172908" cy="66589"/>
            <a:chOff x="0" y="0"/>
            <a:chExt cx="863095" cy="264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63095" cy="26450"/>
            </a:xfrm>
            <a:custGeom>
              <a:avLst/>
              <a:gdLst/>
              <a:ahLst/>
              <a:cxnLst/>
              <a:rect r="r" b="b" t="t" l="l"/>
              <a:pathLst>
                <a:path h="26450" w="863095">
                  <a:moveTo>
                    <a:pt x="13225" y="0"/>
                  </a:moveTo>
                  <a:lnTo>
                    <a:pt x="849871" y="0"/>
                  </a:lnTo>
                  <a:cubicBezTo>
                    <a:pt x="857174" y="0"/>
                    <a:pt x="863095" y="5921"/>
                    <a:pt x="863095" y="13225"/>
                  </a:cubicBezTo>
                  <a:lnTo>
                    <a:pt x="863095" y="13225"/>
                  </a:lnTo>
                  <a:cubicBezTo>
                    <a:pt x="863095" y="16732"/>
                    <a:pt x="861702" y="20096"/>
                    <a:pt x="859222" y="22576"/>
                  </a:cubicBezTo>
                  <a:cubicBezTo>
                    <a:pt x="856742" y="25056"/>
                    <a:pt x="853378" y="26450"/>
                    <a:pt x="849871" y="26450"/>
                  </a:cubicBezTo>
                  <a:lnTo>
                    <a:pt x="13225" y="26450"/>
                  </a:lnTo>
                  <a:cubicBezTo>
                    <a:pt x="9717" y="26450"/>
                    <a:pt x="6354" y="25056"/>
                    <a:pt x="3873" y="22576"/>
                  </a:cubicBezTo>
                  <a:cubicBezTo>
                    <a:pt x="1393" y="20096"/>
                    <a:pt x="0" y="16732"/>
                    <a:pt x="0" y="13225"/>
                  </a:cubicBezTo>
                  <a:lnTo>
                    <a:pt x="0" y="13225"/>
                  </a:lnTo>
                  <a:cubicBezTo>
                    <a:pt x="0" y="9717"/>
                    <a:pt x="1393" y="6354"/>
                    <a:pt x="3873" y="3873"/>
                  </a:cubicBezTo>
                  <a:cubicBezTo>
                    <a:pt x="6354" y="1393"/>
                    <a:pt x="9717" y="0"/>
                    <a:pt x="1322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76200"/>
              <a:ext cx="863095" cy="102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992762" y="8410658"/>
            <a:ext cx="2172908" cy="66589"/>
            <a:chOff x="0" y="0"/>
            <a:chExt cx="863095" cy="264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63095" cy="26450"/>
            </a:xfrm>
            <a:custGeom>
              <a:avLst/>
              <a:gdLst/>
              <a:ahLst/>
              <a:cxnLst/>
              <a:rect r="r" b="b" t="t" l="l"/>
              <a:pathLst>
                <a:path h="26450" w="863095">
                  <a:moveTo>
                    <a:pt x="13225" y="0"/>
                  </a:moveTo>
                  <a:lnTo>
                    <a:pt x="849871" y="0"/>
                  </a:lnTo>
                  <a:cubicBezTo>
                    <a:pt x="857174" y="0"/>
                    <a:pt x="863095" y="5921"/>
                    <a:pt x="863095" y="13225"/>
                  </a:cubicBezTo>
                  <a:lnTo>
                    <a:pt x="863095" y="13225"/>
                  </a:lnTo>
                  <a:cubicBezTo>
                    <a:pt x="863095" y="16732"/>
                    <a:pt x="861702" y="20096"/>
                    <a:pt x="859222" y="22576"/>
                  </a:cubicBezTo>
                  <a:cubicBezTo>
                    <a:pt x="856742" y="25056"/>
                    <a:pt x="853378" y="26450"/>
                    <a:pt x="849871" y="26450"/>
                  </a:cubicBezTo>
                  <a:lnTo>
                    <a:pt x="13225" y="26450"/>
                  </a:lnTo>
                  <a:cubicBezTo>
                    <a:pt x="9717" y="26450"/>
                    <a:pt x="6354" y="25056"/>
                    <a:pt x="3873" y="22576"/>
                  </a:cubicBezTo>
                  <a:cubicBezTo>
                    <a:pt x="1393" y="20096"/>
                    <a:pt x="0" y="16732"/>
                    <a:pt x="0" y="13225"/>
                  </a:cubicBezTo>
                  <a:lnTo>
                    <a:pt x="0" y="13225"/>
                  </a:lnTo>
                  <a:cubicBezTo>
                    <a:pt x="0" y="9717"/>
                    <a:pt x="1393" y="6354"/>
                    <a:pt x="3873" y="3873"/>
                  </a:cubicBezTo>
                  <a:cubicBezTo>
                    <a:pt x="6354" y="1393"/>
                    <a:pt x="9717" y="0"/>
                    <a:pt x="1322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76200"/>
              <a:ext cx="863095" cy="102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992762" y="8872415"/>
            <a:ext cx="2172908" cy="66589"/>
            <a:chOff x="0" y="0"/>
            <a:chExt cx="863095" cy="264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63095" cy="26450"/>
            </a:xfrm>
            <a:custGeom>
              <a:avLst/>
              <a:gdLst/>
              <a:ahLst/>
              <a:cxnLst/>
              <a:rect r="r" b="b" t="t" l="l"/>
              <a:pathLst>
                <a:path h="26450" w="863095">
                  <a:moveTo>
                    <a:pt x="13225" y="0"/>
                  </a:moveTo>
                  <a:lnTo>
                    <a:pt x="849871" y="0"/>
                  </a:lnTo>
                  <a:cubicBezTo>
                    <a:pt x="857174" y="0"/>
                    <a:pt x="863095" y="5921"/>
                    <a:pt x="863095" y="13225"/>
                  </a:cubicBezTo>
                  <a:lnTo>
                    <a:pt x="863095" y="13225"/>
                  </a:lnTo>
                  <a:cubicBezTo>
                    <a:pt x="863095" y="16732"/>
                    <a:pt x="861702" y="20096"/>
                    <a:pt x="859222" y="22576"/>
                  </a:cubicBezTo>
                  <a:cubicBezTo>
                    <a:pt x="856742" y="25056"/>
                    <a:pt x="853378" y="26450"/>
                    <a:pt x="849871" y="26450"/>
                  </a:cubicBezTo>
                  <a:lnTo>
                    <a:pt x="13225" y="26450"/>
                  </a:lnTo>
                  <a:cubicBezTo>
                    <a:pt x="9717" y="26450"/>
                    <a:pt x="6354" y="25056"/>
                    <a:pt x="3873" y="22576"/>
                  </a:cubicBezTo>
                  <a:cubicBezTo>
                    <a:pt x="1393" y="20096"/>
                    <a:pt x="0" y="16732"/>
                    <a:pt x="0" y="13225"/>
                  </a:cubicBezTo>
                  <a:lnTo>
                    <a:pt x="0" y="13225"/>
                  </a:lnTo>
                  <a:cubicBezTo>
                    <a:pt x="0" y="9717"/>
                    <a:pt x="1393" y="6354"/>
                    <a:pt x="3873" y="3873"/>
                  </a:cubicBezTo>
                  <a:cubicBezTo>
                    <a:pt x="6354" y="1393"/>
                    <a:pt x="9717" y="0"/>
                    <a:pt x="1322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76200"/>
              <a:ext cx="863095" cy="102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4356548" y="2826251"/>
            <a:ext cx="284223" cy="284223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7" id="4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640771" y="3294885"/>
            <a:ext cx="284223" cy="284223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0" id="50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5881446" y="3752423"/>
            <a:ext cx="284223" cy="284223"/>
            <a:chOff x="0" y="0"/>
            <a:chExt cx="812800" cy="812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3" id="53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5393402" y="4207365"/>
            <a:ext cx="284223" cy="284223"/>
            <a:chOff x="0" y="0"/>
            <a:chExt cx="812800" cy="812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6" id="56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4037145" y="4651204"/>
            <a:ext cx="284223" cy="284223"/>
            <a:chOff x="0" y="0"/>
            <a:chExt cx="812800" cy="812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9" id="59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5783717" y="5117248"/>
            <a:ext cx="284223" cy="284223"/>
            <a:chOff x="0" y="0"/>
            <a:chExt cx="812800" cy="812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2" id="62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4640771" y="5570050"/>
            <a:ext cx="284223" cy="284223"/>
            <a:chOff x="0" y="0"/>
            <a:chExt cx="812800" cy="8128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5" id="65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4214436" y="6013896"/>
            <a:ext cx="284223" cy="284223"/>
            <a:chOff x="0" y="0"/>
            <a:chExt cx="812800" cy="8128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8" id="68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4924995" y="6482074"/>
            <a:ext cx="284223" cy="284223"/>
            <a:chOff x="0" y="0"/>
            <a:chExt cx="812800" cy="8128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1" id="71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4498660" y="6934875"/>
            <a:ext cx="284223" cy="284223"/>
            <a:chOff x="0" y="0"/>
            <a:chExt cx="812800" cy="8128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4" id="7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4937104" y="7358663"/>
            <a:ext cx="284223" cy="284223"/>
            <a:chOff x="0" y="0"/>
            <a:chExt cx="812800" cy="8128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7" id="7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4924995" y="7846899"/>
            <a:ext cx="284223" cy="284223"/>
            <a:chOff x="0" y="0"/>
            <a:chExt cx="812800" cy="8128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0" id="80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5783717" y="8299700"/>
            <a:ext cx="284223" cy="284223"/>
            <a:chOff x="0" y="0"/>
            <a:chExt cx="812800" cy="8128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3" id="83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4321368" y="8776834"/>
            <a:ext cx="284223" cy="284223"/>
            <a:chOff x="0" y="0"/>
            <a:chExt cx="812800" cy="8128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6" id="86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TextBox 87" id="87"/>
          <p:cNvSpPr txBox="true"/>
          <p:nvPr/>
        </p:nvSpPr>
        <p:spPr>
          <a:xfrm rot="0">
            <a:off x="6837937" y="555533"/>
            <a:ext cx="4612126" cy="94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1"/>
              </a:lnSpc>
            </a:pPr>
            <a:r>
              <a:rPr lang="en-US" sz="6264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Poppins Light"/>
                <a:ea typeface="Poppins Light"/>
                <a:cs typeface="Poppins Light"/>
                <a:sym typeface="Poppins Light"/>
              </a:rPr>
              <a:t>Tom de voz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6276627" y="2715184"/>
            <a:ext cx="2869528" cy="6376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609" strike="noStrike" u="non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  CRÍTICO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609" strike="noStrike" u="non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  SÉRIO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609" strike="noStrike" u="non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  SOLENE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609" strike="noStrike" u="non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  CASUAL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609" strike="noStrike" u="non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  IRREVERENTE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609" strike="noStrike" u="non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  LÓGICO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609" strike="noStrike" u="non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  TEÓRICO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609" strike="noStrike" u="non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  REPREENSOR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609" strike="noStrike" u="non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  NARRATIVO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609" strike="noStrike" u="non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  RACIONAL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609" strike="noStrike" u="non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  ENFÁTICO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609" strike="noStrike" u="non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  CONTESTADOR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609" strike="noStrike" u="non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  AMIGÁVEL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2609" strike="noStrike" u="non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  PROLIXO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719371" y="2199144"/>
            <a:ext cx="2317774" cy="461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5"/>
              </a:lnSpc>
            </a:pPr>
            <a:r>
              <a:rPr lang="en-US" sz="2612" spc="94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Temperatura</a:t>
            </a:r>
          </a:p>
        </p:txBody>
      </p:sp>
      <p:grpSp>
        <p:nvGrpSpPr>
          <p:cNvPr name="Group 90" id="90"/>
          <p:cNvGrpSpPr/>
          <p:nvPr/>
        </p:nvGrpSpPr>
        <p:grpSpPr>
          <a:xfrm rot="0">
            <a:off x="10091087" y="2778525"/>
            <a:ext cx="2541077" cy="3656128"/>
            <a:chOff x="0" y="0"/>
            <a:chExt cx="3388102" cy="4874837"/>
          </a:xfrm>
        </p:grpSpPr>
        <p:sp>
          <p:nvSpPr>
            <p:cNvPr name="TextBox 91" id="91"/>
            <p:cNvSpPr txBox="true"/>
            <p:nvPr/>
          </p:nvSpPr>
          <p:spPr>
            <a:xfrm rot="0">
              <a:off x="0" y="641808"/>
              <a:ext cx="3087221" cy="42330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5"/>
                </a:lnSpc>
              </a:pPr>
              <a:r>
                <a:rPr lang="en-US" sz="2612" spc="94">
                  <a:solidFill>
                    <a:srgbClr val="D9D9D9"/>
                  </a:solidFill>
                  <a:latin typeface="Poppins"/>
                  <a:ea typeface="Poppins"/>
                  <a:cs typeface="Poppins"/>
                  <a:sym typeface="Poppins"/>
                </a:rPr>
                <a:t>Confiável</a:t>
              </a:r>
            </a:p>
            <a:p>
              <a:pPr algn="l">
                <a:lnSpc>
                  <a:spcPts val="3605"/>
                </a:lnSpc>
              </a:pPr>
              <a:r>
                <a:rPr lang="en-US" sz="2612" spc="94">
                  <a:solidFill>
                    <a:srgbClr val="D9D9D9"/>
                  </a:solidFill>
                  <a:latin typeface="Poppins"/>
                  <a:ea typeface="Poppins"/>
                  <a:cs typeface="Poppins"/>
                  <a:sym typeface="Poppins"/>
                </a:rPr>
                <a:t>Prestativa</a:t>
              </a:r>
            </a:p>
            <a:p>
              <a:pPr algn="l">
                <a:lnSpc>
                  <a:spcPts val="3605"/>
                </a:lnSpc>
              </a:pPr>
              <a:r>
                <a:rPr lang="en-US" sz="2612" spc="94">
                  <a:solidFill>
                    <a:srgbClr val="D9D9D9"/>
                  </a:solidFill>
                  <a:latin typeface="Poppins"/>
                  <a:ea typeface="Poppins"/>
                  <a:cs typeface="Poppins"/>
                  <a:sym typeface="Poppins"/>
                </a:rPr>
                <a:t>Organizada</a:t>
              </a:r>
            </a:p>
            <a:p>
              <a:pPr algn="l">
                <a:lnSpc>
                  <a:spcPts val="3605"/>
                </a:lnSpc>
              </a:pPr>
              <a:r>
                <a:rPr lang="en-US" sz="2612" spc="94">
                  <a:solidFill>
                    <a:srgbClr val="D9D9D9"/>
                  </a:solidFill>
                  <a:latin typeface="Poppins"/>
                  <a:ea typeface="Poppins"/>
                  <a:cs typeface="Poppins"/>
                  <a:sym typeface="Poppins"/>
                </a:rPr>
                <a:t>Ágil</a:t>
              </a:r>
            </a:p>
            <a:p>
              <a:pPr algn="l">
                <a:lnSpc>
                  <a:spcPts val="3605"/>
                </a:lnSpc>
              </a:pPr>
              <a:r>
                <a:rPr lang="en-US" sz="2612" spc="94">
                  <a:solidFill>
                    <a:srgbClr val="D9D9D9"/>
                  </a:solidFill>
                  <a:latin typeface="Poppins"/>
                  <a:ea typeface="Poppins"/>
                  <a:cs typeface="Poppins"/>
                  <a:sym typeface="Poppins"/>
                </a:rPr>
                <a:t>Competente</a:t>
              </a:r>
            </a:p>
            <a:p>
              <a:pPr algn="l">
                <a:lnSpc>
                  <a:spcPts val="3605"/>
                </a:lnSpc>
              </a:pPr>
              <a:r>
                <a:rPr lang="en-US" sz="2612" spc="94">
                  <a:solidFill>
                    <a:srgbClr val="D9D9D9"/>
                  </a:solidFill>
                  <a:latin typeface="Poppins"/>
                  <a:ea typeface="Poppins"/>
                  <a:cs typeface="Poppins"/>
                  <a:sym typeface="Poppins"/>
                </a:rPr>
                <a:t>Responsável</a:t>
              </a:r>
            </a:p>
            <a:p>
              <a:pPr algn="l">
                <a:lnSpc>
                  <a:spcPts val="3605"/>
                </a:lnSpc>
              </a:pPr>
              <a:r>
                <a:rPr lang="en-US" sz="2612" spc="94">
                  <a:solidFill>
                    <a:srgbClr val="D9D9D9"/>
                  </a:solidFill>
                  <a:latin typeface="Poppins"/>
                  <a:ea typeface="Poppins"/>
                  <a:cs typeface="Poppins"/>
                  <a:sym typeface="Poppins"/>
                </a:rPr>
                <a:t>Colaborativa</a:t>
              </a:r>
            </a:p>
          </p:txBody>
        </p:sp>
        <p:sp>
          <p:nvSpPr>
            <p:cNvPr name="TextBox 92" id="92"/>
            <p:cNvSpPr txBox="true"/>
            <p:nvPr/>
          </p:nvSpPr>
          <p:spPr>
            <a:xfrm rot="0">
              <a:off x="0" y="-66675"/>
              <a:ext cx="3388102" cy="5936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5"/>
                </a:lnSpc>
              </a:pPr>
              <a:r>
                <a:rPr lang="en-US" sz="2612" spc="94">
                  <a:gradFill>
                    <a:gsLst>
                      <a:gs pos="0">
                        <a:srgbClr val="3ECFA8">
                          <a:alpha val="100000"/>
                        </a:srgbClr>
                      </a:gs>
                      <a:gs pos="100000">
                        <a:srgbClr val="B0F641">
                          <a:alpha val="100000"/>
                        </a:srgbClr>
                      </a:gs>
                    </a:gsLst>
                    <a:lin ang="0"/>
                  </a:gradFill>
                  <a:latin typeface="Poppins"/>
                  <a:ea typeface="Poppins"/>
                  <a:cs typeface="Poppins"/>
                  <a:sym typeface="Poppins"/>
                </a:rPr>
                <a:t>Personalidade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4467429" y="2717027"/>
            <a:ext cx="2193426" cy="4630652"/>
            <a:chOff x="0" y="0"/>
            <a:chExt cx="2924568" cy="6174203"/>
          </a:xfrm>
        </p:grpSpPr>
        <p:sp>
          <p:nvSpPr>
            <p:cNvPr name="TextBox 94" id="94"/>
            <p:cNvSpPr txBox="true"/>
            <p:nvPr/>
          </p:nvSpPr>
          <p:spPr>
            <a:xfrm rot="0">
              <a:off x="107529" y="706137"/>
              <a:ext cx="2817039" cy="5468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84"/>
                </a:lnSpc>
              </a:pPr>
              <a:r>
                <a:rPr lang="en-US" sz="2379" spc="85">
                  <a:solidFill>
                    <a:srgbClr val="D9D9D9"/>
                  </a:solidFill>
                  <a:latin typeface="Poppins"/>
                  <a:ea typeface="Poppins"/>
                  <a:cs typeface="Poppins"/>
                  <a:sym typeface="Poppins"/>
                </a:rPr>
                <a:t>Garantir</a:t>
              </a:r>
            </a:p>
            <a:p>
              <a:pPr algn="l">
                <a:lnSpc>
                  <a:spcPts val="3284"/>
                </a:lnSpc>
              </a:pPr>
              <a:r>
                <a:rPr lang="en-US" sz="2379" spc="85">
                  <a:solidFill>
                    <a:srgbClr val="D9D9D9"/>
                  </a:solidFill>
                  <a:latin typeface="Poppins"/>
                  <a:ea typeface="Poppins"/>
                  <a:cs typeface="Poppins"/>
                  <a:sym typeface="Poppins"/>
                </a:rPr>
                <a:t>Sustentar</a:t>
              </a:r>
            </a:p>
            <a:p>
              <a:pPr algn="l">
                <a:lnSpc>
                  <a:spcPts val="3284"/>
                </a:lnSpc>
              </a:pPr>
              <a:r>
                <a:rPr lang="en-US" sz="2379" spc="85">
                  <a:solidFill>
                    <a:srgbClr val="D9D9D9"/>
                  </a:solidFill>
                  <a:latin typeface="Poppins"/>
                  <a:ea typeface="Poppins"/>
                  <a:cs typeface="Poppins"/>
                  <a:sym typeface="Poppins"/>
                </a:rPr>
                <a:t>Apoiar</a:t>
              </a:r>
            </a:p>
            <a:p>
              <a:pPr algn="l">
                <a:lnSpc>
                  <a:spcPts val="3284"/>
                </a:lnSpc>
              </a:pPr>
              <a:r>
                <a:rPr lang="en-US" sz="2379" spc="85">
                  <a:solidFill>
                    <a:srgbClr val="D9D9D9"/>
                  </a:solidFill>
                  <a:latin typeface="Poppins"/>
                  <a:ea typeface="Poppins"/>
                  <a:cs typeface="Poppins"/>
                  <a:sym typeface="Poppins"/>
                </a:rPr>
                <a:t>Organizar</a:t>
              </a:r>
            </a:p>
            <a:p>
              <a:pPr algn="l">
                <a:lnSpc>
                  <a:spcPts val="3284"/>
                </a:lnSpc>
              </a:pPr>
              <a:r>
                <a:rPr lang="en-US" sz="2379" spc="85">
                  <a:solidFill>
                    <a:srgbClr val="D9D9D9"/>
                  </a:solidFill>
                  <a:latin typeface="Poppins"/>
                  <a:ea typeface="Poppins"/>
                  <a:cs typeface="Poppins"/>
                  <a:sym typeface="Poppins"/>
                </a:rPr>
                <a:t>Coordenar</a:t>
              </a:r>
            </a:p>
            <a:p>
              <a:pPr algn="l">
                <a:lnSpc>
                  <a:spcPts val="3284"/>
                </a:lnSpc>
              </a:pPr>
              <a:r>
                <a:rPr lang="en-US" sz="2379" spc="85">
                  <a:solidFill>
                    <a:srgbClr val="D9D9D9"/>
                  </a:solidFill>
                  <a:latin typeface="Poppins"/>
                  <a:ea typeface="Poppins"/>
                  <a:cs typeface="Poppins"/>
                  <a:sym typeface="Poppins"/>
                </a:rPr>
                <a:t>Acompanhar</a:t>
              </a:r>
            </a:p>
            <a:p>
              <a:pPr algn="l">
                <a:lnSpc>
                  <a:spcPts val="3284"/>
                </a:lnSpc>
              </a:pPr>
              <a:r>
                <a:rPr lang="en-US" sz="2379" spc="85">
                  <a:solidFill>
                    <a:srgbClr val="D9D9D9"/>
                  </a:solidFill>
                  <a:latin typeface="Poppins"/>
                  <a:ea typeface="Poppins"/>
                  <a:cs typeface="Poppins"/>
                  <a:sym typeface="Poppins"/>
                </a:rPr>
                <a:t>Monitorar</a:t>
              </a:r>
            </a:p>
            <a:p>
              <a:pPr algn="l">
                <a:lnSpc>
                  <a:spcPts val="3284"/>
                </a:lnSpc>
              </a:pPr>
              <a:r>
                <a:rPr lang="en-US" sz="2379" spc="85">
                  <a:solidFill>
                    <a:srgbClr val="D9D9D9"/>
                  </a:solidFill>
                  <a:latin typeface="Poppins"/>
                  <a:ea typeface="Poppins"/>
                  <a:cs typeface="Poppins"/>
                  <a:sym typeface="Poppins"/>
                </a:rPr>
                <a:t>Resolver</a:t>
              </a:r>
            </a:p>
            <a:p>
              <a:pPr algn="l">
                <a:lnSpc>
                  <a:spcPts val="3284"/>
                </a:lnSpc>
              </a:pPr>
              <a:r>
                <a:rPr lang="en-US" sz="2379" spc="85">
                  <a:solidFill>
                    <a:srgbClr val="D9D9D9"/>
                  </a:solidFill>
                  <a:latin typeface="Poppins"/>
                  <a:ea typeface="Poppins"/>
                  <a:cs typeface="Poppins"/>
                  <a:sym typeface="Poppins"/>
                </a:rPr>
                <a:t>Facilitar</a:t>
              </a:r>
            </a:p>
            <a:p>
              <a:pPr algn="l">
                <a:lnSpc>
                  <a:spcPts val="3284"/>
                </a:lnSpc>
              </a:pPr>
              <a:r>
                <a:rPr lang="en-US" sz="2379" spc="85">
                  <a:solidFill>
                    <a:srgbClr val="D9D9D9"/>
                  </a:solidFill>
                  <a:latin typeface="Poppins"/>
                  <a:ea typeface="Poppins"/>
                  <a:cs typeface="Poppins"/>
                  <a:sym typeface="Poppins"/>
                </a:rPr>
                <a:t>Manter</a:t>
              </a:r>
            </a:p>
          </p:txBody>
        </p:sp>
        <p:sp>
          <p:nvSpPr>
            <p:cNvPr name="TextBox 95" id="95"/>
            <p:cNvSpPr txBox="true"/>
            <p:nvPr/>
          </p:nvSpPr>
          <p:spPr>
            <a:xfrm rot="0">
              <a:off x="0" y="-66675"/>
              <a:ext cx="1647171" cy="5936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5"/>
                </a:lnSpc>
              </a:pPr>
              <a:r>
                <a:rPr lang="en-US" sz="2612" spc="94">
                  <a:gradFill>
                    <a:gsLst>
                      <a:gs pos="0">
                        <a:srgbClr val="3ECFA8">
                          <a:alpha val="100000"/>
                        </a:srgbClr>
                      </a:gs>
                      <a:gs pos="100000">
                        <a:srgbClr val="B0F641">
                          <a:alpha val="100000"/>
                        </a:srgbClr>
                      </a:gs>
                    </a:gsLst>
                    <a:lin ang="0"/>
                  </a:gradFill>
                  <a:latin typeface="Poppins"/>
                  <a:ea typeface="Poppins"/>
                  <a:cs typeface="Poppins"/>
                  <a:sym typeface="Poppins"/>
                </a:rPr>
                <a:t>Verbos</a:t>
              </a:r>
            </a:p>
          </p:txBody>
        </p:sp>
      </p:grpSp>
      <p:sp>
        <p:nvSpPr>
          <p:cNvPr name="AutoShape 96" id="96"/>
          <p:cNvSpPr/>
          <p:nvPr/>
        </p:nvSpPr>
        <p:spPr>
          <a:xfrm>
            <a:off x="9146155" y="2778525"/>
            <a:ext cx="0" cy="6479775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7" id="97"/>
          <p:cNvSpPr/>
          <p:nvPr/>
        </p:nvSpPr>
        <p:spPr>
          <a:xfrm>
            <a:off x="13551326" y="2706042"/>
            <a:ext cx="0" cy="4794733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60B">
                <a:alpha val="100000"/>
              </a:srgbClr>
            </a:gs>
            <a:gs pos="100000">
              <a:srgbClr val="02313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25177" y="555533"/>
            <a:ext cx="7837647" cy="94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1"/>
              </a:lnSpc>
            </a:pPr>
            <a:r>
              <a:rPr lang="en-US" sz="6264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Poppins Light"/>
                <a:ea typeface="Poppins Light"/>
                <a:cs typeface="Poppins Light"/>
                <a:sym typeface="Poppins Light"/>
              </a:rPr>
              <a:t>Pilares de conteúdo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14350" y="1755994"/>
            <a:ext cx="8551787" cy="3262669"/>
            <a:chOff x="0" y="0"/>
            <a:chExt cx="2560803" cy="9769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60803" cy="976995"/>
            </a:xfrm>
            <a:custGeom>
              <a:avLst/>
              <a:gdLst/>
              <a:ahLst/>
              <a:cxnLst/>
              <a:rect r="r" b="b" t="t" l="l"/>
              <a:pathLst>
                <a:path h="976995" w="2560803">
                  <a:moveTo>
                    <a:pt x="30780" y="0"/>
                  </a:moveTo>
                  <a:lnTo>
                    <a:pt x="2530023" y="0"/>
                  </a:lnTo>
                  <a:cubicBezTo>
                    <a:pt x="2547023" y="0"/>
                    <a:pt x="2560803" y="13781"/>
                    <a:pt x="2560803" y="30780"/>
                  </a:cubicBezTo>
                  <a:lnTo>
                    <a:pt x="2560803" y="946215"/>
                  </a:lnTo>
                  <a:cubicBezTo>
                    <a:pt x="2560803" y="963214"/>
                    <a:pt x="2547023" y="976995"/>
                    <a:pt x="2530023" y="976995"/>
                  </a:cubicBezTo>
                  <a:lnTo>
                    <a:pt x="30780" y="976995"/>
                  </a:lnTo>
                  <a:cubicBezTo>
                    <a:pt x="22617" y="976995"/>
                    <a:pt x="14788" y="973752"/>
                    <a:pt x="9015" y="967980"/>
                  </a:cubicBezTo>
                  <a:cubicBezTo>
                    <a:pt x="3243" y="962207"/>
                    <a:pt x="0" y="954378"/>
                    <a:pt x="0" y="946215"/>
                  </a:cubicBezTo>
                  <a:lnTo>
                    <a:pt x="0" y="30780"/>
                  </a:lnTo>
                  <a:cubicBezTo>
                    <a:pt x="0" y="22617"/>
                    <a:pt x="3243" y="14788"/>
                    <a:pt x="9015" y="9015"/>
                  </a:cubicBezTo>
                  <a:cubicBezTo>
                    <a:pt x="14788" y="3243"/>
                    <a:pt x="22617" y="0"/>
                    <a:pt x="30780" y="0"/>
                  </a:cubicBezTo>
                  <a:close/>
                </a:path>
              </a:pathLst>
            </a:custGeom>
            <a:solidFill>
              <a:srgbClr val="02262B"/>
            </a:solidFill>
            <a:ln w="9525" cap="rnd">
              <a:gradFill>
                <a:gsLst>
                  <a:gs pos="0">
                    <a:srgbClr val="C5DFFF">
                      <a:alpha val="0"/>
                    </a:srgbClr>
                  </a:gs>
                  <a:gs pos="50000">
                    <a:srgbClr val="C5DFFF">
                      <a:alpha val="33000"/>
                    </a:srgbClr>
                  </a:gs>
                  <a:gs pos="100000">
                    <a:srgbClr val="C5DFFF">
                      <a:alpha val="465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2560803" cy="1053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14350" y="5137726"/>
            <a:ext cx="8551787" cy="2664170"/>
            <a:chOff x="0" y="0"/>
            <a:chExt cx="2560803" cy="7977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60803" cy="797777"/>
            </a:xfrm>
            <a:custGeom>
              <a:avLst/>
              <a:gdLst/>
              <a:ahLst/>
              <a:cxnLst/>
              <a:rect r="r" b="b" t="t" l="l"/>
              <a:pathLst>
                <a:path h="797777" w="2560803">
                  <a:moveTo>
                    <a:pt x="30780" y="0"/>
                  </a:moveTo>
                  <a:lnTo>
                    <a:pt x="2530023" y="0"/>
                  </a:lnTo>
                  <a:cubicBezTo>
                    <a:pt x="2547023" y="0"/>
                    <a:pt x="2560803" y="13781"/>
                    <a:pt x="2560803" y="30780"/>
                  </a:cubicBezTo>
                  <a:lnTo>
                    <a:pt x="2560803" y="766996"/>
                  </a:lnTo>
                  <a:cubicBezTo>
                    <a:pt x="2560803" y="775160"/>
                    <a:pt x="2557561" y="782989"/>
                    <a:pt x="2551788" y="788761"/>
                  </a:cubicBezTo>
                  <a:cubicBezTo>
                    <a:pt x="2546016" y="794534"/>
                    <a:pt x="2538187" y="797777"/>
                    <a:pt x="2530023" y="797777"/>
                  </a:cubicBezTo>
                  <a:lnTo>
                    <a:pt x="30780" y="797777"/>
                  </a:lnTo>
                  <a:cubicBezTo>
                    <a:pt x="22617" y="797777"/>
                    <a:pt x="14788" y="794534"/>
                    <a:pt x="9015" y="788761"/>
                  </a:cubicBezTo>
                  <a:cubicBezTo>
                    <a:pt x="3243" y="782989"/>
                    <a:pt x="0" y="775160"/>
                    <a:pt x="0" y="766996"/>
                  </a:cubicBezTo>
                  <a:lnTo>
                    <a:pt x="0" y="30780"/>
                  </a:lnTo>
                  <a:cubicBezTo>
                    <a:pt x="0" y="22617"/>
                    <a:pt x="3243" y="14788"/>
                    <a:pt x="9015" y="9015"/>
                  </a:cubicBezTo>
                  <a:cubicBezTo>
                    <a:pt x="14788" y="3243"/>
                    <a:pt x="22617" y="0"/>
                    <a:pt x="30780" y="0"/>
                  </a:cubicBezTo>
                  <a:close/>
                </a:path>
              </a:pathLst>
            </a:custGeom>
            <a:solidFill>
              <a:srgbClr val="02262B"/>
            </a:solidFill>
            <a:ln w="9525" cap="rnd">
              <a:gradFill>
                <a:gsLst>
                  <a:gs pos="0">
                    <a:srgbClr val="C5DFFF">
                      <a:alpha val="0"/>
                    </a:srgbClr>
                  </a:gs>
                  <a:gs pos="50000">
                    <a:srgbClr val="C5DFFF">
                      <a:alpha val="33000"/>
                    </a:srgbClr>
                  </a:gs>
                  <a:gs pos="100000">
                    <a:srgbClr val="C5DFFF">
                      <a:alpha val="465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2560803" cy="8739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21863" y="2012100"/>
            <a:ext cx="8551787" cy="5780444"/>
            <a:chOff x="0" y="0"/>
            <a:chExt cx="2560803" cy="17309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60803" cy="1730934"/>
            </a:xfrm>
            <a:custGeom>
              <a:avLst/>
              <a:gdLst/>
              <a:ahLst/>
              <a:cxnLst/>
              <a:rect r="r" b="b" t="t" l="l"/>
              <a:pathLst>
                <a:path h="1730934" w="2560803">
                  <a:moveTo>
                    <a:pt x="30780" y="0"/>
                  </a:moveTo>
                  <a:lnTo>
                    <a:pt x="2530023" y="0"/>
                  </a:lnTo>
                  <a:cubicBezTo>
                    <a:pt x="2547023" y="0"/>
                    <a:pt x="2560803" y="13781"/>
                    <a:pt x="2560803" y="30780"/>
                  </a:cubicBezTo>
                  <a:lnTo>
                    <a:pt x="2560803" y="1700154"/>
                  </a:lnTo>
                  <a:cubicBezTo>
                    <a:pt x="2560803" y="1708317"/>
                    <a:pt x="2557561" y="1716146"/>
                    <a:pt x="2551788" y="1721919"/>
                  </a:cubicBezTo>
                  <a:cubicBezTo>
                    <a:pt x="2546016" y="1727691"/>
                    <a:pt x="2538187" y="1730934"/>
                    <a:pt x="2530023" y="1730934"/>
                  </a:cubicBezTo>
                  <a:lnTo>
                    <a:pt x="30780" y="1730934"/>
                  </a:lnTo>
                  <a:cubicBezTo>
                    <a:pt x="13781" y="1730934"/>
                    <a:pt x="0" y="1717153"/>
                    <a:pt x="0" y="1700154"/>
                  </a:cubicBezTo>
                  <a:lnTo>
                    <a:pt x="0" y="30780"/>
                  </a:lnTo>
                  <a:cubicBezTo>
                    <a:pt x="0" y="22617"/>
                    <a:pt x="3243" y="14788"/>
                    <a:pt x="9015" y="9015"/>
                  </a:cubicBezTo>
                  <a:cubicBezTo>
                    <a:pt x="14788" y="3243"/>
                    <a:pt x="22617" y="0"/>
                    <a:pt x="30780" y="0"/>
                  </a:cubicBezTo>
                  <a:close/>
                </a:path>
              </a:pathLst>
            </a:custGeom>
            <a:solidFill>
              <a:srgbClr val="02262B"/>
            </a:solidFill>
            <a:ln w="9525" cap="rnd">
              <a:gradFill>
                <a:gsLst>
                  <a:gs pos="0">
                    <a:srgbClr val="C5DFFF">
                      <a:alpha val="0"/>
                    </a:srgbClr>
                  </a:gs>
                  <a:gs pos="50000">
                    <a:srgbClr val="C5DFFF">
                      <a:alpha val="33000"/>
                    </a:srgbClr>
                  </a:gs>
                  <a:gs pos="100000">
                    <a:srgbClr val="C5DFFF">
                      <a:alpha val="465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2560803" cy="1807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14350" y="7920958"/>
            <a:ext cx="17181437" cy="2174320"/>
            <a:chOff x="0" y="0"/>
            <a:chExt cx="5144923" cy="6510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44922" cy="651093"/>
            </a:xfrm>
            <a:custGeom>
              <a:avLst/>
              <a:gdLst/>
              <a:ahLst/>
              <a:cxnLst/>
              <a:rect r="r" b="b" t="t" l="l"/>
              <a:pathLst>
                <a:path h="651093" w="5144922">
                  <a:moveTo>
                    <a:pt x="15320" y="0"/>
                  </a:moveTo>
                  <a:lnTo>
                    <a:pt x="5129602" y="0"/>
                  </a:lnTo>
                  <a:cubicBezTo>
                    <a:pt x="5133665" y="0"/>
                    <a:pt x="5137562" y="1614"/>
                    <a:pt x="5140435" y="4487"/>
                  </a:cubicBezTo>
                  <a:cubicBezTo>
                    <a:pt x="5143308" y="7360"/>
                    <a:pt x="5144922" y="11257"/>
                    <a:pt x="5144922" y="15320"/>
                  </a:cubicBezTo>
                  <a:lnTo>
                    <a:pt x="5144922" y="635772"/>
                  </a:lnTo>
                  <a:cubicBezTo>
                    <a:pt x="5144922" y="639836"/>
                    <a:pt x="5143308" y="643732"/>
                    <a:pt x="5140435" y="646605"/>
                  </a:cubicBezTo>
                  <a:cubicBezTo>
                    <a:pt x="5137562" y="649479"/>
                    <a:pt x="5133665" y="651093"/>
                    <a:pt x="5129602" y="651093"/>
                  </a:cubicBezTo>
                  <a:lnTo>
                    <a:pt x="15320" y="651093"/>
                  </a:lnTo>
                  <a:cubicBezTo>
                    <a:pt x="11257" y="651093"/>
                    <a:pt x="7360" y="649479"/>
                    <a:pt x="4487" y="646605"/>
                  </a:cubicBezTo>
                  <a:cubicBezTo>
                    <a:pt x="1614" y="643732"/>
                    <a:pt x="0" y="639836"/>
                    <a:pt x="0" y="635772"/>
                  </a:cubicBezTo>
                  <a:lnTo>
                    <a:pt x="0" y="15320"/>
                  </a:lnTo>
                  <a:cubicBezTo>
                    <a:pt x="0" y="11257"/>
                    <a:pt x="1614" y="7360"/>
                    <a:pt x="4487" y="4487"/>
                  </a:cubicBezTo>
                  <a:cubicBezTo>
                    <a:pt x="7360" y="1614"/>
                    <a:pt x="11257" y="0"/>
                    <a:pt x="15320" y="0"/>
                  </a:cubicBezTo>
                  <a:close/>
                </a:path>
              </a:pathLst>
            </a:custGeom>
            <a:solidFill>
              <a:srgbClr val="02262B"/>
            </a:solidFill>
            <a:ln w="9525" cap="rnd">
              <a:gradFill>
                <a:gsLst>
                  <a:gs pos="0">
                    <a:srgbClr val="C5DFFF">
                      <a:alpha val="0"/>
                    </a:srgbClr>
                  </a:gs>
                  <a:gs pos="50000">
                    <a:srgbClr val="C5DFFF">
                      <a:alpha val="33000"/>
                    </a:srgbClr>
                  </a:gs>
                  <a:gs pos="100000">
                    <a:srgbClr val="C5DFFF">
                      <a:alpha val="465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5144923" cy="727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40035" y="2743374"/>
            <a:ext cx="7500418" cy="1993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0"/>
              </a:lnSpc>
            </a:pPr>
            <a:r>
              <a:rPr lang="en-US" sz="2000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→ Experiência</a:t>
            </a:r>
          </a:p>
          <a:p>
            <a:pPr algn="l">
              <a:lnSpc>
                <a:spcPts val="268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Linha do tempo Orcali (História).</a:t>
            </a:r>
          </a:p>
          <a:p>
            <a:pPr algn="l">
              <a:lnSpc>
                <a:spcPts val="268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58 anos movimentando operações em Santa Catarina e Paraná.</a:t>
            </a:r>
          </a:p>
          <a:p>
            <a:pPr algn="l">
              <a:lnSpc>
                <a:spcPts val="268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+ 1500 clientes.</a:t>
            </a:r>
          </a:p>
          <a:p>
            <a:pPr algn="l">
              <a:lnSpc>
                <a:spcPts val="268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Clientes com 20 anos de sucesso.</a:t>
            </a:r>
          </a:p>
          <a:p>
            <a:pPr algn="l">
              <a:lnSpc>
                <a:spcPts val="268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 mil colaboradores.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24998" y="5850170"/>
            <a:ext cx="3048000" cy="132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0"/>
              </a:lnSpc>
            </a:pPr>
            <a:r>
              <a:rPr lang="en-US" sz="2000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→ Humanização</a:t>
            </a:r>
          </a:p>
          <a:p>
            <a:pPr algn="l">
              <a:lnSpc>
                <a:spcPts val="268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Rituais.</a:t>
            </a:r>
          </a:p>
          <a:p>
            <a:pPr algn="l">
              <a:lnSpc>
                <a:spcPts val="268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Rotina dos colaboradores.</a:t>
            </a:r>
          </a:p>
          <a:p>
            <a:pPr algn="l">
              <a:lnSpc>
                <a:spcPts val="268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Histórias de crescimento.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62823" y="6207631"/>
            <a:ext cx="3189208" cy="99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Benefícios oferecidos.</a:t>
            </a:r>
          </a:p>
          <a:p>
            <a:pPr algn="l">
              <a:lnSpc>
                <a:spcPts val="268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Reconhecimentos internos.</a:t>
            </a:r>
          </a:p>
          <a:p>
            <a:pPr algn="l">
              <a:lnSpc>
                <a:spcPts val="268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Treinamentos.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24998" y="3148140"/>
            <a:ext cx="7634302" cy="2186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0"/>
              </a:lnSpc>
            </a:pPr>
            <a:r>
              <a:rPr lang="en-US" sz="2000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→ Na Linha de Frente</a:t>
            </a:r>
          </a:p>
          <a:p>
            <a:pPr algn="l">
              <a:lnSpc>
                <a:spcPts val="268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Dar voz aos colaboradores que estão na operação para mostrar que excelência está nos detalhes:</a:t>
            </a:r>
          </a:p>
          <a:p>
            <a:pPr algn="l">
              <a:lnSpc>
                <a:spcPts val="2680"/>
              </a:lnSpc>
            </a:pPr>
          </a:p>
          <a:p>
            <a:pPr algn="l">
              <a:lnSpc>
                <a:spcPts val="2278"/>
              </a:lnSpc>
            </a:pPr>
            <a:r>
              <a:rPr lang="en-US" sz="17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"O que faz uma limpeza ser realmente bem feita?"</a:t>
            </a:r>
          </a:p>
          <a:p>
            <a:pPr algn="l">
              <a:lnSpc>
                <a:spcPts val="2278"/>
              </a:lnSpc>
            </a:pPr>
            <a:r>
              <a:rPr lang="en-US" sz="17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"O que um vigilante observa antes que qualquer problema aconteça?"</a:t>
            </a:r>
          </a:p>
          <a:p>
            <a:pPr algn="l">
              <a:lnSpc>
                <a:spcPts val="2278"/>
              </a:lnSpc>
            </a:pPr>
            <a:r>
              <a:rPr lang="en-US" sz="17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"Qual detalhe faz a diferença na recepção de um visitante?"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0035" y="9056553"/>
            <a:ext cx="5028009" cy="65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Gestão de riscos e Planos de contingência.</a:t>
            </a:r>
          </a:p>
          <a:p>
            <a:pPr algn="l">
              <a:lnSpc>
                <a:spcPts val="268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Como funciona a cobertura de faltas.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62520" y="9056553"/>
            <a:ext cx="4718685" cy="65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Eficiência operacional.</a:t>
            </a:r>
          </a:p>
          <a:p>
            <a:pPr algn="l">
              <a:lnSpc>
                <a:spcPts val="268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Dores, medos e objetivos das personas.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24155" y="9047028"/>
            <a:ext cx="4740831" cy="65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Curiosidades e dados sobres os nichos.</a:t>
            </a:r>
          </a:p>
          <a:p>
            <a:pPr algn="l">
              <a:lnSpc>
                <a:spcPts val="268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FAQs - dúvidas frequentes dos clientes.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6177808"/>
            <a:ext cx="1959531" cy="132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0"/>
              </a:lnSpc>
            </a:pPr>
            <a:r>
              <a:rPr lang="en-US" sz="2000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→ Governança</a:t>
            </a:r>
          </a:p>
          <a:p>
            <a:pPr algn="l">
              <a:lnSpc>
                <a:spcPts val="268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Nossos serviços;</a:t>
            </a:r>
          </a:p>
          <a:p>
            <a:pPr algn="l">
              <a:lnSpc>
                <a:spcPts val="268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Certificações.</a:t>
            </a:r>
          </a:p>
          <a:p>
            <a:pPr algn="l">
              <a:lnSpc>
                <a:spcPts val="268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Compliance.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86592" y="6511183"/>
            <a:ext cx="3836908" cy="99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Modelos operacionais (nicho).</a:t>
            </a:r>
          </a:p>
          <a:p>
            <a:pPr algn="l">
              <a:lnSpc>
                <a:spcPts val="268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Gestão operacional e processos.</a:t>
            </a:r>
          </a:p>
          <a:p>
            <a:pPr algn="l">
              <a:lnSpc>
                <a:spcPts val="268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Tecnologias.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4107" y="2235089"/>
            <a:ext cx="3257788" cy="470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3484" spc="-111">
                <a:solidFill>
                  <a:srgbClr val="B0F641"/>
                </a:solidFill>
                <a:latin typeface="DM Sans"/>
                <a:ea typeface="DM Sans"/>
                <a:cs typeface="DM Sans"/>
                <a:sym typeface="DM Sans"/>
              </a:rPr>
              <a:t>Pilar 1: </a:t>
            </a:r>
            <a:r>
              <a:rPr lang="en-US" sz="3484" spc="-11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Reputação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0035" y="5450447"/>
            <a:ext cx="3449360" cy="470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3484" spc="-111">
                <a:solidFill>
                  <a:srgbClr val="B0F641"/>
                </a:solidFill>
                <a:latin typeface="DM Sans"/>
                <a:ea typeface="DM Sans"/>
                <a:cs typeface="DM Sans"/>
                <a:sym typeface="DM Sans"/>
              </a:rPr>
              <a:t>Pilar 2: </a:t>
            </a:r>
            <a:r>
              <a:rPr lang="en-US" sz="3484" spc="-11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Autoridade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24998" y="2467852"/>
            <a:ext cx="2876769" cy="470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3484" spc="-111">
                <a:solidFill>
                  <a:srgbClr val="B0F641"/>
                </a:solidFill>
                <a:latin typeface="DM Sans"/>
                <a:ea typeface="DM Sans"/>
                <a:cs typeface="DM Sans"/>
                <a:sym typeface="DM Sans"/>
              </a:rPr>
              <a:t>Pilar 4: </a:t>
            </a:r>
            <a:r>
              <a:rPr lang="en-US" sz="3484" spc="-11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Cultura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17485" y="1506060"/>
            <a:ext cx="1796821" cy="498466"/>
            <a:chOff x="0" y="0"/>
            <a:chExt cx="2395761" cy="664621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2395761" cy="664621"/>
              <a:chOff x="0" y="0"/>
              <a:chExt cx="913237" cy="253346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913237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913237">
                    <a:moveTo>
                      <a:pt x="126673" y="0"/>
                    </a:moveTo>
                    <a:lnTo>
                      <a:pt x="786564" y="0"/>
                    </a:lnTo>
                    <a:cubicBezTo>
                      <a:pt x="820160" y="0"/>
                      <a:pt x="852380" y="13346"/>
                      <a:pt x="876136" y="37102"/>
                    </a:cubicBezTo>
                    <a:cubicBezTo>
                      <a:pt x="899891" y="60857"/>
                      <a:pt x="913237" y="93077"/>
                      <a:pt x="913237" y="126673"/>
                    </a:cubicBezTo>
                    <a:lnTo>
                      <a:pt x="913237" y="126673"/>
                    </a:lnTo>
                    <a:cubicBezTo>
                      <a:pt x="913237" y="160269"/>
                      <a:pt x="899891" y="192489"/>
                      <a:pt x="876136" y="216244"/>
                    </a:cubicBezTo>
                    <a:cubicBezTo>
                      <a:pt x="852380" y="240000"/>
                      <a:pt x="820160" y="253346"/>
                      <a:pt x="786564" y="253346"/>
                    </a:cubicBezTo>
                    <a:lnTo>
                      <a:pt x="126673" y="253346"/>
                    </a:lnTo>
                    <a:cubicBezTo>
                      <a:pt x="93077" y="253346"/>
                      <a:pt x="60857" y="240000"/>
                      <a:pt x="37102" y="216244"/>
                    </a:cubicBezTo>
                    <a:cubicBezTo>
                      <a:pt x="13346" y="192489"/>
                      <a:pt x="0" y="160269"/>
                      <a:pt x="0" y="126673"/>
                    </a:cubicBezTo>
                    <a:lnTo>
                      <a:pt x="0" y="126673"/>
                    </a:lnTo>
                    <a:cubicBezTo>
                      <a:pt x="0" y="93077"/>
                      <a:pt x="13346" y="60857"/>
                      <a:pt x="37102" y="37102"/>
                    </a:cubicBezTo>
                    <a:cubicBezTo>
                      <a:pt x="60857" y="13346"/>
                      <a:pt x="93077" y="0"/>
                      <a:pt x="126673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47625"/>
                <a:ext cx="913237" cy="300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Freeform 31" id="31"/>
            <p:cNvSpPr/>
            <p:nvPr/>
          </p:nvSpPr>
          <p:spPr>
            <a:xfrm flipH="false" flipV="false" rot="8100000">
              <a:off x="177610" y="188706"/>
              <a:ext cx="244441" cy="282727"/>
            </a:xfrm>
            <a:custGeom>
              <a:avLst/>
              <a:gdLst/>
              <a:ahLst/>
              <a:cxnLst/>
              <a:rect r="r" b="b" t="t" l="l"/>
              <a:pathLst>
                <a:path h="282727" w="244441">
                  <a:moveTo>
                    <a:pt x="0" y="0"/>
                  </a:moveTo>
                  <a:lnTo>
                    <a:pt x="244441" y="0"/>
                  </a:lnTo>
                  <a:lnTo>
                    <a:pt x="244441" y="282726"/>
                  </a:lnTo>
                  <a:lnTo>
                    <a:pt x="0" y="2827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558604" y="212153"/>
              <a:ext cx="1618210" cy="282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07"/>
                </a:lnSpc>
              </a:pPr>
              <a:r>
                <a:rPr lang="en-US" sz="1554" spc="73" b="true">
                  <a:solidFill>
                    <a:srgbClr val="031C2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Governante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643988" y="4769431"/>
            <a:ext cx="1796821" cy="498466"/>
            <a:chOff x="0" y="0"/>
            <a:chExt cx="2395761" cy="664621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2395761" cy="664621"/>
              <a:chOff x="0" y="0"/>
              <a:chExt cx="913237" cy="253346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913237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913237">
                    <a:moveTo>
                      <a:pt x="126673" y="0"/>
                    </a:moveTo>
                    <a:lnTo>
                      <a:pt x="786564" y="0"/>
                    </a:lnTo>
                    <a:cubicBezTo>
                      <a:pt x="820160" y="0"/>
                      <a:pt x="852380" y="13346"/>
                      <a:pt x="876136" y="37102"/>
                    </a:cubicBezTo>
                    <a:cubicBezTo>
                      <a:pt x="899891" y="60857"/>
                      <a:pt x="913237" y="93077"/>
                      <a:pt x="913237" y="126673"/>
                    </a:cubicBezTo>
                    <a:lnTo>
                      <a:pt x="913237" y="126673"/>
                    </a:lnTo>
                    <a:cubicBezTo>
                      <a:pt x="913237" y="160269"/>
                      <a:pt x="899891" y="192489"/>
                      <a:pt x="876136" y="216244"/>
                    </a:cubicBezTo>
                    <a:cubicBezTo>
                      <a:pt x="852380" y="240000"/>
                      <a:pt x="820160" y="253346"/>
                      <a:pt x="786564" y="253346"/>
                    </a:cubicBezTo>
                    <a:lnTo>
                      <a:pt x="126673" y="253346"/>
                    </a:lnTo>
                    <a:cubicBezTo>
                      <a:pt x="93077" y="253346"/>
                      <a:pt x="60857" y="240000"/>
                      <a:pt x="37102" y="216244"/>
                    </a:cubicBezTo>
                    <a:cubicBezTo>
                      <a:pt x="13346" y="192489"/>
                      <a:pt x="0" y="160269"/>
                      <a:pt x="0" y="126673"/>
                    </a:cubicBezTo>
                    <a:lnTo>
                      <a:pt x="0" y="126673"/>
                    </a:lnTo>
                    <a:cubicBezTo>
                      <a:pt x="0" y="93077"/>
                      <a:pt x="13346" y="60857"/>
                      <a:pt x="37102" y="37102"/>
                    </a:cubicBezTo>
                    <a:cubicBezTo>
                      <a:pt x="60857" y="13346"/>
                      <a:pt x="93077" y="0"/>
                      <a:pt x="126673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47625"/>
                <a:ext cx="913237" cy="300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Freeform 37" id="37"/>
            <p:cNvSpPr/>
            <p:nvPr/>
          </p:nvSpPr>
          <p:spPr>
            <a:xfrm flipH="false" flipV="false" rot="8100000">
              <a:off x="177610" y="188706"/>
              <a:ext cx="244441" cy="282727"/>
            </a:xfrm>
            <a:custGeom>
              <a:avLst/>
              <a:gdLst/>
              <a:ahLst/>
              <a:cxnLst/>
              <a:rect r="r" b="b" t="t" l="l"/>
              <a:pathLst>
                <a:path h="282727" w="244441">
                  <a:moveTo>
                    <a:pt x="0" y="0"/>
                  </a:moveTo>
                  <a:lnTo>
                    <a:pt x="244441" y="0"/>
                  </a:lnTo>
                  <a:lnTo>
                    <a:pt x="244441" y="282726"/>
                  </a:lnTo>
                  <a:lnTo>
                    <a:pt x="0" y="2827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 rot="0">
              <a:off x="558604" y="212153"/>
              <a:ext cx="1618210" cy="282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07"/>
                </a:lnSpc>
              </a:pPr>
              <a:r>
                <a:rPr lang="en-US" sz="1554" spc="73" b="true">
                  <a:solidFill>
                    <a:srgbClr val="031C2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Governante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828177" y="7538376"/>
            <a:ext cx="3235206" cy="498466"/>
            <a:chOff x="0" y="0"/>
            <a:chExt cx="1644299" cy="25334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644299" cy="253346"/>
            </a:xfrm>
            <a:custGeom>
              <a:avLst/>
              <a:gdLst/>
              <a:ahLst/>
              <a:cxnLst/>
              <a:rect r="r" b="b" t="t" l="l"/>
              <a:pathLst>
                <a:path h="253346" w="1644299">
                  <a:moveTo>
                    <a:pt x="126673" y="0"/>
                  </a:moveTo>
                  <a:lnTo>
                    <a:pt x="1517626" y="0"/>
                  </a:lnTo>
                  <a:cubicBezTo>
                    <a:pt x="1587585" y="0"/>
                    <a:pt x="1644299" y="56713"/>
                    <a:pt x="1644299" y="126673"/>
                  </a:cubicBezTo>
                  <a:lnTo>
                    <a:pt x="1644299" y="126673"/>
                  </a:lnTo>
                  <a:cubicBezTo>
                    <a:pt x="1644299" y="160269"/>
                    <a:pt x="1630953" y="192489"/>
                    <a:pt x="1607197" y="216244"/>
                  </a:cubicBezTo>
                  <a:cubicBezTo>
                    <a:pt x="1583441" y="240000"/>
                    <a:pt x="1551222" y="253346"/>
                    <a:pt x="1517626" y="253346"/>
                  </a:cubicBezTo>
                  <a:lnTo>
                    <a:pt x="126673" y="253346"/>
                  </a:lnTo>
                  <a:cubicBezTo>
                    <a:pt x="93077" y="253346"/>
                    <a:pt x="60857" y="240000"/>
                    <a:pt x="37102" y="216244"/>
                  </a:cubicBezTo>
                  <a:cubicBezTo>
                    <a:pt x="13346" y="192489"/>
                    <a:pt x="0" y="160269"/>
                    <a:pt x="0" y="126673"/>
                  </a:cubicBezTo>
                  <a:lnTo>
                    <a:pt x="0" y="126673"/>
                  </a:lnTo>
                  <a:cubicBezTo>
                    <a:pt x="0" y="93077"/>
                    <a:pt x="13346" y="60857"/>
                    <a:pt x="37102" y="37102"/>
                  </a:cubicBezTo>
                  <a:cubicBezTo>
                    <a:pt x="60857" y="13346"/>
                    <a:pt x="93077" y="0"/>
                    <a:pt x="1266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  <a:ln w="9525" cap="rnd">
              <a:gradFill>
                <a:gsLst>
                  <a:gs pos="0">
                    <a:srgbClr val="C5DFFF">
                      <a:alpha val="33000"/>
                    </a:srgbClr>
                  </a:gs>
                  <a:gs pos="50000">
                    <a:srgbClr val="C5DFFF">
                      <a:alpha val="46500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644299" cy="300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8100000">
            <a:off x="7961384" y="7679905"/>
            <a:ext cx="183331" cy="212045"/>
          </a:xfrm>
          <a:custGeom>
            <a:avLst/>
            <a:gdLst/>
            <a:ahLst/>
            <a:cxnLst/>
            <a:rect r="r" b="b" t="t" l="l"/>
            <a:pathLst>
              <a:path h="212045" w="183331">
                <a:moveTo>
                  <a:pt x="0" y="0"/>
                </a:moveTo>
                <a:lnTo>
                  <a:pt x="183331" y="0"/>
                </a:lnTo>
                <a:lnTo>
                  <a:pt x="183331" y="212045"/>
                </a:lnTo>
                <a:lnTo>
                  <a:pt x="0" y="21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8247130" y="7704634"/>
            <a:ext cx="2516531" cy="204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7"/>
              </a:lnSpc>
            </a:pPr>
            <a:r>
              <a:rPr lang="en-US" sz="1554" spc="73" b="true">
                <a:solidFill>
                  <a:srgbClr val="031C22"/>
                </a:solidFill>
                <a:latin typeface="DM Sans Bold"/>
                <a:ea typeface="DM Sans Bold"/>
                <a:cs typeface="DM Sans Bold"/>
                <a:sym typeface="DM Sans Bold"/>
              </a:rPr>
              <a:t>Governante + Prestativo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624998" y="1762166"/>
            <a:ext cx="1796821" cy="498466"/>
            <a:chOff x="0" y="0"/>
            <a:chExt cx="2395761" cy="664621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2395761" cy="664621"/>
              <a:chOff x="0" y="0"/>
              <a:chExt cx="913237" cy="253346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913237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913237">
                    <a:moveTo>
                      <a:pt x="126673" y="0"/>
                    </a:moveTo>
                    <a:lnTo>
                      <a:pt x="786564" y="0"/>
                    </a:lnTo>
                    <a:cubicBezTo>
                      <a:pt x="820160" y="0"/>
                      <a:pt x="852380" y="13346"/>
                      <a:pt x="876136" y="37102"/>
                    </a:cubicBezTo>
                    <a:cubicBezTo>
                      <a:pt x="899891" y="60857"/>
                      <a:pt x="913237" y="93077"/>
                      <a:pt x="913237" y="126673"/>
                    </a:cubicBezTo>
                    <a:lnTo>
                      <a:pt x="913237" y="126673"/>
                    </a:lnTo>
                    <a:cubicBezTo>
                      <a:pt x="913237" y="160269"/>
                      <a:pt x="899891" y="192489"/>
                      <a:pt x="876136" y="216244"/>
                    </a:cubicBezTo>
                    <a:cubicBezTo>
                      <a:pt x="852380" y="240000"/>
                      <a:pt x="820160" y="253346"/>
                      <a:pt x="786564" y="253346"/>
                    </a:cubicBezTo>
                    <a:lnTo>
                      <a:pt x="126673" y="253346"/>
                    </a:lnTo>
                    <a:cubicBezTo>
                      <a:pt x="93077" y="253346"/>
                      <a:pt x="60857" y="240000"/>
                      <a:pt x="37102" y="216244"/>
                    </a:cubicBezTo>
                    <a:cubicBezTo>
                      <a:pt x="13346" y="192489"/>
                      <a:pt x="0" y="160269"/>
                      <a:pt x="0" y="126673"/>
                    </a:cubicBezTo>
                    <a:lnTo>
                      <a:pt x="0" y="126673"/>
                    </a:lnTo>
                    <a:cubicBezTo>
                      <a:pt x="0" y="93077"/>
                      <a:pt x="13346" y="60857"/>
                      <a:pt x="37102" y="37102"/>
                    </a:cubicBezTo>
                    <a:cubicBezTo>
                      <a:pt x="60857" y="13346"/>
                      <a:pt x="93077" y="0"/>
                      <a:pt x="126673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47625"/>
                <a:ext cx="913237" cy="300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Freeform 48" id="48"/>
            <p:cNvSpPr/>
            <p:nvPr/>
          </p:nvSpPr>
          <p:spPr>
            <a:xfrm flipH="false" flipV="false" rot="8100000">
              <a:off x="177610" y="188706"/>
              <a:ext cx="244441" cy="282727"/>
            </a:xfrm>
            <a:custGeom>
              <a:avLst/>
              <a:gdLst/>
              <a:ahLst/>
              <a:cxnLst/>
              <a:rect r="r" b="b" t="t" l="l"/>
              <a:pathLst>
                <a:path h="282727" w="244441">
                  <a:moveTo>
                    <a:pt x="0" y="0"/>
                  </a:moveTo>
                  <a:lnTo>
                    <a:pt x="244441" y="0"/>
                  </a:lnTo>
                  <a:lnTo>
                    <a:pt x="244441" y="282726"/>
                  </a:lnTo>
                  <a:lnTo>
                    <a:pt x="0" y="2827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 rot="0">
              <a:off x="558604" y="212153"/>
              <a:ext cx="1618210" cy="282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07"/>
                </a:lnSpc>
              </a:pPr>
              <a:r>
                <a:rPr lang="en-US" sz="1554" spc="73" b="true">
                  <a:solidFill>
                    <a:srgbClr val="031C2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Prestativo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040035" y="8235283"/>
            <a:ext cx="7134344" cy="470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3484" spc="-111">
                <a:solidFill>
                  <a:srgbClr val="B0F641"/>
                </a:solidFill>
                <a:latin typeface="DM Sans"/>
                <a:ea typeface="DM Sans"/>
                <a:cs typeface="DM Sans"/>
                <a:sym typeface="DM Sans"/>
              </a:rPr>
              <a:t>Pilar 3: </a:t>
            </a:r>
            <a:r>
              <a:rPr lang="en-US" sz="3484" spc="-11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Resoluções de problemas (RP)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60B">
                <a:alpha val="100000"/>
              </a:srgbClr>
            </a:gs>
            <a:gs pos="100000">
              <a:srgbClr val="02313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90840" y="555533"/>
            <a:ext cx="7706320" cy="94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1"/>
              </a:lnSpc>
            </a:pPr>
            <a:r>
              <a:rPr lang="en-US" sz="6264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Poppins Light"/>
                <a:ea typeface="Poppins Light"/>
                <a:cs typeface="Poppins Light"/>
                <a:sym typeface="Poppins Light"/>
              </a:rPr>
              <a:t>Calendário Editorial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29431" y="2116004"/>
            <a:ext cx="8360180" cy="7941885"/>
            <a:chOff x="0" y="0"/>
            <a:chExt cx="2503427" cy="23781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03427" cy="2378170"/>
            </a:xfrm>
            <a:custGeom>
              <a:avLst/>
              <a:gdLst/>
              <a:ahLst/>
              <a:cxnLst/>
              <a:rect r="r" b="b" t="t" l="l"/>
              <a:pathLst>
                <a:path h="2378170" w="2503427">
                  <a:moveTo>
                    <a:pt x="31486" y="0"/>
                  </a:moveTo>
                  <a:lnTo>
                    <a:pt x="2471941" y="0"/>
                  </a:lnTo>
                  <a:cubicBezTo>
                    <a:pt x="2480292" y="0"/>
                    <a:pt x="2488300" y="3317"/>
                    <a:pt x="2494205" y="9222"/>
                  </a:cubicBezTo>
                  <a:cubicBezTo>
                    <a:pt x="2500110" y="15127"/>
                    <a:pt x="2503427" y="23135"/>
                    <a:pt x="2503427" y="31486"/>
                  </a:cubicBezTo>
                  <a:lnTo>
                    <a:pt x="2503427" y="2346685"/>
                  </a:lnTo>
                  <a:cubicBezTo>
                    <a:pt x="2503427" y="2364074"/>
                    <a:pt x="2489330" y="2378170"/>
                    <a:pt x="2471941" y="2378170"/>
                  </a:cubicBezTo>
                  <a:lnTo>
                    <a:pt x="31486" y="2378170"/>
                  </a:lnTo>
                  <a:cubicBezTo>
                    <a:pt x="23135" y="2378170"/>
                    <a:pt x="15127" y="2374853"/>
                    <a:pt x="9222" y="2368948"/>
                  </a:cubicBezTo>
                  <a:cubicBezTo>
                    <a:pt x="3317" y="2363044"/>
                    <a:pt x="0" y="2355035"/>
                    <a:pt x="0" y="2346685"/>
                  </a:cubicBezTo>
                  <a:lnTo>
                    <a:pt x="0" y="31486"/>
                  </a:lnTo>
                  <a:cubicBezTo>
                    <a:pt x="0" y="23135"/>
                    <a:pt x="3317" y="15127"/>
                    <a:pt x="9222" y="9222"/>
                  </a:cubicBezTo>
                  <a:cubicBezTo>
                    <a:pt x="15127" y="3317"/>
                    <a:pt x="23135" y="0"/>
                    <a:pt x="31486" y="0"/>
                  </a:cubicBezTo>
                  <a:close/>
                </a:path>
              </a:pathLst>
            </a:custGeom>
            <a:solidFill>
              <a:srgbClr val="02262B"/>
            </a:solidFill>
            <a:ln w="9525" cap="rnd">
              <a:gradFill>
                <a:gsLst>
                  <a:gs pos="0">
                    <a:srgbClr val="C5DFFF">
                      <a:alpha val="0"/>
                    </a:srgbClr>
                  </a:gs>
                  <a:gs pos="50000">
                    <a:srgbClr val="C5DFFF">
                      <a:alpha val="33000"/>
                    </a:srgbClr>
                  </a:gs>
                  <a:gs pos="100000">
                    <a:srgbClr val="C5DFFF">
                      <a:alpha val="465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2503427" cy="2454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21575" y="2116004"/>
            <a:ext cx="8137725" cy="6023989"/>
            <a:chOff x="0" y="0"/>
            <a:chExt cx="2436814" cy="18038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6814" cy="1803863"/>
            </a:xfrm>
            <a:custGeom>
              <a:avLst/>
              <a:gdLst/>
              <a:ahLst/>
              <a:cxnLst/>
              <a:rect r="r" b="b" t="t" l="l"/>
              <a:pathLst>
                <a:path h="1803863" w="2436814">
                  <a:moveTo>
                    <a:pt x="32346" y="0"/>
                  </a:moveTo>
                  <a:lnTo>
                    <a:pt x="2404468" y="0"/>
                  </a:lnTo>
                  <a:cubicBezTo>
                    <a:pt x="2422332" y="0"/>
                    <a:pt x="2436814" y="14482"/>
                    <a:pt x="2436814" y="32346"/>
                  </a:cubicBezTo>
                  <a:lnTo>
                    <a:pt x="2436814" y="1771516"/>
                  </a:lnTo>
                  <a:cubicBezTo>
                    <a:pt x="2436814" y="1780095"/>
                    <a:pt x="2433406" y="1788323"/>
                    <a:pt x="2427340" y="1794389"/>
                  </a:cubicBezTo>
                  <a:cubicBezTo>
                    <a:pt x="2421274" y="1800455"/>
                    <a:pt x="2413046" y="1803863"/>
                    <a:pt x="2404468" y="1803863"/>
                  </a:cubicBezTo>
                  <a:lnTo>
                    <a:pt x="32346" y="1803863"/>
                  </a:lnTo>
                  <a:cubicBezTo>
                    <a:pt x="14482" y="1803863"/>
                    <a:pt x="0" y="1789381"/>
                    <a:pt x="0" y="1771516"/>
                  </a:cubicBezTo>
                  <a:lnTo>
                    <a:pt x="0" y="32346"/>
                  </a:lnTo>
                  <a:cubicBezTo>
                    <a:pt x="0" y="14482"/>
                    <a:pt x="14482" y="0"/>
                    <a:pt x="32346" y="0"/>
                  </a:cubicBezTo>
                  <a:close/>
                </a:path>
              </a:pathLst>
            </a:custGeom>
            <a:solidFill>
              <a:srgbClr val="02262B"/>
            </a:solidFill>
            <a:ln w="9525" cap="rnd">
              <a:gradFill>
                <a:gsLst>
                  <a:gs pos="0">
                    <a:srgbClr val="C5DFFF">
                      <a:alpha val="0"/>
                    </a:srgbClr>
                  </a:gs>
                  <a:gs pos="50000">
                    <a:srgbClr val="C5DFFF">
                      <a:alpha val="33000"/>
                    </a:srgbClr>
                  </a:gs>
                  <a:gs pos="100000">
                    <a:srgbClr val="C5DFFF">
                      <a:alpha val="465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2436814" cy="1880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2754199"/>
            <a:ext cx="7741564" cy="99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0"/>
              </a:lnSpc>
            </a:pPr>
            <a:r>
              <a:rPr lang="en-US" sz="2000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Carrossel 📌Fixado</a:t>
            </a:r>
          </a:p>
          <a:p>
            <a:pPr algn="l">
              <a:lnSpc>
                <a:spcPts val="2680"/>
              </a:lnSpc>
            </a:pPr>
            <a:r>
              <a:rPr lang="en-US" sz="2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Big Idea:</a:t>
            </a: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Quem somos</a:t>
            </a:r>
          </a:p>
          <a:p>
            <a:pPr algn="l">
              <a:lnSpc>
                <a:spcPts val="2680"/>
              </a:lnSpc>
            </a:pPr>
            <a:r>
              <a:rPr lang="en-US" sz="2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Conteúdo</a:t>
            </a: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Linha do tempo Orcali (História).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509743"/>
            <a:ext cx="5610547" cy="99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0"/>
              </a:lnSpc>
            </a:pPr>
            <a:r>
              <a:rPr lang="en-US" sz="2000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Carrossel 📌Fixado</a:t>
            </a:r>
          </a:p>
          <a:p>
            <a:pPr algn="l">
              <a:lnSpc>
                <a:spcPts val="2680"/>
              </a:lnSpc>
            </a:pPr>
            <a:r>
              <a:rPr lang="en-US" sz="2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Big Idea:</a:t>
            </a: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Certificados</a:t>
            </a:r>
          </a:p>
          <a:p>
            <a:pPr algn="l">
              <a:lnSpc>
                <a:spcPts val="2680"/>
              </a:lnSpc>
            </a:pPr>
            <a:r>
              <a:rPr lang="en-US" sz="2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Conteúdo</a:t>
            </a: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: Nossos certificados</a:t>
            </a: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813478"/>
            <a:ext cx="4899670" cy="132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0"/>
              </a:lnSpc>
            </a:pPr>
            <a:r>
              <a:rPr lang="en-US" sz="2000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Story 📌Destaque</a:t>
            </a:r>
          </a:p>
          <a:p>
            <a:pPr algn="l">
              <a:lnSpc>
                <a:spcPts val="2680"/>
              </a:lnSpc>
            </a:pPr>
            <a:r>
              <a:rPr lang="en-US" sz="2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Big Idea:</a:t>
            </a: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Nossos serviços</a:t>
            </a:r>
          </a:p>
          <a:p>
            <a:pPr algn="l">
              <a:lnSpc>
                <a:spcPts val="2680"/>
              </a:lnSpc>
            </a:pPr>
            <a:r>
              <a:rPr lang="en-US" sz="2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Conteúdo: </a:t>
            </a: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Nossos serviços</a:t>
            </a:r>
          </a:p>
          <a:p>
            <a:pPr algn="l">
              <a:lnSpc>
                <a:spcPts val="268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página para cada um</a:t>
            </a: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81705" y="5773983"/>
            <a:ext cx="6967471" cy="1993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0"/>
              </a:lnSpc>
            </a:pPr>
            <a:r>
              <a:rPr lang="en-US" sz="2000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Carrossel</a:t>
            </a:r>
          </a:p>
          <a:p>
            <a:pPr algn="l">
              <a:lnSpc>
                <a:spcPts val="2680"/>
              </a:lnSpc>
            </a:pPr>
            <a:r>
              <a:rPr lang="en-US" sz="2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Big Idea:</a:t>
            </a: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Nossa seleção camisa 10</a:t>
            </a:r>
          </a:p>
          <a:p>
            <a:pPr algn="l">
              <a:lnSpc>
                <a:spcPts val="2680"/>
              </a:lnSpc>
            </a:pPr>
            <a:r>
              <a:rPr lang="en-US" sz="2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Conteúdo: </a:t>
            </a: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Aproveitar o tema em alta de copa para mostrar os colaboradores com mais de 10 anos de casa. Podemos voltar nesse tema várias vezes. Camisa 1, Camisa 2, etc...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4117088"/>
            <a:ext cx="7662937" cy="2326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0"/>
              </a:lnSpc>
            </a:pPr>
            <a:r>
              <a:rPr lang="en-US" sz="2000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Carrossel 📌Fixado</a:t>
            </a:r>
          </a:p>
          <a:p>
            <a:pPr algn="l">
              <a:lnSpc>
                <a:spcPts val="2680"/>
              </a:lnSpc>
            </a:pPr>
            <a:r>
              <a:rPr lang="en-US" sz="2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Big Idea:</a:t>
            </a: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Quem somos</a:t>
            </a:r>
          </a:p>
          <a:p>
            <a:pPr algn="l">
              <a:lnSpc>
                <a:spcPts val="2680"/>
              </a:lnSpc>
            </a:pPr>
            <a:r>
              <a:rPr lang="en-US" sz="2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Conteúdo: </a:t>
            </a: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58 anos mov</a:t>
            </a: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imentando operações em Santa Catarina e Paraná.  + 1500 clientes.</a:t>
            </a:r>
          </a:p>
          <a:p>
            <a:pPr algn="l">
              <a:lnSpc>
                <a:spcPts val="268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Clientes com 20 anos de sucesso.</a:t>
            </a:r>
          </a:p>
          <a:p>
            <a:pPr algn="l">
              <a:lnSpc>
                <a:spcPts val="268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Outras métricas da Orcali. </a:t>
            </a:r>
          </a:p>
          <a:p>
            <a:pPr algn="l">
              <a:lnSpc>
                <a:spcPts val="268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Quantos hospitais? Quantas escolas? Quantas financeiras? etc...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95375" y="1913449"/>
            <a:ext cx="2279496" cy="545475"/>
            <a:chOff x="0" y="0"/>
            <a:chExt cx="3039328" cy="7273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3039328" cy="727300"/>
              <a:chOff x="0" y="0"/>
              <a:chExt cx="1058713" cy="25334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58713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1058713">
                    <a:moveTo>
                      <a:pt x="126673" y="0"/>
                    </a:moveTo>
                    <a:lnTo>
                      <a:pt x="932040" y="0"/>
                    </a:lnTo>
                    <a:cubicBezTo>
                      <a:pt x="1002000" y="0"/>
                      <a:pt x="1058713" y="56713"/>
                      <a:pt x="1058713" y="126673"/>
                    </a:cubicBezTo>
                    <a:lnTo>
                      <a:pt x="1058713" y="126673"/>
                    </a:lnTo>
                    <a:cubicBezTo>
                      <a:pt x="1058713" y="160269"/>
                      <a:pt x="1045367" y="192489"/>
                      <a:pt x="1021611" y="216244"/>
                    </a:cubicBezTo>
                    <a:cubicBezTo>
                      <a:pt x="997856" y="240000"/>
                      <a:pt x="965636" y="253346"/>
                      <a:pt x="932040" y="253346"/>
                    </a:cubicBezTo>
                    <a:lnTo>
                      <a:pt x="126673" y="253346"/>
                    </a:lnTo>
                    <a:cubicBezTo>
                      <a:pt x="93077" y="253346"/>
                      <a:pt x="60857" y="240000"/>
                      <a:pt x="37102" y="216244"/>
                    </a:cubicBezTo>
                    <a:cubicBezTo>
                      <a:pt x="13346" y="192489"/>
                      <a:pt x="0" y="160269"/>
                      <a:pt x="0" y="126673"/>
                    </a:cubicBezTo>
                    <a:lnTo>
                      <a:pt x="0" y="126673"/>
                    </a:lnTo>
                    <a:cubicBezTo>
                      <a:pt x="0" y="93077"/>
                      <a:pt x="13346" y="60857"/>
                      <a:pt x="37102" y="37102"/>
                    </a:cubicBezTo>
                    <a:cubicBezTo>
                      <a:pt x="60857" y="13346"/>
                      <a:pt x="93077" y="0"/>
                      <a:pt x="126673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1058713" cy="300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8100000">
              <a:off x="198168" y="206502"/>
              <a:ext cx="267494" cy="309390"/>
            </a:xfrm>
            <a:custGeom>
              <a:avLst/>
              <a:gdLst/>
              <a:ahLst/>
              <a:cxnLst/>
              <a:rect r="r" b="b" t="t" l="l"/>
              <a:pathLst>
                <a:path h="309390" w="267494">
                  <a:moveTo>
                    <a:pt x="0" y="0"/>
                  </a:moveTo>
                  <a:lnTo>
                    <a:pt x="267493" y="0"/>
                  </a:lnTo>
                  <a:lnTo>
                    <a:pt x="267493" y="309390"/>
                  </a:lnTo>
                  <a:lnTo>
                    <a:pt x="0" y="309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549625" y="128471"/>
              <a:ext cx="2128296" cy="513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3"/>
                </a:lnSpc>
              </a:pPr>
              <a:r>
                <a:rPr lang="en-US" sz="2807" b="true">
                  <a:solidFill>
                    <a:srgbClr val="031C2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Semana 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33510" y="1913449"/>
            <a:ext cx="2279496" cy="545475"/>
            <a:chOff x="0" y="0"/>
            <a:chExt cx="3039328" cy="7273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3039328" cy="727300"/>
              <a:chOff x="0" y="0"/>
              <a:chExt cx="1058713" cy="253346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058713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1058713">
                    <a:moveTo>
                      <a:pt x="126673" y="0"/>
                    </a:moveTo>
                    <a:lnTo>
                      <a:pt x="932040" y="0"/>
                    </a:lnTo>
                    <a:cubicBezTo>
                      <a:pt x="1002000" y="0"/>
                      <a:pt x="1058713" y="56713"/>
                      <a:pt x="1058713" y="126673"/>
                    </a:cubicBezTo>
                    <a:lnTo>
                      <a:pt x="1058713" y="126673"/>
                    </a:lnTo>
                    <a:cubicBezTo>
                      <a:pt x="1058713" y="160269"/>
                      <a:pt x="1045367" y="192489"/>
                      <a:pt x="1021611" y="216244"/>
                    </a:cubicBezTo>
                    <a:cubicBezTo>
                      <a:pt x="997856" y="240000"/>
                      <a:pt x="965636" y="253346"/>
                      <a:pt x="932040" y="253346"/>
                    </a:cubicBezTo>
                    <a:lnTo>
                      <a:pt x="126673" y="253346"/>
                    </a:lnTo>
                    <a:cubicBezTo>
                      <a:pt x="93077" y="253346"/>
                      <a:pt x="60857" y="240000"/>
                      <a:pt x="37102" y="216244"/>
                    </a:cubicBezTo>
                    <a:cubicBezTo>
                      <a:pt x="13346" y="192489"/>
                      <a:pt x="0" y="160269"/>
                      <a:pt x="0" y="126673"/>
                    </a:cubicBezTo>
                    <a:lnTo>
                      <a:pt x="0" y="126673"/>
                    </a:lnTo>
                    <a:cubicBezTo>
                      <a:pt x="0" y="93077"/>
                      <a:pt x="13346" y="60857"/>
                      <a:pt x="37102" y="37102"/>
                    </a:cubicBezTo>
                    <a:cubicBezTo>
                      <a:pt x="60857" y="13346"/>
                      <a:pt x="93077" y="0"/>
                      <a:pt x="126673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47625"/>
                <a:ext cx="1058713" cy="300971"/>
              </a:xfrm>
              <a:prstGeom prst="rect">
                <a:avLst/>
              </a:prstGeom>
            </p:spPr>
            <p:txBody>
              <a:bodyPr anchor="ctr" rtlCol="false" tIns="28807" lIns="28807" bIns="28807" rIns="28807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Freeform 24" id="24"/>
            <p:cNvSpPr/>
            <p:nvPr/>
          </p:nvSpPr>
          <p:spPr>
            <a:xfrm flipH="false" flipV="false" rot="8100000">
              <a:off x="198168" y="206502"/>
              <a:ext cx="267494" cy="309390"/>
            </a:xfrm>
            <a:custGeom>
              <a:avLst/>
              <a:gdLst/>
              <a:ahLst/>
              <a:cxnLst/>
              <a:rect r="r" b="b" t="t" l="l"/>
              <a:pathLst>
                <a:path h="309390" w="267494">
                  <a:moveTo>
                    <a:pt x="0" y="0"/>
                  </a:moveTo>
                  <a:lnTo>
                    <a:pt x="267493" y="0"/>
                  </a:lnTo>
                  <a:lnTo>
                    <a:pt x="267493" y="309390"/>
                  </a:lnTo>
                  <a:lnTo>
                    <a:pt x="0" y="309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549625" y="128471"/>
              <a:ext cx="2235693" cy="513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3"/>
                </a:lnSpc>
              </a:pPr>
              <a:r>
                <a:rPr lang="en-US" sz="2807" b="true">
                  <a:solidFill>
                    <a:srgbClr val="031C2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Semana 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690069" y="1951549"/>
            <a:ext cx="2408544" cy="545475"/>
            <a:chOff x="0" y="0"/>
            <a:chExt cx="3211392" cy="72730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3211392" cy="727300"/>
              <a:chOff x="0" y="0"/>
              <a:chExt cx="1118650" cy="253346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118650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1118650">
                    <a:moveTo>
                      <a:pt x="126673" y="0"/>
                    </a:moveTo>
                    <a:lnTo>
                      <a:pt x="991977" y="0"/>
                    </a:lnTo>
                    <a:cubicBezTo>
                      <a:pt x="1025573" y="0"/>
                      <a:pt x="1057792" y="13346"/>
                      <a:pt x="1081548" y="37102"/>
                    </a:cubicBezTo>
                    <a:cubicBezTo>
                      <a:pt x="1105304" y="60857"/>
                      <a:pt x="1118650" y="93077"/>
                      <a:pt x="1118650" y="126673"/>
                    </a:cubicBezTo>
                    <a:lnTo>
                      <a:pt x="1118650" y="126673"/>
                    </a:lnTo>
                    <a:cubicBezTo>
                      <a:pt x="1118650" y="160269"/>
                      <a:pt x="1105304" y="192489"/>
                      <a:pt x="1081548" y="216244"/>
                    </a:cubicBezTo>
                    <a:cubicBezTo>
                      <a:pt x="1057792" y="240000"/>
                      <a:pt x="1025573" y="253346"/>
                      <a:pt x="991977" y="253346"/>
                    </a:cubicBezTo>
                    <a:lnTo>
                      <a:pt x="126673" y="253346"/>
                    </a:lnTo>
                    <a:cubicBezTo>
                      <a:pt x="93077" y="253346"/>
                      <a:pt x="60857" y="240000"/>
                      <a:pt x="37102" y="216244"/>
                    </a:cubicBezTo>
                    <a:cubicBezTo>
                      <a:pt x="13346" y="192489"/>
                      <a:pt x="0" y="160269"/>
                      <a:pt x="0" y="126673"/>
                    </a:cubicBezTo>
                    <a:lnTo>
                      <a:pt x="0" y="126673"/>
                    </a:lnTo>
                    <a:cubicBezTo>
                      <a:pt x="0" y="93077"/>
                      <a:pt x="13346" y="60857"/>
                      <a:pt x="37102" y="37102"/>
                    </a:cubicBezTo>
                    <a:cubicBezTo>
                      <a:pt x="60857" y="13346"/>
                      <a:pt x="93077" y="0"/>
                      <a:pt x="126673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3060B">
                      <a:alpha val="100000"/>
                    </a:srgbClr>
                  </a:gs>
                  <a:gs pos="100000">
                    <a:srgbClr val="023137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47625"/>
                <a:ext cx="1118650" cy="300971"/>
              </a:xfrm>
              <a:prstGeom prst="rect">
                <a:avLst/>
              </a:prstGeom>
            </p:spPr>
            <p:txBody>
              <a:bodyPr anchor="ctr" rtlCol="false" tIns="28807" lIns="28807" bIns="28807" rIns="28807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359112" y="163396"/>
              <a:ext cx="2493169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40"/>
                </a:lnSpc>
              </a:pPr>
              <a:r>
                <a:rPr lang="en-US" sz="2000" spc="-64">
                  <a:solidFill>
                    <a:srgbClr val="B0F641"/>
                  </a:solidFill>
                  <a:latin typeface="DM Sans"/>
                  <a:ea typeface="DM Sans"/>
                  <a:cs typeface="DM Sans"/>
                  <a:sym typeface="DM Sans"/>
                </a:rPr>
                <a:t>Pilar 1: </a:t>
              </a:r>
              <a:r>
                <a:rPr lang="en-US" sz="2000" spc="-64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Reputação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169107" y="1913449"/>
            <a:ext cx="2042660" cy="545475"/>
            <a:chOff x="0" y="0"/>
            <a:chExt cx="2723547" cy="7273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2723547" cy="727300"/>
              <a:chOff x="0" y="0"/>
              <a:chExt cx="948715" cy="253346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948715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948715">
                    <a:moveTo>
                      <a:pt x="126673" y="0"/>
                    </a:moveTo>
                    <a:lnTo>
                      <a:pt x="822042" y="0"/>
                    </a:lnTo>
                    <a:cubicBezTo>
                      <a:pt x="855638" y="0"/>
                      <a:pt x="887857" y="13346"/>
                      <a:pt x="911613" y="37102"/>
                    </a:cubicBezTo>
                    <a:cubicBezTo>
                      <a:pt x="935369" y="60857"/>
                      <a:pt x="948715" y="93077"/>
                      <a:pt x="948715" y="126673"/>
                    </a:cubicBezTo>
                    <a:lnTo>
                      <a:pt x="948715" y="126673"/>
                    </a:lnTo>
                    <a:cubicBezTo>
                      <a:pt x="948715" y="160269"/>
                      <a:pt x="935369" y="192489"/>
                      <a:pt x="911613" y="216244"/>
                    </a:cubicBezTo>
                    <a:cubicBezTo>
                      <a:pt x="887857" y="240000"/>
                      <a:pt x="855638" y="253346"/>
                      <a:pt x="822042" y="253346"/>
                    </a:cubicBezTo>
                    <a:lnTo>
                      <a:pt x="126673" y="253346"/>
                    </a:lnTo>
                    <a:cubicBezTo>
                      <a:pt x="93077" y="253346"/>
                      <a:pt x="60857" y="240000"/>
                      <a:pt x="37102" y="216244"/>
                    </a:cubicBezTo>
                    <a:cubicBezTo>
                      <a:pt x="13346" y="192489"/>
                      <a:pt x="0" y="160269"/>
                      <a:pt x="0" y="126673"/>
                    </a:cubicBezTo>
                    <a:lnTo>
                      <a:pt x="0" y="126673"/>
                    </a:lnTo>
                    <a:cubicBezTo>
                      <a:pt x="0" y="93077"/>
                      <a:pt x="13346" y="60857"/>
                      <a:pt x="37102" y="37102"/>
                    </a:cubicBezTo>
                    <a:cubicBezTo>
                      <a:pt x="60857" y="13346"/>
                      <a:pt x="93077" y="0"/>
                      <a:pt x="126673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3060B">
                      <a:alpha val="100000"/>
                    </a:srgbClr>
                  </a:gs>
                  <a:gs pos="100000">
                    <a:srgbClr val="023137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47625"/>
                <a:ext cx="948715" cy="300971"/>
              </a:xfrm>
              <a:prstGeom prst="rect">
                <a:avLst/>
              </a:prstGeom>
            </p:spPr>
            <p:txBody>
              <a:bodyPr anchor="ctr" rtlCol="false" tIns="28807" lIns="28807" bIns="28807" rIns="28807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266700" y="177595"/>
              <a:ext cx="208026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40"/>
                </a:lnSpc>
              </a:pPr>
              <a:r>
                <a:rPr lang="en-US" sz="2000" spc="-64">
                  <a:solidFill>
                    <a:srgbClr val="B0F641"/>
                  </a:solidFill>
                  <a:latin typeface="DM Sans"/>
                  <a:ea typeface="DM Sans"/>
                  <a:cs typeface="DM Sans"/>
                  <a:sym typeface="DM Sans"/>
                </a:rPr>
                <a:t>Pilar 4: </a:t>
              </a:r>
              <a:r>
                <a:rPr lang="en-US" sz="2000" spc="-64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Cultura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9581705" y="2828253"/>
            <a:ext cx="6967471" cy="165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0"/>
              </a:lnSpc>
            </a:pPr>
            <a:r>
              <a:rPr lang="en-US" sz="2000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Carrossel </a:t>
            </a:r>
          </a:p>
          <a:p>
            <a:pPr algn="l">
              <a:lnSpc>
                <a:spcPts val="2680"/>
              </a:lnSpc>
            </a:pPr>
            <a:r>
              <a:rPr lang="en-US" sz="2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Big Idea:</a:t>
            </a: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A Liderança da Orcali</a:t>
            </a:r>
          </a:p>
          <a:p>
            <a:pPr algn="l">
              <a:lnSpc>
                <a:spcPts val="2680"/>
              </a:lnSpc>
            </a:pPr>
            <a:r>
              <a:rPr lang="en-US" sz="2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Conteúdo</a:t>
            </a: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: Carrossel com as fotos dos</a:t>
            </a:r>
          </a:p>
          <a:p>
            <a:pPr algn="l">
              <a:lnSpc>
                <a:spcPts val="268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gerentes/diretores de cada setor. O objetivo</a:t>
            </a:r>
          </a:p>
          <a:p>
            <a:pPr algn="l">
              <a:lnSpc>
                <a:spcPts val="268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é mostrar os setores, mas de forma humaniza.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581705" y="4663703"/>
            <a:ext cx="3693795" cy="99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0"/>
              </a:lnSpc>
            </a:pPr>
            <a:r>
              <a:rPr lang="en-US" sz="2000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Reel </a:t>
            </a:r>
          </a:p>
          <a:p>
            <a:pPr algn="l">
              <a:lnSpc>
                <a:spcPts val="2680"/>
              </a:lnSpc>
            </a:pPr>
            <a:r>
              <a:rPr lang="en-US" sz="2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Big Idea:</a:t>
            </a: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Storytelling Serviços 1 </a:t>
            </a:r>
          </a:p>
          <a:p>
            <a:pPr algn="l">
              <a:lnSpc>
                <a:spcPts val="2680"/>
              </a:lnSpc>
            </a:pPr>
            <a:r>
              <a:rPr lang="en-US" sz="2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Conteúdo</a:t>
            </a: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-US" sz="2000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  <a:hlinkClick r:id="rId4" tooltip="https://www.instagram.com/reel/DYDBuMysUfi/?igsh=MWo0MW9od2NhcTlmYw=="/>
              </a:rPr>
              <a:t>referencia</a:t>
            </a: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633510" y="8283652"/>
            <a:ext cx="7125327" cy="1519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0"/>
              </a:lnSpc>
            </a:pPr>
            <a:r>
              <a:rPr lang="en-US" sz="2000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Artigo Linkedin </a:t>
            </a:r>
          </a:p>
          <a:p>
            <a:pPr algn="l">
              <a:lnSpc>
                <a:spcPts val="2680"/>
              </a:lnSpc>
            </a:pPr>
            <a:r>
              <a:rPr lang="en-US" sz="2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Big Idea:</a:t>
            </a: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Gestão de qualidade </a:t>
            </a:r>
          </a:p>
          <a:p>
            <a:pPr algn="l">
              <a:lnSpc>
                <a:spcPts val="2278"/>
              </a:lnSpc>
            </a:pPr>
            <a:r>
              <a:rPr lang="en-US" sz="17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Conteúdo</a:t>
            </a:r>
            <a:r>
              <a:rPr lang="en-US" sz="17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: Dicas para o ajudar os gestores de qualidade dos hospitais a conscientizar a equipe de enfermagem sobre os erros por falta de processo. 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5172587" y="7937416"/>
            <a:ext cx="1376589" cy="600902"/>
            <a:chOff x="0" y="0"/>
            <a:chExt cx="1835452" cy="801203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1835452" cy="801203"/>
              <a:chOff x="0" y="0"/>
              <a:chExt cx="580383" cy="253346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580383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580383">
                    <a:moveTo>
                      <a:pt x="126673" y="0"/>
                    </a:moveTo>
                    <a:lnTo>
                      <a:pt x="453710" y="0"/>
                    </a:lnTo>
                    <a:cubicBezTo>
                      <a:pt x="523670" y="0"/>
                      <a:pt x="580383" y="56713"/>
                      <a:pt x="580383" y="126673"/>
                    </a:cubicBezTo>
                    <a:lnTo>
                      <a:pt x="580383" y="126673"/>
                    </a:lnTo>
                    <a:cubicBezTo>
                      <a:pt x="580383" y="160269"/>
                      <a:pt x="567038" y="192489"/>
                      <a:pt x="543282" y="216244"/>
                    </a:cubicBezTo>
                    <a:cubicBezTo>
                      <a:pt x="519526" y="240000"/>
                      <a:pt x="487306" y="253346"/>
                      <a:pt x="453710" y="253346"/>
                    </a:cubicBezTo>
                    <a:lnTo>
                      <a:pt x="126673" y="253346"/>
                    </a:lnTo>
                    <a:cubicBezTo>
                      <a:pt x="93077" y="253346"/>
                      <a:pt x="60857" y="240000"/>
                      <a:pt x="37102" y="216244"/>
                    </a:cubicBezTo>
                    <a:cubicBezTo>
                      <a:pt x="13346" y="192489"/>
                      <a:pt x="0" y="160269"/>
                      <a:pt x="0" y="126673"/>
                    </a:cubicBezTo>
                    <a:lnTo>
                      <a:pt x="0" y="126673"/>
                    </a:lnTo>
                    <a:cubicBezTo>
                      <a:pt x="0" y="93077"/>
                      <a:pt x="13346" y="60857"/>
                      <a:pt x="37102" y="37102"/>
                    </a:cubicBezTo>
                    <a:cubicBezTo>
                      <a:pt x="60857" y="13346"/>
                      <a:pt x="93077" y="0"/>
                      <a:pt x="126673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3060B">
                      <a:alpha val="100000"/>
                    </a:srgbClr>
                  </a:gs>
                  <a:gs pos="100000">
                    <a:srgbClr val="023137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47625"/>
                <a:ext cx="580383" cy="300971"/>
              </a:xfrm>
              <a:prstGeom prst="rect">
                <a:avLst/>
              </a:prstGeom>
            </p:spPr>
            <p:txBody>
              <a:bodyPr anchor="ctr" rtlCol="false" tIns="28807" lIns="28807" bIns="28807" rIns="28807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362246" y="259038"/>
              <a:ext cx="1165253" cy="3117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20"/>
                </a:lnSpc>
              </a:pPr>
              <a:r>
                <a:rPr lang="en-US" sz="1686" spc="-53">
                  <a:solidFill>
                    <a:srgbClr val="B0F641"/>
                  </a:solidFill>
                  <a:latin typeface="DM Sans"/>
                  <a:ea typeface="DM Sans"/>
                  <a:cs typeface="DM Sans"/>
                  <a:sym typeface="DM Sans"/>
                </a:rPr>
                <a:t>Pilar 3: </a:t>
              </a:r>
              <a:r>
                <a:rPr lang="en-US" sz="1686" spc="-53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RP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ECFA8">
                <a:alpha val="100000"/>
              </a:srgbClr>
            </a:gs>
            <a:gs pos="100000">
              <a:srgbClr val="B0F641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9065" y="818746"/>
            <a:ext cx="8360180" cy="6492261"/>
            <a:chOff x="0" y="0"/>
            <a:chExt cx="2503427" cy="19440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3427" cy="1944085"/>
            </a:xfrm>
            <a:custGeom>
              <a:avLst/>
              <a:gdLst/>
              <a:ahLst/>
              <a:cxnLst/>
              <a:rect r="r" b="b" t="t" l="l"/>
              <a:pathLst>
                <a:path h="1944085" w="2503427">
                  <a:moveTo>
                    <a:pt x="31486" y="0"/>
                  </a:moveTo>
                  <a:lnTo>
                    <a:pt x="2471941" y="0"/>
                  </a:lnTo>
                  <a:cubicBezTo>
                    <a:pt x="2480292" y="0"/>
                    <a:pt x="2488300" y="3317"/>
                    <a:pt x="2494205" y="9222"/>
                  </a:cubicBezTo>
                  <a:cubicBezTo>
                    <a:pt x="2500110" y="15127"/>
                    <a:pt x="2503427" y="23135"/>
                    <a:pt x="2503427" y="31486"/>
                  </a:cubicBezTo>
                  <a:lnTo>
                    <a:pt x="2503427" y="1912600"/>
                  </a:lnTo>
                  <a:cubicBezTo>
                    <a:pt x="2503427" y="1929989"/>
                    <a:pt x="2489330" y="1944085"/>
                    <a:pt x="2471941" y="1944085"/>
                  </a:cubicBezTo>
                  <a:lnTo>
                    <a:pt x="31486" y="1944085"/>
                  </a:lnTo>
                  <a:cubicBezTo>
                    <a:pt x="23135" y="1944085"/>
                    <a:pt x="15127" y="1940768"/>
                    <a:pt x="9222" y="1934863"/>
                  </a:cubicBezTo>
                  <a:cubicBezTo>
                    <a:pt x="3317" y="1928959"/>
                    <a:pt x="0" y="1920950"/>
                    <a:pt x="0" y="1912600"/>
                  </a:cubicBezTo>
                  <a:lnTo>
                    <a:pt x="0" y="31486"/>
                  </a:lnTo>
                  <a:cubicBezTo>
                    <a:pt x="0" y="23135"/>
                    <a:pt x="3317" y="15127"/>
                    <a:pt x="9222" y="9222"/>
                  </a:cubicBezTo>
                  <a:cubicBezTo>
                    <a:pt x="15127" y="3317"/>
                    <a:pt x="23135" y="0"/>
                    <a:pt x="31486" y="0"/>
                  </a:cubicBezTo>
                  <a:close/>
                </a:path>
              </a:pathLst>
            </a:custGeom>
            <a:solidFill>
              <a:srgbClr val="02262B"/>
            </a:solidFill>
            <a:ln w="9525" cap="rnd">
              <a:gradFill>
                <a:gsLst>
                  <a:gs pos="0">
                    <a:srgbClr val="C5DFFF">
                      <a:alpha val="0"/>
                    </a:srgbClr>
                  </a:gs>
                  <a:gs pos="50000">
                    <a:srgbClr val="C5DFFF">
                      <a:alpha val="33000"/>
                    </a:srgbClr>
                  </a:gs>
                  <a:gs pos="100000">
                    <a:srgbClr val="C5DFFF">
                      <a:alpha val="465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503427" cy="2020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21209" y="818746"/>
            <a:ext cx="8137725" cy="6492261"/>
            <a:chOff x="0" y="0"/>
            <a:chExt cx="2436814" cy="19440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6814" cy="1944085"/>
            </a:xfrm>
            <a:custGeom>
              <a:avLst/>
              <a:gdLst/>
              <a:ahLst/>
              <a:cxnLst/>
              <a:rect r="r" b="b" t="t" l="l"/>
              <a:pathLst>
                <a:path h="1944085" w="2436814">
                  <a:moveTo>
                    <a:pt x="32346" y="0"/>
                  </a:moveTo>
                  <a:lnTo>
                    <a:pt x="2404468" y="0"/>
                  </a:lnTo>
                  <a:cubicBezTo>
                    <a:pt x="2422332" y="0"/>
                    <a:pt x="2436814" y="14482"/>
                    <a:pt x="2436814" y="32346"/>
                  </a:cubicBezTo>
                  <a:lnTo>
                    <a:pt x="2436814" y="1911739"/>
                  </a:lnTo>
                  <a:cubicBezTo>
                    <a:pt x="2436814" y="1929604"/>
                    <a:pt x="2422332" y="1944085"/>
                    <a:pt x="2404468" y="1944085"/>
                  </a:cubicBezTo>
                  <a:lnTo>
                    <a:pt x="32346" y="1944085"/>
                  </a:lnTo>
                  <a:cubicBezTo>
                    <a:pt x="23768" y="1944085"/>
                    <a:pt x="15540" y="1940677"/>
                    <a:pt x="9474" y="1934611"/>
                  </a:cubicBezTo>
                  <a:cubicBezTo>
                    <a:pt x="3408" y="1928545"/>
                    <a:pt x="0" y="1920318"/>
                    <a:pt x="0" y="1911739"/>
                  </a:cubicBezTo>
                  <a:lnTo>
                    <a:pt x="0" y="32346"/>
                  </a:lnTo>
                  <a:cubicBezTo>
                    <a:pt x="0" y="14482"/>
                    <a:pt x="14482" y="0"/>
                    <a:pt x="32346" y="0"/>
                  </a:cubicBezTo>
                  <a:close/>
                </a:path>
              </a:pathLst>
            </a:custGeom>
            <a:solidFill>
              <a:srgbClr val="02262B"/>
            </a:solidFill>
            <a:ln w="9525" cap="rnd">
              <a:gradFill>
                <a:gsLst>
                  <a:gs pos="0">
                    <a:srgbClr val="C5DFFF">
                      <a:alpha val="0"/>
                    </a:srgbClr>
                  </a:gs>
                  <a:gs pos="50000">
                    <a:srgbClr val="C5DFFF">
                      <a:alpha val="33000"/>
                    </a:srgbClr>
                  </a:gs>
                  <a:gs pos="100000">
                    <a:srgbClr val="C5DFFF">
                      <a:alpha val="465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436814" cy="2020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28335" y="1699176"/>
            <a:ext cx="7741564" cy="132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0"/>
              </a:lnSpc>
            </a:pPr>
            <a:r>
              <a:rPr lang="en-US" sz="2000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Reel</a:t>
            </a:r>
          </a:p>
          <a:p>
            <a:pPr algn="l">
              <a:lnSpc>
                <a:spcPts val="2680"/>
              </a:lnSpc>
            </a:pPr>
            <a:r>
              <a:rPr lang="en-US" sz="2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Big Idea: </a:t>
            </a: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Modelos operacionais (nicho).</a:t>
            </a:r>
          </a:p>
          <a:p>
            <a:pPr algn="l">
              <a:lnSpc>
                <a:spcPts val="2680"/>
              </a:lnSpc>
            </a:pPr>
            <a:r>
              <a:rPr lang="en-US" sz="2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Conteúdo</a:t>
            </a: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: Trazer um case de um cliente de hospital por exemplo.</a:t>
            </a:r>
          </a:p>
          <a:p>
            <a:pPr algn="l">
              <a:lnSpc>
                <a:spcPts val="268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Quais serviços contratou, modelo de contratação etc..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8335" y="3608680"/>
            <a:ext cx="6103264" cy="132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0"/>
              </a:lnSpc>
            </a:pPr>
            <a:r>
              <a:rPr lang="en-US" sz="2000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Carrossel</a:t>
            </a:r>
          </a:p>
          <a:p>
            <a:pPr algn="l">
              <a:lnSpc>
                <a:spcPts val="2680"/>
              </a:lnSpc>
            </a:pPr>
            <a:r>
              <a:rPr lang="en-US" sz="2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Big Idea: </a:t>
            </a: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Certificado (específico)</a:t>
            </a:r>
          </a:p>
          <a:p>
            <a:pPr algn="l">
              <a:lnSpc>
                <a:spcPts val="2680"/>
              </a:lnSpc>
            </a:pPr>
            <a:r>
              <a:rPr lang="en-US" sz="2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Conteúdo</a:t>
            </a: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: Falar sobre um certificado específico, por que ele é importante e os diferenciais que trás.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8335" y="5516220"/>
            <a:ext cx="6103264" cy="132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0"/>
              </a:lnSpc>
            </a:pPr>
            <a:r>
              <a:rPr lang="en-US" sz="2000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Reel</a:t>
            </a:r>
          </a:p>
          <a:p>
            <a:pPr algn="l">
              <a:lnSpc>
                <a:spcPts val="2680"/>
              </a:lnSpc>
            </a:pPr>
            <a:r>
              <a:rPr lang="en-US" sz="2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Big Idea: </a:t>
            </a: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Como funciona a supervisão dos postos?</a:t>
            </a:r>
          </a:p>
          <a:p>
            <a:pPr algn="l">
              <a:lnSpc>
                <a:spcPts val="2680"/>
              </a:lnSpc>
            </a:pPr>
            <a:r>
              <a:rPr lang="en-US" sz="2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Conteúdo</a:t>
            </a: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: Falar sobre a gestão dos colaboradores da ponta, tecnologia, sistemas. etc..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81340" y="3057535"/>
            <a:ext cx="6967471" cy="132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0"/>
              </a:lnSpc>
            </a:pPr>
            <a:r>
              <a:rPr lang="en-US" sz="2000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Carrossel</a:t>
            </a:r>
          </a:p>
          <a:p>
            <a:pPr algn="l">
              <a:lnSpc>
                <a:spcPts val="2680"/>
              </a:lnSpc>
            </a:pPr>
            <a:r>
              <a:rPr lang="en-US" sz="2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Big Idea:</a:t>
            </a: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É possível personalizar a escala e a carga horária dos profissionais?</a:t>
            </a:r>
          </a:p>
          <a:p>
            <a:pPr algn="l">
              <a:lnSpc>
                <a:spcPts val="2680"/>
              </a:lnSpc>
            </a:pPr>
            <a:r>
              <a:rPr lang="en-US" sz="2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Conteúdo: </a:t>
            </a: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Falar sobre com exemplos.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28335" y="572676"/>
            <a:ext cx="2279496" cy="545475"/>
            <a:chOff x="0" y="0"/>
            <a:chExt cx="1058713" cy="2533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8713" cy="253346"/>
            </a:xfrm>
            <a:custGeom>
              <a:avLst/>
              <a:gdLst/>
              <a:ahLst/>
              <a:cxnLst/>
              <a:rect r="r" b="b" t="t" l="l"/>
              <a:pathLst>
                <a:path h="253346" w="1058713">
                  <a:moveTo>
                    <a:pt x="126673" y="0"/>
                  </a:moveTo>
                  <a:lnTo>
                    <a:pt x="932040" y="0"/>
                  </a:lnTo>
                  <a:cubicBezTo>
                    <a:pt x="1002000" y="0"/>
                    <a:pt x="1058713" y="56713"/>
                    <a:pt x="1058713" y="126673"/>
                  </a:cubicBezTo>
                  <a:lnTo>
                    <a:pt x="1058713" y="126673"/>
                  </a:lnTo>
                  <a:cubicBezTo>
                    <a:pt x="1058713" y="160269"/>
                    <a:pt x="1045367" y="192489"/>
                    <a:pt x="1021611" y="216244"/>
                  </a:cubicBezTo>
                  <a:cubicBezTo>
                    <a:pt x="997856" y="240000"/>
                    <a:pt x="965636" y="253346"/>
                    <a:pt x="932040" y="253346"/>
                  </a:cubicBezTo>
                  <a:lnTo>
                    <a:pt x="126673" y="253346"/>
                  </a:lnTo>
                  <a:cubicBezTo>
                    <a:pt x="93077" y="253346"/>
                    <a:pt x="60857" y="240000"/>
                    <a:pt x="37102" y="216244"/>
                  </a:cubicBezTo>
                  <a:cubicBezTo>
                    <a:pt x="13346" y="192489"/>
                    <a:pt x="0" y="160269"/>
                    <a:pt x="0" y="126673"/>
                  </a:cubicBezTo>
                  <a:lnTo>
                    <a:pt x="0" y="126673"/>
                  </a:lnTo>
                  <a:cubicBezTo>
                    <a:pt x="0" y="93077"/>
                    <a:pt x="13346" y="60857"/>
                    <a:pt x="37102" y="37102"/>
                  </a:cubicBezTo>
                  <a:cubicBezTo>
                    <a:pt x="60857" y="13346"/>
                    <a:pt x="93077" y="0"/>
                    <a:pt x="1266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  <a:ln w="9525" cap="rnd">
              <a:gradFill>
                <a:gsLst>
                  <a:gs pos="0">
                    <a:srgbClr val="C5DFFF">
                      <a:alpha val="33000"/>
                    </a:srgbClr>
                  </a:gs>
                  <a:gs pos="50000">
                    <a:srgbClr val="C5DFFF">
                      <a:alpha val="46500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58713" cy="300971"/>
            </a:xfrm>
            <a:prstGeom prst="rect">
              <a:avLst/>
            </a:prstGeom>
          </p:spPr>
          <p:txBody>
            <a:bodyPr anchor="ctr" rtlCol="false" tIns="28807" lIns="28807" bIns="28807" rIns="28807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781340" y="572676"/>
            <a:ext cx="2279496" cy="545475"/>
            <a:chOff x="0" y="0"/>
            <a:chExt cx="1058713" cy="25334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8713" cy="253346"/>
            </a:xfrm>
            <a:custGeom>
              <a:avLst/>
              <a:gdLst/>
              <a:ahLst/>
              <a:cxnLst/>
              <a:rect r="r" b="b" t="t" l="l"/>
              <a:pathLst>
                <a:path h="253346" w="1058713">
                  <a:moveTo>
                    <a:pt x="126673" y="0"/>
                  </a:moveTo>
                  <a:lnTo>
                    <a:pt x="932040" y="0"/>
                  </a:lnTo>
                  <a:cubicBezTo>
                    <a:pt x="1002000" y="0"/>
                    <a:pt x="1058713" y="56713"/>
                    <a:pt x="1058713" y="126673"/>
                  </a:cubicBezTo>
                  <a:lnTo>
                    <a:pt x="1058713" y="126673"/>
                  </a:lnTo>
                  <a:cubicBezTo>
                    <a:pt x="1058713" y="160269"/>
                    <a:pt x="1045367" y="192489"/>
                    <a:pt x="1021611" y="216244"/>
                  </a:cubicBezTo>
                  <a:cubicBezTo>
                    <a:pt x="997856" y="240000"/>
                    <a:pt x="965636" y="253346"/>
                    <a:pt x="932040" y="253346"/>
                  </a:cubicBezTo>
                  <a:lnTo>
                    <a:pt x="126673" y="253346"/>
                  </a:lnTo>
                  <a:cubicBezTo>
                    <a:pt x="93077" y="253346"/>
                    <a:pt x="60857" y="240000"/>
                    <a:pt x="37102" y="216244"/>
                  </a:cubicBezTo>
                  <a:cubicBezTo>
                    <a:pt x="13346" y="192489"/>
                    <a:pt x="0" y="160269"/>
                    <a:pt x="0" y="126673"/>
                  </a:cubicBezTo>
                  <a:lnTo>
                    <a:pt x="0" y="126673"/>
                  </a:lnTo>
                  <a:cubicBezTo>
                    <a:pt x="0" y="93077"/>
                    <a:pt x="13346" y="60857"/>
                    <a:pt x="37102" y="37102"/>
                  </a:cubicBezTo>
                  <a:cubicBezTo>
                    <a:pt x="60857" y="13346"/>
                    <a:pt x="93077" y="0"/>
                    <a:pt x="1266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  <a:ln w="9525" cap="rnd">
              <a:gradFill>
                <a:gsLst>
                  <a:gs pos="0">
                    <a:srgbClr val="C5DFFF">
                      <a:alpha val="33000"/>
                    </a:srgbClr>
                  </a:gs>
                  <a:gs pos="50000">
                    <a:srgbClr val="C5DFFF">
                      <a:alpha val="46500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058713" cy="300971"/>
            </a:xfrm>
            <a:prstGeom prst="rect">
              <a:avLst/>
            </a:prstGeom>
          </p:spPr>
          <p:txBody>
            <a:bodyPr anchor="ctr" rtlCol="false" tIns="28807" lIns="28807" bIns="28807" rIns="28807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8100000">
            <a:off x="1376960" y="727553"/>
            <a:ext cx="200620" cy="232043"/>
          </a:xfrm>
          <a:custGeom>
            <a:avLst/>
            <a:gdLst/>
            <a:ahLst/>
            <a:cxnLst/>
            <a:rect r="r" b="b" t="t" l="l"/>
            <a:pathLst>
              <a:path h="232043" w="200620">
                <a:moveTo>
                  <a:pt x="0" y="0"/>
                </a:moveTo>
                <a:lnTo>
                  <a:pt x="200621" y="0"/>
                </a:lnTo>
                <a:lnTo>
                  <a:pt x="200621" y="232042"/>
                </a:lnTo>
                <a:lnTo>
                  <a:pt x="0" y="2320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8100000">
            <a:off x="9929966" y="727553"/>
            <a:ext cx="200620" cy="232043"/>
          </a:xfrm>
          <a:custGeom>
            <a:avLst/>
            <a:gdLst/>
            <a:ahLst/>
            <a:cxnLst/>
            <a:rect r="r" b="b" t="t" l="l"/>
            <a:pathLst>
              <a:path h="232043" w="200620">
                <a:moveTo>
                  <a:pt x="0" y="0"/>
                </a:moveTo>
                <a:lnTo>
                  <a:pt x="200620" y="0"/>
                </a:lnTo>
                <a:lnTo>
                  <a:pt x="200620" y="232042"/>
                </a:lnTo>
                <a:lnTo>
                  <a:pt x="0" y="2320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640553" y="683317"/>
            <a:ext cx="1676769" cy="37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807" b="true">
                <a:solidFill>
                  <a:srgbClr val="031C22"/>
                </a:solidFill>
                <a:latin typeface="DM Sans Bold"/>
                <a:ea typeface="DM Sans Bold"/>
                <a:cs typeface="DM Sans Bold"/>
                <a:sym typeface="DM Sans Bold"/>
              </a:rPr>
              <a:t>Semana 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193559" y="683317"/>
            <a:ext cx="1685682" cy="37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807" b="true">
                <a:solidFill>
                  <a:srgbClr val="031C22"/>
                </a:solidFill>
                <a:latin typeface="DM Sans Bold"/>
                <a:ea typeface="DM Sans Bold"/>
                <a:cs typeface="DM Sans Bold"/>
                <a:sym typeface="DM Sans Bold"/>
              </a:rPr>
              <a:t>Semana 3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033608" y="606404"/>
            <a:ext cx="2805274" cy="600902"/>
            <a:chOff x="0" y="0"/>
            <a:chExt cx="1302911" cy="27908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02911" cy="279089"/>
            </a:xfrm>
            <a:custGeom>
              <a:avLst/>
              <a:gdLst/>
              <a:ahLst/>
              <a:cxnLst/>
              <a:rect r="r" b="b" t="t" l="l"/>
              <a:pathLst>
                <a:path h="279089" w="1302911">
                  <a:moveTo>
                    <a:pt x="139545" y="0"/>
                  </a:moveTo>
                  <a:lnTo>
                    <a:pt x="1163366" y="0"/>
                  </a:lnTo>
                  <a:cubicBezTo>
                    <a:pt x="1200376" y="0"/>
                    <a:pt x="1235870" y="14702"/>
                    <a:pt x="1262039" y="40872"/>
                  </a:cubicBezTo>
                  <a:cubicBezTo>
                    <a:pt x="1288209" y="67041"/>
                    <a:pt x="1302911" y="102535"/>
                    <a:pt x="1302911" y="139545"/>
                  </a:cubicBezTo>
                  <a:lnTo>
                    <a:pt x="1302911" y="139545"/>
                  </a:lnTo>
                  <a:cubicBezTo>
                    <a:pt x="1302911" y="176554"/>
                    <a:pt x="1288209" y="212048"/>
                    <a:pt x="1262039" y="238218"/>
                  </a:cubicBezTo>
                  <a:cubicBezTo>
                    <a:pt x="1235870" y="264387"/>
                    <a:pt x="1200376" y="279089"/>
                    <a:pt x="1163366" y="279089"/>
                  </a:cubicBezTo>
                  <a:lnTo>
                    <a:pt x="139545" y="279089"/>
                  </a:lnTo>
                  <a:cubicBezTo>
                    <a:pt x="102535" y="279089"/>
                    <a:pt x="67041" y="264387"/>
                    <a:pt x="40872" y="238218"/>
                  </a:cubicBezTo>
                  <a:cubicBezTo>
                    <a:pt x="14702" y="212048"/>
                    <a:pt x="0" y="176554"/>
                    <a:pt x="0" y="139545"/>
                  </a:cubicBezTo>
                  <a:lnTo>
                    <a:pt x="0" y="139545"/>
                  </a:lnTo>
                  <a:cubicBezTo>
                    <a:pt x="0" y="102535"/>
                    <a:pt x="14702" y="67041"/>
                    <a:pt x="40872" y="40872"/>
                  </a:cubicBezTo>
                  <a:cubicBezTo>
                    <a:pt x="67041" y="14702"/>
                    <a:pt x="102535" y="0"/>
                    <a:pt x="1395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060B">
                    <a:alpha val="100000"/>
                  </a:srgbClr>
                </a:gs>
                <a:gs pos="100000">
                  <a:srgbClr val="023137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C5DFFF">
                      <a:alpha val="33000"/>
                    </a:srgbClr>
                  </a:gs>
                  <a:gs pos="50000">
                    <a:srgbClr val="C5DFFF">
                      <a:alpha val="46500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302911" cy="326714"/>
            </a:xfrm>
            <a:prstGeom prst="rect">
              <a:avLst/>
            </a:prstGeom>
          </p:spPr>
          <p:txBody>
            <a:bodyPr anchor="ctr" rtlCol="false" tIns="28807" lIns="28807" bIns="28807" rIns="28807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656345" y="601959"/>
            <a:ext cx="2805274" cy="600902"/>
            <a:chOff x="0" y="0"/>
            <a:chExt cx="1302911" cy="27908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02911" cy="279089"/>
            </a:xfrm>
            <a:custGeom>
              <a:avLst/>
              <a:gdLst/>
              <a:ahLst/>
              <a:cxnLst/>
              <a:rect r="r" b="b" t="t" l="l"/>
              <a:pathLst>
                <a:path h="279089" w="1302911">
                  <a:moveTo>
                    <a:pt x="139545" y="0"/>
                  </a:moveTo>
                  <a:lnTo>
                    <a:pt x="1163366" y="0"/>
                  </a:lnTo>
                  <a:cubicBezTo>
                    <a:pt x="1200376" y="0"/>
                    <a:pt x="1235870" y="14702"/>
                    <a:pt x="1262039" y="40872"/>
                  </a:cubicBezTo>
                  <a:cubicBezTo>
                    <a:pt x="1288209" y="67041"/>
                    <a:pt x="1302911" y="102535"/>
                    <a:pt x="1302911" y="139545"/>
                  </a:cubicBezTo>
                  <a:lnTo>
                    <a:pt x="1302911" y="139545"/>
                  </a:lnTo>
                  <a:cubicBezTo>
                    <a:pt x="1302911" y="176554"/>
                    <a:pt x="1288209" y="212048"/>
                    <a:pt x="1262039" y="238218"/>
                  </a:cubicBezTo>
                  <a:cubicBezTo>
                    <a:pt x="1235870" y="264387"/>
                    <a:pt x="1200376" y="279089"/>
                    <a:pt x="1163366" y="279089"/>
                  </a:cubicBezTo>
                  <a:lnTo>
                    <a:pt x="139545" y="279089"/>
                  </a:lnTo>
                  <a:cubicBezTo>
                    <a:pt x="102535" y="279089"/>
                    <a:pt x="67041" y="264387"/>
                    <a:pt x="40872" y="238218"/>
                  </a:cubicBezTo>
                  <a:cubicBezTo>
                    <a:pt x="14702" y="212048"/>
                    <a:pt x="0" y="176554"/>
                    <a:pt x="0" y="139545"/>
                  </a:cubicBezTo>
                  <a:lnTo>
                    <a:pt x="0" y="139545"/>
                  </a:lnTo>
                  <a:cubicBezTo>
                    <a:pt x="0" y="102535"/>
                    <a:pt x="14702" y="67041"/>
                    <a:pt x="40872" y="40872"/>
                  </a:cubicBezTo>
                  <a:cubicBezTo>
                    <a:pt x="67041" y="14702"/>
                    <a:pt x="102535" y="0"/>
                    <a:pt x="1395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060B">
                    <a:alpha val="100000"/>
                  </a:srgbClr>
                </a:gs>
                <a:gs pos="100000">
                  <a:srgbClr val="023137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rnd">
              <a:gradFill>
                <a:gsLst>
                  <a:gs pos="0">
                    <a:srgbClr val="C5DFFF">
                      <a:alpha val="33000"/>
                    </a:srgbClr>
                  </a:gs>
                  <a:gs pos="50000">
                    <a:srgbClr val="C5DFFF">
                      <a:alpha val="46500"/>
                    </a:srgbClr>
                  </a:gs>
                  <a:gs pos="100000">
                    <a:srgbClr val="C5DFFF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302911" cy="326714"/>
            </a:xfrm>
            <a:prstGeom prst="rect">
              <a:avLst/>
            </a:prstGeom>
          </p:spPr>
          <p:txBody>
            <a:bodyPr anchor="ctr" rtlCol="false" tIns="28807" lIns="28807" bIns="28807" rIns="28807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4480649" y="779538"/>
            <a:ext cx="1911191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2000" spc="-64">
                <a:solidFill>
                  <a:srgbClr val="B0F641"/>
                </a:solidFill>
                <a:latin typeface="DM Sans"/>
                <a:ea typeface="DM Sans"/>
                <a:cs typeface="DM Sans"/>
                <a:sym typeface="DM Sans"/>
              </a:rPr>
              <a:t>Pilar 1: </a:t>
            </a:r>
            <a:r>
              <a:rPr lang="en-US" sz="2000" spc="-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Autoridade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103386" y="775093"/>
            <a:ext cx="1911191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2000" spc="-64">
                <a:solidFill>
                  <a:srgbClr val="B0F641"/>
                </a:solidFill>
                <a:latin typeface="DM Sans"/>
                <a:ea typeface="DM Sans"/>
                <a:cs typeface="DM Sans"/>
                <a:sym typeface="DM Sans"/>
              </a:rPr>
              <a:t>Pilar 1: </a:t>
            </a:r>
            <a:r>
              <a:rPr lang="en-US" sz="2000" spc="-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Autoridade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781340" y="1530995"/>
            <a:ext cx="6967471" cy="99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0"/>
              </a:lnSpc>
            </a:pPr>
            <a:r>
              <a:rPr lang="en-US" sz="2000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Reel</a:t>
            </a:r>
          </a:p>
          <a:p>
            <a:pPr algn="l">
              <a:lnSpc>
                <a:spcPts val="2680"/>
              </a:lnSpc>
            </a:pPr>
            <a:r>
              <a:rPr lang="en-US" sz="2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Big Idea:</a:t>
            </a: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Como funciona a cobertura de faltas.</a:t>
            </a:r>
          </a:p>
          <a:p>
            <a:pPr algn="l">
              <a:lnSpc>
                <a:spcPts val="2680"/>
              </a:lnSpc>
            </a:pPr>
            <a:r>
              <a:rPr lang="en-US" sz="2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Conteúdo</a:t>
            </a: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: Explicar como é o processo.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829065" y="7422843"/>
            <a:ext cx="16629869" cy="2291480"/>
            <a:chOff x="0" y="0"/>
            <a:chExt cx="4979757" cy="68617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79757" cy="686176"/>
            </a:xfrm>
            <a:custGeom>
              <a:avLst/>
              <a:gdLst/>
              <a:ahLst/>
              <a:cxnLst/>
              <a:rect r="r" b="b" t="t" l="l"/>
              <a:pathLst>
                <a:path h="686176" w="4979757">
                  <a:moveTo>
                    <a:pt x="15828" y="0"/>
                  </a:moveTo>
                  <a:lnTo>
                    <a:pt x="4963929" y="0"/>
                  </a:lnTo>
                  <a:cubicBezTo>
                    <a:pt x="4972671" y="0"/>
                    <a:pt x="4979757" y="7087"/>
                    <a:pt x="4979757" y="15828"/>
                  </a:cubicBezTo>
                  <a:lnTo>
                    <a:pt x="4979757" y="670348"/>
                  </a:lnTo>
                  <a:cubicBezTo>
                    <a:pt x="4979757" y="679089"/>
                    <a:pt x="4972671" y="686176"/>
                    <a:pt x="4963929" y="686176"/>
                  </a:cubicBezTo>
                  <a:lnTo>
                    <a:pt x="15828" y="686176"/>
                  </a:lnTo>
                  <a:cubicBezTo>
                    <a:pt x="7087" y="686176"/>
                    <a:pt x="0" y="679089"/>
                    <a:pt x="0" y="670348"/>
                  </a:cubicBezTo>
                  <a:lnTo>
                    <a:pt x="0" y="15828"/>
                  </a:lnTo>
                  <a:cubicBezTo>
                    <a:pt x="0" y="7087"/>
                    <a:pt x="7087" y="0"/>
                    <a:pt x="15828" y="0"/>
                  </a:cubicBezTo>
                  <a:close/>
                </a:path>
              </a:pathLst>
            </a:custGeom>
            <a:solidFill>
              <a:srgbClr val="02262B"/>
            </a:solidFill>
            <a:ln w="9525" cap="rnd">
              <a:gradFill>
                <a:gsLst>
                  <a:gs pos="0">
                    <a:srgbClr val="C5DFFF">
                      <a:alpha val="0"/>
                    </a:srgbClr>
                  </a:gs>
                  <a:gs pos="50000">
                    <a:srgbClr val="C5DFFF">
                      <a:alpha val="33000"/>
                    </a:srgbClr>
                  </a:gs>
                  <a:gs pos="100000">
                    <a:srgbClr val="C5DFFF">
                      <a:alpha val="465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76200"/>
              <a:ext cx="4979757" cy="7623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704509" y="7791026"/>
            <a:ext cx="5310068" cy="132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0"/>
              </a:lnSpc>
            </a:pPr>
            <a:r>
              <a:rPr lang="en-US" sz="2000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Carrossel </a:t>
            </a:r>
          </a:p>
          <a:p>
            <a:pPr algn="l">
              <a:lnSpc>
                <a:spcPts val="2680"/>
              </a:lnSpc>
            </a:pPr>
            <a:r>
              <a:rPr lang="en-US" sz="2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Big Idea:</a:t>
            </a: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Quem fornece os uniformes e EPIs? </a:t>
            </a:r>
          </a:p>
          <a:p>
            <a:pPr algn="l">
              <a:lnSpc>
                <a:spcPts val="2680"/>
              </a:lnSpc>
            </a:pPr>
            <a:r>
              <a:rPr lang="en-US" sz="2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Conteúdo</a:t>
            </a: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: Um carrossel dos colaboradores </a:t>
            </a:r>
          </a:p>
          <a:p>
            <a:pPr algn="l">
              <a:lnSpc>
                <a:spcPts val="268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usando os diferentes uniformes da Orcali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6976339" y="606404"/>
            <a:ext cx="1376589" cy="600902"/>
            <a:chOff x="0" y="0"/>
            <a:chExt cx="1835452" cy="801203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1835452" cy="801203"/>
              <a:chOff x="0" y="0"/>
              <a:chExt cx="580383" cy="253346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580383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580383">
                    <a:moveTo>
                      <a:pt x="126673" y="0"/>
                    </a:moveTo>
                    <a:lnTo>
                      <a:pt x="453710" y="0"/>
                    </a:lnTo>
                    <a:cubicBezTo>
                      <a:pt x="523670" y="0"/>
                      <a:pt x="580383" y="56713"/>
                      <a:pt x="580383" y="126673"/>
                    </a:cubicBezTo>
                    <a:lnTo>
                      <a:pt x="580383" y="126673"/>
                    </a:lnTo>
                    <a:cubicBezTo>
                      <a:pt x="580383" y="160269"/>
                      <a:pt x="567038" y="192489"/>
                      <a:pt x="543282" y="216244"/>
                    </a:cubicBezTo>
                    <a:cubicBezTo>
                      <a:pt x="519526" y="240000"/>
                      <a:pt x="487306" y="253346"/>
                      <a:pt x="453710" y="253346"/>
                    </a:cubicBezTo>
                    <a:lnTo>
                      <a:pt x="126673" y="253346"/>
                    </a:lnTo>
                    <a:cubicBezTo>
                      <a:pt x="93077" y="253346"/>
                      <a:pt x="60857" y="240000"/>
                      <a:pt x="37102" y="216244"/>
                    </a:cubicBezTo>
                    <a:cubicBezTo>
                      <a:pt x="13346" y="192489"/>
                      <a:pt x="0" y="160269"/>
                      <a:pt x="0" y="126673"/>
                    </a:cubicBezTo>
                    <a:lnTo>
                      <a:pt x="0" y="126673"/>
                    </a:lnTo>
                    <a:cubicBezTo>
                      <a:pt x="0" y="93077"/>
                      <a:pt x="13346" y="60857"/>
                      <a:pt x="37102" y="37102"/>
                    </a:cubicBezTo>
                    <a:cubicBezTo>
                      <a:pt x="60857" y="13346"/>
                      <a:pt x="93077" y="0"/>
                      <a:pt x="126673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3060B">
                      <a:alpha val="100000"/>
                    </a:srgbClr>
                  </a:gs>
                  <a:gs pos="100000">
                    <a:srgbClr val="023137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47625"/>
                <a:ext cx="580383" cy="300971"/>
              </a:xfrm>
              <a:prstGeom prst="rect">
                <a:avLst/>
              </a:prstGeom>
            </p:spPr>
            <p:txBody>
              <a:bodyPr anchor="ctr" rtlCol="false" tIns="28807" lIns="28807" bIns="28807" rIns="28807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362246" y="259038"/>
              <a:ext cx="1165253" cy="3117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20"/>
                </a:lnSpc>
              </a:pPr>
              <a:r>
                <a:rPr lang="en-US" sz="1686" spc="-53">
                  <a:solidFill>
                    <a:srgbClr val="B0F641"/>
                  </a:solidFill>
                  <a:latin typeface="DM Sans"/>
                  <a:ea typeface="DM Sans"/>
                  <a:cs typeface="DM Sans"/>
                  <a:sym typeface="DM Sans"/>
                </a:rPr>
                <a:t>Pilar 3: </a:t>
              </a:r>
              <a:r>
                <a:rPr lang="en-US" sz="1686" spc="-53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RP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5599076" y="601959"/>
            <a:ext cx="1376589" cy="600902"/>
            <a:chOff x="0" y="0"/>
            <a:chExt cx="1835452" cy="801203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1835452" cy="801203"/>
              <a:chOff x="0" y="0"/>
              <a:chExt cx="580383" cy="253346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580383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580383">
                    <a:moveTo>
                      <a:pt x="126673" y="0"/>
                    </a:moveTo>
                    <a:lnTo>
                      <a:pt x="453710" y="0"/>
                    </a:lnTo>
                    <a:cubicBezTo>
                      <a:pt x="523670" y="0"/>
                      <a:pt x="580383" y="56713"/>
                      <a:pt x="580383" y="126673"/>
                    </a:cubicBezTo>
                    <a:lnTo>
                      <a:pt x="580383" y="126673"/>
                    </a:lnTo>
                    <a:cubicBezTo>
                      <a:pt x="580383" y="160269"/>
                      <a:pt x="567038" y="192489"/>
                      <a:pt x="543282" y="216244"/>
                    </a:cubicBezTo>
                    <a:cubicBezTo>
                      <a:pt x="519526" y="240000"/>
                      <a:pt x="487306" y="253346"/>
                      <a:pt x="453710" y="253346"/>
                    </a:cubicBezTo>
                    <a:lnTo>
                      <a:pt x="126673" y="253346"/>
                    </a:lnTo>
                    <a:cubicBezTo>
                      <a:pt x="93077" y="253346"/>
                      <a:pt x="60857" y="240000"/>
                      <a:pt x="37102" y="216244"/>
                    </a:cubicBezTo>
                    <a:cubicBezTo>
                      <a:pt x="13346" y="192489"/>
                      <a:pt x="0" y="160269"/>
                      <a:pt x="0" y="126673"/>
                    </a:cubicBezTo>
                    <a:lnTo>
                      <a:pt x="0" y="126673"/>
                    </a:lnTo>
                    <a:cubicBezTo>
                      <a:pt x="0" y="93077"/>
                      <a:pt x="13346" y="60857"/>
                      <a:pt x="37102" y="37102"/>
                    </a:cubicBezTo>
                    <a:cubicBezTo>
                      <a:pt x="60857" y="13346"/>
                      <a:pt x="93077" y="0"/>
                      <a:pt x="126673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3060B">
                      <a:alpha val="100000"/>
                    </a:srgbClr>
                  </a:gs>
                  <a:gs pos="100000">
                    <a:srgbClr val="023137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47625"/>
                <a:ext cx="580383" cy="300971"/>
              </a:xfrm>
              <a:prstGeom prst="rect">
                <a:avLst/>
              </a:prstGeom>
            </p:spPr>
            <p:txBody>
              <a:bodyPr anchor="ctr" rtlCol="false" tIns="28807" lIns="28807" bIns="28807" rIns="28807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362246" y="259038"/>
              <a:ext cx="1165253" cy="3117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20"/>
                </a:lnSpc>
              </a:pPr>
              <a:r>
                <a:rPr lang="en-US" sz="1686" spc="-53">
                  <a:solidFill>
                    <a:srgbClr val="B0F641"/>
                  </a:solidFill>
                  <a:latin typeface="DM Sans"/>
                  <a:ea typeface="DM Sans"/>
                  <a:cs typeface="DM Sans"/>
                  <a:sym typeface="DM Sans"/>
                </a:rPr>
                <a:t>Pilar 3: </a:t>
              </a:r>
              <a:r>
                <a:rPr lang="en-US" sz="1686" spc="-53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RP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170920" y="7102060"/>
            <a:ext cx="2042660" cy="545475"/>
            <a:chOff x="0" y="0"/>
            <a:chExt cx="2723547" cy="727300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2723547" cy="727300"/>
              <a:chOff x="0" y="0"/>
              <a:chExt cx="948715" cy="253346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948715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948715">
                    <a:moveTo>
                      <a:pt x="126673" y="0"/>
                    </a:moveTo>
                    <a:lnTo>
                      <a:pt x="822042" y="0"/>
                    </a:lnTo>
                    <a:cubicBezTo>
                      <a:pt x="855638" y="0"/>
                      <a:pt x="887857" y="13346"/>
                      <a:pt x="911613" y="37102"/>
                    </a:cubicBezTo>
                    <a:cubicBezTo>
                      <a:pt x="935369" y="60857"/>
                      <a:pt x="948715" y="93077"/>
                      <a:pt x="948715" y="126673"/>
                    </a:cubicBezTo>
                    <a:lnTo>
                      <a:pt x="948715" y="126673"/>
                    </a:lnTo>
                    <a:cubicBezTo>
                      <a:pt x="948715" y="160269"/>
                      <a:pt x="935369" y="192489"/>
                      <a:pt x="911613" y="216244"/>
                    </a:cubicBezTo>
                    <a:cubicBezTo>
                      <a:pt x="887857" y="240000"/>
                      <a:pt x="855638" y="253346"/>
                      <a:pt x="822042" y="253346"/>
                    </a:cubicBezTo>
                    <a:lnTo>
                      <a:pt x="126673" y="253346"/>
                    </a:lnTo>
                    <a:cubicBezTo>
                      <a:pt x="93077" y="253346"/>
                      <a:pt x="60857" y="240000"/>
                      <a:pt x="37102" y="216244"/>
                    </a:cubicBezTo>
                    <a:cubicBezTo>
                      <a:pt x="13346" y="192489"/>
                      <a:pt x="0" y="160269"/>
                      <a:pt x="0" y="126673"/>
                    </a:cubicBezTo>
                    <a:lnTo>
                      <a:pt x="0" y="126673"/>
                    </a:lnTo>
                    <a:cubicBezTo>
                      <a:pt x="0" y="93077"/>
                      <a:pt x="13346" y="60857"/>
                      <a:pt x="37102" y="37102"/>
                    </a:cubicBezTo>
                    <a:cubicBezTo>
                      <a:pt x="60857" y="13346"/>
                      <a:pt x="93077" y="0"/>
                      <a:pt x="126673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3060B">
                      <a:alpha val="100000"/>
                    </a:srgbClr>
                  </a:gs>
                  <a:gs pos="100000">
                    <a:srgbClr val="023137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47625"/>
                <a:ext cx="948715" cy="300971"/>
              </a:xfrm>
              <a:prstGeom prst="rect">
                <a:avLst/>
              </a:prstGeom>
            </p:spPr>
            <p:txBody>
              <a:bodyPr anchor="ctr" rtlCol="false" tIns="28807" lIns="28807" bIns="28807" rIns="28807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266700" y="177595"/>
              <a:ext cx="208026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40"/>
                </a:lnSpc>
              </a:pPr>
              <a:r>
                <a:rPr lang="en-US" sz="2000" spc="-64">
                  <a:solidFill>
                    <a:srgbClr val="B0F641"/>
                  </a:solidFill>
                  <a:latin typeface="DM Sans"/>
                  <a:ea typeface="DM Sans"/>
                  <a:cs typeface="DM Sans"/>
                  <a:sym typeface="DM Sans"/>
                </a:rPr>
                <a:t>Pilar 4: </a:t>
              </a:r>
              <a:r>
                <a:rPr lang="en-US" sz="2000" spc="-64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Cultura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228335" y="7791026"/>
            <a:ext cx="7535742" cy="165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0"/>
              </a:lnSpc>
            </a:pPr>
            <a:r>
              <a:rPr lang="en-US" sz="2000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Carrossel</a:t>
            </a:r>
          </a:p>
          <a:p>
            <a:pPr algn="l">
              <a:lnSpc>
                <a:spcPts val="2680"/>
              </a:lnSpc>
            </a:pPr>
            <a:r>
              <a:rPr lang="en-US" sz="2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Big Idea:</a:t>
            </a: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Nossa seleção </a:t>
            </a:r>
            <a:r>
              <a:rPr lang="en-US" sz="2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camisa 9</a:t>
            </a:r>
          </a:p>
          <a:p>
            <a:pPr algn="l">
              <a:lnSpc>
                <a:spcPts val="2680"/>
              </a:lnSpc>
            </a:pPr>
            <a:r>
              <a:rPr lang="en-US" b="true" sz="20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Conteúdo: </a:t>
            </a: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Aproveitar o tema em alta de copa para mostrar os colaboradores com mais de 10 anos de casa. Podemos voltar nesse tema várias vezes. Camisa 1, Camisa 2, etc...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781340" y="4917450"/>
            <a:ext cx="6967471" cy="132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0"/>
              </a:lnSpc>
            </a:pPr>
            <a:r>
              <a:rPr lang="en-US" sz="2000">
                <a:gradFill>
                  <a:gsLst>
                    <a:gs pos="0">
                      <a:srgbClr val="3ECFA8">
                        <a:alpha val="100000"/>
                      </a:srgbClr>
                    </a:gs>
                    <a:gs pos="100000">
                      <a:srgbClr val="B0F641">
                        <a:alpha val="100000"/>
                      </a:srgbClr>
                    </a:gs>
                  </a:gsLst>
                  <a:lin ang="0"/>
                </a:gradFill>
                <a:latin typeface="DM Sans"/>
                <a:ea typeface="DM Sans"/>
                <a:cs typeface="DM Sans"/>
                <a:sym typeface="DM Sans"/>
              </a:rPr>
              <a:t>Reel</a:t>
            </a:r>
          </a:p>
          <a:p>
            <a:pPr algn="l">
              <a:lnSpc>
                <a:spcPts val="2680"/>
              </a:lnSpc>
            </a:pPr>
            <a:r>
              <a:rPr lang="en-US" sz="2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Big Idea:</a:t>
            </a: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Modelo operacional de Segurança </a:t>
            </a:r>
          </a:p>
          <a:p>
            <a:pPr algn="l">
              <a:lnSpc>
                <a:spcPts val="2680"/>
              </a:lnSpc>
            </a:pPr>
            <a:r>
              <a:rPr lang="en-US" sz="2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Conteúdo: </a:t>
            </a: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Falar sobre toda tecnologia por trás da gestão de segurança da Orcali.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3060B">
                <a:alpha val="100000"/>
              </a:srgbClr>
            </a:gs>
            <a:gs pos="100000">
              <a:srgbClr val="02313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3060B">
                <a:alpha val="100000"/>
              </a:srgbClr>
            </a:gs>
            <a:gs pos="100000">
              <a:srgbClr val="02313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82289" y="2017972"/>
            <a:ext cx="3523422" cy="1178035"/>
            <a:chOff x="0" y="0"/>
            <a:chExt cx="4697896" cy="157071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697896" cy="1570713"/>
              <a:chOff x="0" y="0"/>
              <a:chExt cx="927980" cy="31026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927980" cy="310264"/>
              </a:xfrm>
              <a:custGeom>
                <a:avLst/>
                <a:gdLst/>
                <a:ahLst/>
                <a:cxnLst/>
                <a:rect r="r" b="b" t="t" l="l"/>
                <a:pathLst>
                  <a:path h="310264" w="927980">
                    <a:moveTo>
                      <a:pt x="155132" y="0"/>
                    </a:moveTo>
                    <a:lnTo>
                      <a:pt x="772847" y="0"/>
                    </a:lnTo>
                    <a:cubicBezTo>
                      <a:pt x="858524" y="0"/>
                      <a:pt x="927980" y="69455"/>
                      <a:pt x="927980" y="155132"/>
                    </a:cubicBezTo>
                    <a:lnTo>
                      <a:pt x="927980" y="155132"/>
                    </a:lnTo>
                    <a:cubicBezTo>
                      <a:pt x="927980" y="196276"/>
                      <a:pt x="911635" y="235734"/>
                      <a:pt x="882542" y="264827"/>
                    </a:cubicBezTo>
                    <a:cubicBezTo>
                      <a:pt x="853449" y="293920"/>
                      <a:pt x="813991" y="310264"/>
                      <a:pt x="772847" y="310264"/>
                    </a:cubicBezTo>
                    <a:lnTo>
                      <a:pt x="155132" y="310264"/>
                    </a:lnTo>
                    <a:cubicBezTo>
                      <a:pt x="113989" y="310264"/>
                      <a:pt x="74530" y="293920"/>
                      <a:pt x="45437" y="264827"/>
                    </a:cubicBezTo>
                    <a:cubicBezTo>
                      <a:pt x="16344" y="235734"/>
                      <a:pt x="0" y="196276"/>
                      <a:pt x="0" y="155132"/>
                    </a:cubicBezTo>
                    <a:lnTo>
                      <a:pt x="0" y="155132"/>
                    </a:lnTo>
                    <a:cubicBezTo>
                      <a:pt x="0" y="113989"/>
                      <a:pt x="16344" y="74530"/>
                      <a:pt x="45437" y="45437"/>
                    </a:cubicBezTo>
                    <a:cubicBezTo>
                      <a:pt x="74530" y="16344"/>
                      <a:pt x="113989" y="0"/>
                      <a:pt x="155132" y="0"/>
                    </a:cubicBezTo>
                    <a:close/>
                  </a:path>
                </a:pathLst>
              </a:custGeom>
              <a:solidFill>
                <a:srgbClr val="022228"/>
              </a:soli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927980" cy="3578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41826" y="144074"/>
              <a:ext cx="4414243" cy="1282565"/>
              <a:chOff x="0" y="0"/>
              <a:chExt cx="871949" cy="25334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71949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871949">
                    <a:moveTo>
                      <a:pt x="126673" y="0"/>
                    </a:moveTo>
                    <a:lnTo>
                      <a:pt x="745276" y="0"/>
                    </a:lnTo>
                    <a:cubicBezTo>
                      <a:pt x="778872" y="0"/>
                      <a:pt x="811092" y="13346"/>
                      <a:pt x="834848" y="37102"/>
                    </a:cubicBezTo>
                    <a:cubicBezTo>
                      <a:pt x="858603" y="60857"/>
                      <a:pt x="871949" y="93077"/>
                      <a:pt x="871949" y="126673"/>
                    </a:cubicBezTo>
                    <a:lnTo>
                      <a:pt x="871949" y="126673"/>
                    </a:lnTo>
                    <a:cubicBezTo>
                      <a:pt x="871949" y="160269"/>
                      <a:pt x="858603" y="192489"/>
                      <a:pt x="834848" y="216244"/>
                    </a:cubicBezTo>
                    <a:cubicBezTo>
                      <a:pt x="811092" y="240000"/>
                      <a:pt x="778872" y="253346"/>
                      <a:pt x="745276" y="253346"/>
                    </a:cubicBezTo>
                    <a:lnTo>
                      <a:pt x="126673" y="253346"/>
                    </a:lnTo>
                    <a:cubicBezTo>
                      <a:pt x="93077" y="253346"/>
                      <a:pt x="60857" y="240000"/>
                      <a:pt x="37102" y="216244"/>
                    </a:cubicBezTo>
                    <a:cubicBezTo>
                      <a:pt x="13346" y="192489"/>
                      <a:pt x="0" y="160269"/>
                      <a:pt x="0" y="126673"/>
                    </a:cubicBezTo>
                    <a:lnTo>
                      <a:pt x="0" y="126673"/>
                    </a:lnTo>
                    <a:cubicBezTo>
                      <a:pt x="0" y="93077"/>
                      <a:pt x="13346" y="60857"/>
                      <a:pt x="37102" y="37102"/>
                    </a:cubicBezTo>
                    <a:cubicBezTo>
                      <a:pt x="60857" y="13346"/>
                      <a:pt x="93077" y="0"/>
                      <a:pt x="126673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rnd">
                <a:gradFill>
                  <a:gsLst>
                    <a:gs pos="0">
                      <a:srgbClr val="C5DFFF">
                        <a:alpha val="33000"/>
                      </a:srgbClr>
                    </a:gs>
                    <a:gs pos="50000">
                      <a:srgbClr val="C5DFFF">
                        <a:alpha val="46500"/>
                      </a:srgbClr>
                    </a:gs>
                    <a:gs pos="100000">
                      <a:srgbClr val="C5DFFF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871949" cy="3009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8100000">
              <a:off x="491288" y="508232"/>
              <a:ext cx="471714" cy="545597"/>
            </a:xfrm>
            <a:custGeom>
              <a:avLst/>
              <a:gdLst/>
              <a:ahLst/>
              <a:cxnLst/>
              <a:rect r="r" b="b" t="t" l="l"/>
              <a:pathLst>
                <a:path h="545597" w="471714">
                  <a:moveTo>
                    <a:pt x="0" y="0"/>
                  </a:moveTo>
                  <a:lnTo>
                    <a:pt x="471714" y="0"/>
                  </a:lnTo>
                  <a:lnTo>
                    <a:pt x="471714" y="545597"/>
                  </a:lnTo>
                  <a:lnTo>
                    <a:pt x="0" y="545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350895" y="579867"/>
              <a:ext cx="2996824" cy="4690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667" spc="125">
                  <a:solidFill>
                    <a:srgbClr val="031C22"/>
                  </a:solidFill>
                  <a:latin typeface="DM Sans"/>
                  <a:ea typeface="DM Sans"/>
                  <a:cs typeface="DM Sans"/>
                  <a:sym typeface="DM Sans"/>
                </a:rPr>
                <a:t>Bem-Vindo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160271" y="3819662"/>
            <a:ext cx="9967458" cy="3406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93"/>
              </a:lnSpc>
            </a:pPr>
            <a:r>
              <a:rPr sz="7200">
                <a:solidFill>
                  <a:srgbClr val="FFFFFF"/>
                </a:solidFill>
              </a:rPr>
              <a:t>Performance &amp;</a:t>
            </a:r>
          </a:p>
          <a:p>
            <a:pPr algn="ctr"/>
            <a:r>
              <a:rPr sz="7200">
                <a:solidFill>
                  <a:srgbClr val="39E55F"/>
                </a:solidFill>
              </a:rPr>
              <a:t>Aquisicao de Leads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59079" y="7573325"/>
            <a:ext cx="5769842" cy="407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3"/>
              </a:lnSpc>
            </a:pPr>
            <a:r>
              <a:rPr sz="1800">
                <a:solidFill>
                  <a:srgbClr val="B0C4C4"/>
                </a:solidFill>
              </a:rPr>
              <a:t>Trafego pago  |  Landing Pages  |  Integracoes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3812" y="1695537"/>
            <a:ext cx="858096" cy="861179"/>
            <a:chOff x="0" y="0"/>
            <a:chExt cx="1144128" cy="114823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144128" cy="1148239"/>
              <a:chOff x="0" y="0"/>
              <a:chExt cx="252439" cy="25334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52439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252439">
                    <a:moveTo>
                      <a:pt x="126220" y="0"/>
                    </a:moveTo>
                    <a:lnTo>
                      <a:pt x="126220" y="0"/>
                    </a:lnTo>
                    <a:cubicBezTo>
                      <a:pt x="195929" y="0"/>
                      <a:pt x="252439" y="56510"/>
                      <a:pt x="252439" y="126220"/>
                    </a:cubicBezTo>
                    <a:lnTo>
                      <a:pt x="252439" y="127127"/>
                    </a:lnTo>
                    <a:cubicBezTo>
                      <a:pt x="252439" y="196836"/>
                      <a:pt x="195929" y="253346"/>
                      <a:pt x="126220" y="253346"/>
                    </a:cubicBezTo>
                    <a:lnTo>
                      <a:pt x="126220" y="253346"/>
                    </a:lnTo>
                    <a:cubicBezTo>
                      <a:pt x="56510" y="253346"/>
                      <a:pt x="0" y="196836"/>
                      <a:pt x="0" y="127127"/>
                    </a:cubicBezTo>
                    <a:lnTo>
                      <a:pt x="0" y="126220"/>
                    </a:lnTo>
                    <a:cubicBezTo>
                      <a:pt x="0" y="56510"/>
                      <a:pt x="56510" y="0"/>
                      <a:pt x="1262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rnd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252439" cy="300971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13170" y="115703"/>
              <a:ext cx="917789" cy="916832"/>
              <a:chOff x="0" y="0"/>
              <a:chExt cx="202500" cy="20228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02500" cy="202289"/>
              </a:xfrm>
              <a:custGeom>
                <a:avLst/>
                <a:gdLst/>
                <a:ahLst/>
                <a:cxnLst/>
                <a:rect r="r" b="b" t="t" l="l"/>
                <a:pathLst>
                  <a:path h="202289" w="202500">
                    <a:moveTo>
                      <a:pt x="101144" y="0"/>
                    </a:moveTo>
                    <a:lnTo>
                      <a:pt x="101356" y="0"/>
                    </a:lnTo>
                    <a:cubicBezTo>
                      <a:pt x="128181" y="0"/>
                      <a:pt x="153907" y="10656"/>
                      <a:pt x="172875" y="29625"/>
                    </a:cubicBezTo>
                    <a:cubicBezTo>
                      <a:pt x="191844" y="48593"/>
                      <a:pt x="202500" y="74319"/>
                      <a:pt x="202500" y="101144"/>
                    </a:cubicBezTo>
                    <a:lnTo>
                      <a:pt x="202500" y="101144"/>
                    </a:lnTo>
                    <a:cubicBezTo>
                      <a:pt x="202500" y="127970"/>
                      <a:pt x="191844" y="153696"/>
                      <a:pt x="172875" y="172664"/>
                    </a:cubicBezTo>
                    <a:cubicBezTo>
                      <a:pt x="153907" y="191633"/>
                      <a:pt x="128181" y="202289"/>
                      <a:pt x="101356" y="202289"/>
                    </a:cubicBezTo>
                    <a:lnTo>
                      <a:pt x="101144" y="202289"/>
                    </a:lnTo>
                    <a:cubicBezTo>
                      <a:pt x="74319" y="202289"/>
                      <a:pt x="48593" y="191633"/>
                      <a:pt x="29625" y="172664"/>
                    </a:cubicBezTo>
                    <a:cubicBezTo>
                      <a:pt x="10656" y="153696"/>
                      <a:pt x="0" y="127970"/>
                      <a:pt x="0" y="101144"/>
                    </a:cubicBezTo>
                    <a:lnTo>
                      <a:pt x="0" y="101144"/>
                    </a:lnTo>
                    <a:cubicBezTo>
                      <a:pt x="0" y="74319"/>
                      <a:pt x="10656" y="48593"/>
                      <a:pt x="29625" y="29625"/>
                    </a:cubicBezTo>
                    <a:cubicBezTo>
                      <a:pt x="48593" y="10656"/>
                      <a:pt x="74319" y="0"/>
                      <a:pt x="10114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sq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202500" cy="249914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8100000">
              <a:off x="360909" y="329892"/>
              <a:ext cx="422310" cy="488455"/>
            </a:xfrm>
            <a:custGeom>
              <a:avLst/>
              <a:gdLst/>
              <a:ahLst/>
              <a:cxnLst/>
              <a:rect r="r" b="b" t="t" l="l"/>
              <a:pathLst>
                <a:path h="488455" w="422310">
                  <a:moveTo>
                    <a:pt x="0" y="0"/>
                  </a:moveTo>
                  <a:lnTo>
                    <a:pt x="422310" y="0"/>
                  </a:lnTo>
                  <a:lnTo>
                    <a:pt x="422310" y="488455"/>
                  </a:lnTo>
                  <a:lnTo>
                    <a:pt x="0" y="4884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157570" y="0"/>
            <a:ext cx="10130430" cy="10287000"/>
            <a:chOff x="0" y="0"/>
            <a:chExt cx="2668097" cy="27093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668097" cy="2709333"/>
            </a:xfrm>
            <a:custGeom>
              <a:avLst/>
              <a:gdLst/>
              <a:ahLst/>
              <a:cxnLst/>
              <a:rect r="r" b="b" t="t" l="l"/>
              <a:pathLst>
                <a:path h="2709333" w="2668097">
                  <a:moveTo>
                    <a:pt x="0" y="0"/>
                  </a:moveTo>
                  <a:lnTo>
                    <a:pt x="2668097" y="0"/>
                  </a:lnTo>
                  <a:lnTo>
                    <a:pt x="2668097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3060B">
                    <a:alpha val="100000"/>
                  </a:srgbClr>
                </a:gs>
                <a:gs pos="100000">
                  <a:srgbClr val="023137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2668097" cy="2785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83812" y="4244903"/>
            <a:ext cx="5878364" cy="152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61"/>
              </a:lnSpc>
            </a:pPr>
            <a:r>
              <a:rPr lang="en-US" sz="10055">
                <a:gradFill>
                  <a:gsLst>
                    <a:gs pos="0">
                      <a:srgbClr val="03060B">
                        <a:alpha val="100000"/>
                      </a:srgbClr>
                    </a:gs>
                    <a:gs pos="100000">
                      <a:srgbClr val="023137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Light"/>
                <a:ea typeface="Poppins Light"/>
                <a:cs typeface="Poppins Light"/>
                <a:sym typeface="Poppins Light"/>
              </a:rPr>
              <a:t>Objetivos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83812" y="5938726"/>
            <a:ext cx="5109504" cy="33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1"/>
              </a:lnSpc>
            </a:pPr>
            <a:r>
              <a:rPr sz="1400">
                <a:solidFill>
                  <a:srgbClr val="5A7A7A"/>
                </a:solidFill>
              </a:rPr>
              <a:t>de performance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16616" y="3636674"/>
            <a:ext cx="3701718" cy="37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4"/>
              </a:lnSpc>
            </a:pPr>
            <a:r>
              <a:rPr sz="2200">
                <a:solidFill>
                  <a:srgbClr val="FFFFFF"/>
                </a:solidFill>
              </a:rPr>
              <a:t>Alcance e reconhecimento de marca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753139" y="3524777"/>
            <a:ext cx="712170" cy="714729"/>
            <a:chOff x="0" y="0"/>
            <a:chExt cx="949560" cy="952972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949560" cy="952972"/>
              <a:chOff x="0" y="0"/>
              <a:chExt cx="252439" cy="25334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52439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252439">
                    <a:moveTo>
                      <a:pt x="126220" y="0"/>
                    </a:moveTo>
                    <a:lnTo>
                      <a:pt x="126220" y="0"/>
                    </a:lnTo>
                    <a:cubicBezTo>
                      <a:pt x="195929" y="0"/>
                      <a:pt x="252439" y="56510"/>
                      <a:pt x="252439" y="126220"/>
                    </a:cubicBezTo>
                    <a:lnTo>
                      <a:pt x="252439" y="127127"/>
                    </a:lnTo>
                    <a:cubicBezTo>
                      <a:pt x="252439" y="196836"/>
                      <a:pt x="195929" y="253346"/>
                      <a:pt x="126220" y="253346"/>
                    </a:cubicBezTo>
                    <a:lnTo>
                      <a:pt x="126220" y="253346"/>
                    </a:lnTo>
                    <a:cubicBezTo>
                      <a:pt x="56510" y="253346"/>
                      <a:pt x="0" y="196836"/>
                      <a:pt x="0" y="127127"/>
                    </a:cubicBezTo>
                    <a:lnTo>
                      <a:pt x="0" y="126220"/>
                    </a:lnTo>
                    <a:cubicBezTo>
                      <a:pt x="0" y="56510"/>
                      <a:pt x="56510" y="0"/>
                      <a:pt x="1262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rnd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252439" cy="300971"/>
              </a:xfrm>
              <a:prstGeom prst="rect">
                <a:avLst/>
              </a:prstGeom>
            </p:spPr>
            <p:txBody>
              <a:bodyPr anchor="ctr" rtlCol="false" tIns="34139" lIns="34139" bIns="34139" rIns="34139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93924" y="96027"/>
              <a:ext cx="761712" cy="760918"/>
              <a:chOff x="0" y="0"/>
              <a:chExt cx="202500" cy="202289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02500" cy="202289"/>
              </a:xfrm>
              <a:custGeom>
                <a:avLst/>
                <a:gdLst/>
                <a:ahLst/>
                <a:cxnLst/>
                <a:rect r="r" b="b" t="t" l="l"/>
                <a:pathLst>
                  <a:path h="202289" w="202500">
                    <a:moveTo>
                      <a:pt x="101144" y="0"/>
                    </a:moveTo>
                    <a:lnTo>
                      <a:pt x="101356" y="0"/>
                    </a:lnTo>
                    <a:cubicBezTo>
                      <a:pt x="128181" y="0"/>
                      <a:pt x="153907" y="10656"/>
                      <a:pt x="172875" y="29625"/>
                    </a:cubicBezTo>
                    <a:cubicBezTo>
                      <a:pt x="191844" y="48593"/>
                      <a:pt x="202500" y="74319"/>
                      <a:pt x="202500" y="101144"/>
                    </a:cubicBezTo>
                    <a:lnTo>
                      <a:pt x="202500" y="101144"/>
                    </a:lnTo>
                    <a:cubicBezTo>
                      <a:pt x="202500" y="127970"/>
                      <a:pt x="191844" y="153696"/>
                      <a:pt x="172875" y="172664"/>
                    </a:cubicBezTo>
                    <a:cubicBezTo>
                      <a:pt x="153907" y="191633"/>
                      <a:pt x="128181" y="202289"/>
                      <a:pt x="101356" y="202289"/>
                    </a:cubicBezTo>
                    <a:lnTo>
                      <a:pt x="101144" y="202289"/>
                    </a:lnTo>
                    <a:cubicBezTo>
                      <a:pt x="74319" y="202289"/>
                      <a:pt x="48593" y="191633"/>
                      <a:pt x="29625" y="172664"/>
                    </a:cubicBezTo>
                    <a:cubicBezTo>
                      <a:pt x="10656" y="153696"/>
                      <a:pt x="0" y="127970"/>
                      <a:pt x="0" y="101144"/>
                    </a:cubicBezTo>
                    <a:lnTo>
                      <a:pt x="0" y="101144"/>
                    </a:lnTo>
                    <a:cubicBezTo>
                      <a:pt x="0" y="74319"/>
                      <a:pt x="10656" y="48593"/>
                      <a:pt x="29625" y="29625"/>
                    </a:cubicBezTo>
                    <a:cubicBezTo>
                      <a:pt x="48593" y="10656"/>
                      <a:pt x="74319" y="0"/>
                      <a:pt x="10114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sq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47625"/>
                <a:ext cx="202500" cy="249914"/>
              </a:xfrm>
              <a:prstGeom prst="rect">
                <a:avLst/>
              </a:prstGeom>
            </p:spPr>
            <p:txBody>
              <a:bodyPr anchor="ctr" rtlCol="false" tIns="34139" lIns="34139" bIns="34139" rIns="34139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200859" y="111222"/>
              <a:ext cx="547843" cy="7305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72"/>
                </a:lnSpc>
              </a:pPr>
              <a:r>
                <a:rPr lang="en-US" sz="3611">
                  <a:solidFill>
                    <a:srgbClr val="031C22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753139" y="4785143"/>
            <a:ext cx="712170" cy="714729"/>
            <a:chOff x="0" y="0"/>
            <a:chExt cx="949560" cy="952972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949560" cy="952972"/>
              <a:chOff x="0" y="0"/>
              <a:chExt cx="252439" cy="253346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52439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252439">
                    <a:moveTo>
                      <a:pt x="126220" y="0"/>
                    </a:moveTo>
                    <a:lnTo>
                      <a:pt x="126220" y="0"/>
                    </a:lnTo>
                    <a:cubicBezTo>
                      <a:pt x="195929" y="0"/>
                      <a:pt x="252439" y="56510"/>
                      <a:pt x="252439" y="126220"/>
                    </a:cubicBezTo>
                    <a:lnTo>
                      <a:pt x="252439" y="127127"/>
                    </a:lnTo>
                    <a:cubicBezTo>
                      <a:pt x="252439" y="196836"/>
                      <a:pt x="195929" y="253346"/>
                      <a:pt x="126220" y="253346"/>
                    </a:cubicBezTo>
                    <a:lnTo>
                      <a:pt x="126220" y="253346"/>
                    </a:lnTo>
                    <a:cubicBezTo>
                      <a:pt x="56510" y="253346"/>
                      <a:pt x="0" y="196836"/>
                      <a:pt x="0" y="127127"/>
                    </a:cubicBezTo>
                    <a:lnTo>
                      <a:pt x="0" y="126220"/>
                    </a:lnTo>
                    <a:cubicBezTo>
                      <a:pt x="0" y="56510"/>
                      <a:pt x="56510" y="0"/>
                      <a:pt x="1262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rnd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47625"/>
                <a:ext cx="252439" cy="300971"/>
              </a:xfrm>
              <a:prstGeom prst="rect">
                <a:avLst/>
              </a:prstGeom>
            </p:spPr>
            <p:txBody>
              <a:bodyPr anchor="ctr" rtlCol="false" tIns="34139" lIns="34139" bIns="34139" rIns="34139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93924" y="96027"/>
              <a:ext cx="761712" cy="760918"/>
              <a:chOff x="0" y="0"/>
              <a:chExt cx="202500" cy="202289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02500" cy="202289"/>
              </a:xfrm>
              <a:custGeom>
                <a:avLst/>
                <a:gdLst/>
                <a:ahLst/>
                <a:cxnLst/>
                <a:rect r="r" b="b" t="t" l="l"/>
                <a:pathLst>
                  <a:path h="202289" w="202500">
                    <a:moveTo>
                      <a:pt x="101144" y="0"/>
                    </a:moveTo>
                    <a:lnTo>
                      <a:pt x="101356" y="0"/>
                    </a:lnTo>
                    <a:cubicBezTo>
                      <a:pt x="128181" y="0"/>
                      <a:pt x="153907" y="10656"/>
                      <a:pt x="172875" y="29625"/>
                    </a:cubicBezTo>
                    <a:cubicBezTo>
                      <a:pt x="191844" y="48593"/>
                      <a:pt x="202500" y="74319"/>
                      <a:pt x="202500" y="101144"/>
                    </a:cubicBezTo>
                    <a:lnTo>
                      <a:pt x="202500" y="101144"/>
                    </a:lnTo>
                    <a:cubicBezTo>
                      <a:pt x="202500" y="127970"/>
                      <a:pt x="191844" y="153696"/>
                      <a:pt x="172875" y="172664"/>
                    </a:cubicBezTo>
                    <a:cubicBezTo>
                      <a:pt x="153907" y="191633"/>
                      <a:pt x="128181" y="202289"/>
                      <a:pt x="101356" y="202289"/>
                    </a:cubicBezTo>
                    <a:lnTo>
                      <a:pt x="101144" y="202289"/>
                    </a:lnTo>
                    <a:cubicBezTo>
                      <a:pt x="74319" y="202289"/>
                      <a:pt x="48593" y="191633"/>
                      <a:pt x="29625" y="172664"/>
                    </a:cubicBezTo>
                    <a:cubicBezTo>
                      <a:pt x="10656" y="153696"/>
                      <a:pt x="0" y="127970"/>
                      <a:pt x="0" y="101144"/>
                    </a:cubicBezTo>
                    <a:lnTo>
                      <a:pt x="0" y="101144"/>
                    </a:lnTo>
                    <a:cubicBezTo>
                      <a:pt x="0" y="74319"/>
                      <a:pt x="10656" y="48593"/>
                      <a:pt x="29625" y="29625"/>
                    </a:cubicBezTo>
                    <a:cubicBezTo>
                      <a:pt x="48593" y="10656"/>
                      <a:pt x="74319" y="0"/>
                      <a:pt x="10114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sq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47625"/>
                <a:ext cx="202500" cy="249914"/>
              </a:xfrm>
              <a:prstGeom prst="rect">
                <a:avLst/>
              </a:prstGeom>
            </p:spPr>
            <p:txBody>
              <a:bodyPr anchor="ctr" rtlCol="false" tIns="34139" lIns="34139" bIns="34139" rIns="34139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200859" y="111222"/>
              <a:ext cx="547843" cy="7305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72"/>
                </a:lnSpc>
              </a:pPr>
              <a:r>
                <a:rPr lang="en-US" sz="3611">
                  <a:solidFill>
                    <a:srgbClr val="031C22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753139" y="6047494"/>
            <a:ext cx="712170" cy="714729"/>
            <a:chOff x="0" y="0"/>
            <a:chExt cx="949560" cy="952972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949560" cy="952972"/>
              <a:chOff x="0" y="0"/>
              <a:chExt cx="252439" cy="253346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252439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252439">
                    <a:moveTo>
                      <a:pt x="126220" y="0"/>
                    </a:moveTo>
                    <a:lnTo>
                      <a:pt x="126220" y="0"/>
                    </a:lnTo>
                    <a:cubicBezTo>
                      <a:pt x="195929" y="0"/>
                      <a:pt x="252439" y="56510"/>
                      <a:pt x="252439" y="126220"/>
                    </a:cubicBezTo>
                    <a:lnTo>
                      <a:pt x="252439" y="127127"/>
                    </a:lnTo>
                    <a:cubicBezTo>
                      <a:pt x="252439" y="196836"/>
                      <a:pt x="195929" y="253346"/>
                      <a:pt x="126220" y="253346"/>
                    </a:cubicBezTo>
                    <a:lnTo>
                      <a:pt x="126220" y="253346"/>
                    </a:lnTo>
                    <a:cubicBezTo>
                      <a:pt x="56510" y="253346"/>
                      <a:pt x="0" y="196836"/>
                      <a:pt x="0" y="127127"/>
                    </a:cubicBezTo>
                    <a:lnTo>
                      <a:pt x="0" y="126220"/>
                    </a:lnTo>
                    <a:cubicBezTo>
                      <a:pt x="0" y="56510"/>
                      <a:pt x="56510" y="0"/>
                      <a:pt x="1262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rnd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47625"/>
                <a:ext cx="252439" cy="300971"/>
              </a:xfrm>
              <a:prstGeom prst="rect">
                <a:avLst/>
              </a:prstGeom>
            </p:spPr>
            <p:txBody>
              <a:bodyPr anchor="ctr" rtlCol="false" tIns="34139" lIns="34139" bIns="34139" rIns="34139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93924" y="96027"/>
              <a:ext cx="761712" cy="760918"/>
              <a:chOff x="0" y="0"/>
              <a:chExt cx="202500" cy="202289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202500" cy="202289"/>
              </a:xfrm>
              <a:custGeom>
                <a:avLst/>
                <a:gdLst/>
                <a:ahLst/>
                <a:cxnLst/>
                <a:rect r="r" b="b" t="t" l="l"/>
                <a:pathLst>
                  <a:path h="202289" w="202500">
                    <a:moveTo>
                      <a:pt x="101144" y="0"/>
                    </a:moveTo>
                    <a:lnTo>
                      <a:pt x="101356" y="0"/>
                    </a:lnTo>
                    <a:cubicBezTo>
                      <a:pt x="128181" y="0"/>
                      <a:pt x="153907" y="10656"/>
                      <a:pt x="172875" y="29625"/>
                    </a:cubicBezTo>
                    <a:cubicBezTo>
                      <a:pt x="191844" y="48593"/>
                      <a:pt x="202500" y="74319"/>
                      <a:pt x="202500" y="101144"/>
                    </a:cubicBezTo>
                    <a:lnTo>
                      <a:pt x="202500" y="101144"/>
                    </a:lnTo>
                    <a:cubicBezTo>
                      <a:pt x="202500" y="127970"/>
                      <a:pt x="191844" y="153696"/>
                      <a:pt x="172875" y="172664"/>
                    </a:cubicBezTo>
                    <a:cubicBezTo>
                      <a:pt x="153907" y="191633"/>
                      <a:pt x="128181" y="202289"/>
                      <a:pt x="101356" y="202289"/>
                    </a:cubicBezTo>
                    <a:lnTo>
                      <a:pt x="101144" y="202289"/>
                    </a:lnTo>
                    <a:cubicBezTo>
                      <a:pt x="74319" y="202289"/>
                      <a:pt x="48593" y="191633"/>
                      <a:pt x="29625" y="172664"/>
                    </a:cubicBezTo>
                    <a:cubicBezTo>
                      <a:pt x="10656" y="153696"/>
                      <a:pt x="0" y="127970"/>
                      <a:pt x="0" y="101144"/>
                    </a:cubicBezTo>
                    <a:lnTo>
                      <a:pt x="0" y="101144"/>
                    </a:lnTo>
                    <a:cubicBezTo>
                      <a:pt x="0" y="74319"/>
                      <a:pt x="10656" y="48593"/>
                      <a:pt x="29625" y="29625"/>
                    </a:cubicBezTo>
                    <a:cubicBezTo>
                      <a:pt x="48593" y="10656"/>
                      <a:pt x="74319" y="0"/>
                      <a:pt x="10114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sq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47625"/>
                <a:ext cx="202500" cy="249914"/>
              </a:xfrm>
              <a:prstGeom prst="rect">
                <a:avLst/>
              </a:prstGeom>
            </p:spPr>
            <p:txBody>
              <a:bodyPr anchor="ctr" rtlCol="false" tIns="34139" lIns="34139" bIns="34139" rIns="34139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200859" y="111222"/>
              <a:ext cx="547843" cy="7305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72"/>
                </a:lnSpc>
              </a:pPr>
              <a:r>
                <a:rPr lang="en-US" sz="3611">
                  <a:solidFill>
                    <a:srgbClr val="031C22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3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916616" y="6218161"/>
            <a:ext cx="4353731" cy="37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4"/>
              </a:lnSpc>
            </a:pPr>
            <a:r>
              <a:rPr sz="2200">
                <a:solidFill>
                  <a:srgbClr val="FFFFFF"/>
                </a:solidFill>
              </a:rPr>
              <a:t>Mensuracao e origem de cada lead gerado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916616" y="5085357"/>
            <a:ext cx="4282514" cy="37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4"/>
              </a:lnSpc>
            </a:pPr>
            <a:r>
              <a:rPr sz="2200">
                <a:solidFill>
                  <a:srgbClr val="FFFFFF"/>
                </a:solidFill>
              </a:rPr>
              <a:t>Geracao de leads qualificados por nicho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3060B">
                <a:alpha val="100000"/>
              </a:srgbClr>
            </a:gs>
            <a:gs pos="100000">
              <a:srgbClr val="02313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5" id="5"/>
          <p:cNvGrpSpPr/>
          <p:nvPr/>
        </p:nvGrpSpPr>
        <p:grpSpPr>
          <a:xfrm rot="0">
            <a:off x="699890" y="553594"/>
            <a:ext cx="946810" cy="950211"/>
            <a:chOff x="0" y="0"/>
            <a:chExt cx="1262413" cy="126694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262413" cy="1266949"/>
              <a:chOff x="0" y="0"/>
              <a:chExt cx="252439" cy="25334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52439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252439">
                    <a:moveTo>
                      <a:pt x="126220" y="0"/>
                    </a:moveTo>
                    <a:lnTo>
                      <a:pt x="126220" y="0"/>
                    </a:lnTo>
                    <a:cubicBezTo>
                      <a:pt x="195929" y="0"/>
                      <a:pt x="252439" y="56510"/>
                      <a:pt x="252439" y="126220"/>
                    </a:cubicBezTo>
                    <a:lnTo>
                      <a:pt x="252439" y="127127"/>
                    </a:lnTo>
                    <a:cubicBezTo>
                      <a:pt x="252439" y="196836"/>
                      <a:pt x="195929" y="253346"/>
                      <a:pt x="126220" y="253346"/>
                    </a:cubicBezTo>
                    <a:lnTo>
                      <a:pt x="126220" y="253346"/>
                    </a:lnTo>
                    <a:cubicBezTo>
                      <a:pt x="56510" y="253346"/>
                      <a:pt x="0" y="196836"/>
                      <a:pt x="0" y="127127"/>
                    </a:cubicBezTo>
                    <a:lnTo>
                      <a:pt x="0" y="126220"/>
                    </a:lnTo>
                    <a:cubicBezTo>
                      <a:pt x="0" y="56510"/>
                      <a:pt x="56510" y="0"/>
                      <a:pt x="1262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rnd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252439" cy="300971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4869" y="127665"/>
              <a:ext cx="1012674" cy="1011618"/>
              <a:chOff x="0" y="0"/>
              <a:chExt cx="202500" cy="20228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2500" cy="202289"/>
              </a:xfrm>
              <a:custGeom>
                <a:avLst/>
                <a:gdLst/>
                <a:ahLst/>
                <a:cxnLst/>
                <a:rect r="r" b="b" t="t" l="l"/>
                <a:pathLst>
                  <a:path h="202289" w="202500">
                    <a:moveTo>
                      <a:pt x="101144" y="0"/>
                    </a:moveTo>
                    <a:lnTo>
                      <a:pt x="101356" y="0"/>
                    </a:lnTo>
                    <a:cubicBezTo>
                      <a:pt x="128181" y="0"/>
                      <a:pt x="153907" y="10656"/>
                      <a:pt x="172875" y="29625"/>
                    </a:cubicBezTo>
                    <a:cubicBezTo>
                      <a:pt x="191844" y="48593"/>
                      <a:pt x="202500" y="74319"/>
                      <a:pt x="202500" y="101144"/>
                    </a:cubicBezTo>
                    <a:lnTo>
                      <a:pt x="202500" y="101144"/>
                    </a:lnTo>
                    <a:cubicBezTo>
                      <a:pt x="202500" y="127970"/>
                      <a:pt x="191844" y="153696"/>
                      <a:pt x="172875" y="172664"/>
                    </a:cubicBezTo>
                    <a:cubicBezTo>
                      <a:pt x="153907" y="191633"/>
                      <a:pt x="128181" y="202289"/>
                      <a:pt x="101356" y="202289"/>
                    </a:cubicBezTo>
                    <a:lnTo>
                      <a:pt x="101144" y="202289"/>
                    </a:lnTo>
                    <a:cubicBezTo>
                      <a:pt x="74319" y="202289"/>
                      <a:pt x="48593" y="191633"/>
                      <a:pt x="29625" y="172664"/>
                    </a:cubicBezTo>
                    <a:cubicBezTo>
                      <a:pt x="10656" y="153696"/>
                      <a:pt x="0" y="127970"/>
                      <a:pt x="0" y="101144"/>
                    </a:cubicBezTo>
                    <a:lnTo>
                      <a:pt x="0" y="101144"/>
                    </a:lnTo>
                    <a:cubicBezTo>
                      <a:pt x="0" y="74319"/>
                      <a:pt x="10656" y="48593"/>
                      <a:pt x="29625" y="29625"/>
                    </a:cubicBezTo>
                    <a:cubicBezTo>
                      <a:pt x="48593" y="10656"/>
                      <a:pt x="74319" y="0"/>
                      <a:pt x="10114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sq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202500" cy="249914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8100000">
              <a:off x="398221" y="363997"/>
              <a:ext cx="465971" cy="538954"/>
            </a:xfrm>
            <a:custGeom>
              <a:avLst/>
              <a:gdLst/>
              <a:ahLst/>
              <a:cxnLst/>
              <a:rect r="r" b="b" t="t" l="l"/>
              <a:pathLst>
                <a:path h="538954" w="465971">
                  <a:moveTo>
                    <a:pt x="0" y="0"/>
                  </a:moveTo>
                  <a:lnTo>
                    <a:pt x="465971" y="0"/>
                  </a:lnTo>
                  <a:lnTo>
                    <a:pt x="465971" y="538954"/>
                  </a:lnTo>
                  <a:lnTo>
                    <a:pt x="0" y="538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1132051" y="8166548"/>
            <a:ext cx="2882301" cy="47625"/>
            <a:chOff x="0" y="0"/>
            <a:chExt cx="863095" cy="142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3095" cy="14261"/>
            </a:xfrm>
            <a:custGeom>
              <a:avLst/>
              <a:gdLst/>
              <a:ahLst/>
              <a:cxnLst/>
              <a:rect r="r" b="b" t="t" l="l"/>
              <a:pathLst>
                <a:path h="14261" w="863095">
                  <a:moveTo>
                    <a:pt x="7131" y="0"/>
                  </a:moveTo>
                  <a:lnTo>
                    <a:pt x="855965" y="0"/>
                  </a:lnTo>
                  <a:cubicBezTo>
                    <a:pt x="859903" y="0"/>
                    <a:pt x="863095" y="3192"/>
                    <a:pt x="863095" y="7131"/>
                  </a:cubicBezTo>
                  <a:lnTo>
                    <a:pt x="863095" y="7131"/>
                  </a:lnTo>
                  <a:cubicBezTo>
                    <a:pt x="863095" y="9022"/>
                    <a:pt x="862344" y="10835"/>
                    <a:pt x="861007" y="12173"/>
                  </a:cubicBezTo>
                  <a:cubicBezTo>
                    <a:pt x="859670" y="13510"/>
                    <a:pt x="857856" y="14261"/>
                    <a:pt x="855965" y="14261"/>
                  </a:cubicBezTo>
                  <a:lnTo>
                    <a:pt x="7131" y="14261"/>
                  </a:lnTo>
                  <a:cubicBezTo>
                    <a:pt x="5239" y="14261"/>
                    <a:pt x="3426" y="13510"/>
                    <a:pt x="2088" y="12173"/>
                  </a:cubicBezTo>
                  <a:cubicBezTo>
                    <a:pt x="751" y="10835"/>
                    <a:pt x="0" y="9022"/>
                    <a:pt x="0" y="7131"/>
                  </a:cubicBezTo>
                  <a:lnTo>
                    <a:pt x="0" y="7131"/>
                  </a:lnTo>
                  <a:cubicBezTo>
                    <a:pt x="0" y="5239"/>
                    <a:pt x="751" y="3426"/>
                    <a:pt x="2088" y="2088"/>
                  </a:cubicBezTo>
                  <a:cubicBezTo>
                    <a:pt x="3426" y="751"/>
                    <a:pt x="5239" y="0"/>
                    <a:pt x="71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863095" cy="90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132051" y="4914994"/>
            <a:ext cx="2882301" cy="47625"/>
            <a:chOff x="0" y="0"/>
            <a:chExt cx="863095" cy="1426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63095" cy="14261"/>
            </a:xfrm>
            <a:custGeom>
              <a:avLst/>
              <a:gdLst/>
              <a:ahLst/>
              <a:cxnLst/>
              <a:rect r="r" b="b" t="t" l="l"/>
              <a:pathLst>
                <a:path h="14261" w="863095">
                  <a:moveTo>
                    <a:pt x="7131" y="0"/>
                  </a:moveTo>
                  <a:lnTo>
                    <a:pt x="855965" y="0"/>
                  </a:lnTo>
                  <a:cubicBezTo>
                    <a:pt x="859903" y="0"/>
                    <a:pt x="863095" y="3192"/>
                    <a:pt x="863095" y="7131"/>
                  </a:cubicBezTo>
                  <a:lnTo>
                    <a:pt x="863095" y="7131"/>
                  </a:lnTo>
                  <a:cubicBezTo>
                    <a:pt x="863095" y="9022"/>
                    <a:pt x="862344" y="10835"/>
                    <a:pt x="861007" y="12173"/>
                  </a:cubicBezTo>
                  <a:cubicBezTo>
                    <a:pt x="859670" y="13510"/>
                    <a:pt x="857856" y="14261"/>
                    <a:pt x="855965" y="14261"/>
                  </a:cubicBezTo>
                  <a:lnTo>
                    <a:pt x="7131" y="14261"/>
                  </a:lnTo>
                  <a:cubicBezTo>
                    <a:pt x="5239" y="14261"/>
                    <a:pt x="3426" y="13510"/>
                    <a:pt x="2088" y="12173"/>
                  </a:cubicBezTo>
                  <a:cubicBezTo>
                    <a:pt x="751" y="10835"/>
                    <a:pt x="0" y="9022"/>
                    <a:pt x="0" y="7131"/>
                  </a:cubicBezTo>
                  <a:lnTo>
                    <a:pt x="0" y="7131"/>
                  </a:lnTo>
                  <a:cubicBezTo>
                    <a:pt x="0" y="5239"/>
                    <a:pt x="751" y="3426"/>
                    <a:pt x="2088" y="2088"/>
                  </a:cubicBezTo>
                  <a:cubicBezTo>
                    <a:pt x="3426" y="751"/>
                    <a:pt x="5239" y="0"/>
                    <a:pt x="71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863095" cy="90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1132051" y="2066778"/>
            <a:ext cx="2882301" cy="47625"/>
            <a:chOff x="0" y="0"/>
            <a:chExt cx="863095" cy="1426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3095" cy="14261"/>
            </a:xfrm>
            <a:custGeom>
              <a:avLst/>
              <a:gdLst/>
              <a:ahLst/>
              <a:cxnLst/>
              <a:rect r="r" b="b" t="t" l="l"/>
              <a:pathLst>
                <a:path h="14261" w="863095">
                  <a:moveTo>
                    <a:pt x="7131" y="0"/>
                  </a:moveTo>
                  <a:lnTo>
                    <a:pt x="855965" y="0"/>
                  </a:lnTo>
                  <a:cubicBezTo>
                    <a:pt x="859903" y="0"/>
                    <a:pt x="863095" y="3192"/>
                    <a:pt x="863095" y="7131"/>
                  </a:cubicBezTo>
                  <a:lnTo>
                    <a:pt x="863095" y="7131"/>
                  </a:lnTo>
                  <a:cubicBezTo>
                    <a:pt x="863095" y="9022"/>
                    <a:pt x="862344" y="10835"/>
                    <a:pt x="861007" y="12173"/>
                  </a:cubicBezTo>
                  <a:cubicBezTo>
                    <a:pt x="859670" y="13510"/>
                    <a:pt x="857856" y="14261"/>
                    <a:pt x="855965" y="14261"/>
                  </a:cubicBezTo>
                  <a:lnTo>
                    <a:pt x="7131" y="14261"/>
                  </a:lnTo>
                  <a:cubicBezTo>
                    <a:pt x="5239" y="14261"/>
                    <a:pt x="3426" y="13510"/>
                    <a:pt x="2088" y="12173"/>
                  </a:cubicBezTo>
                  <a:cubicBezTo>
                    <a:pt x="751" y="10835"/>
                    <a:pt x="0" y="9022"/>
                    <a:pt x="0" y="7131"/>
                  </a:cubicBezTo>
                  <a:lnTo>
                    <a:pt x="0" y="7131"/>
                  </a:lnTo>
                  <a:cubicBezTo>
                    <a:pt x="0" y="5239"/>
                    <a:pt x="751" y="3426"/>
                    <a:pt x="2088" y="2088"/>
                  </a:cubicBezTo>
                  <a:cubicBezTo>
                    <a:pt x="3426" y="751"/>
                    <a:pt x="5239" y="0"/>
                    <a:pt x="71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863095" cy="90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1024128" y="7315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E55F"/>
                </a:solidFill>
                <a:latin typeface="Calibri"/>
              </a:rPr>
              <a:t>Investimento Mensal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Calibri"/>
              </a:rPr>
              <a:t>Distribuicao de Verba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4128" y="2331720"/>
            <a:ext cx="16002000" cy="54864"/>
          </a:xfrm>
          <a:prstGeom prst="rect">
            <a:avLst/>
          </a:prstGeom>
          <a:solidFill>
            <a:srgbClr val="39E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24128" y="2560320"/>
            <a:ext cx="7863840" cy="713232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24128" y="2560320"/>
            <a:ext cx="786384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C4"/>
                </a:solidFill>
                <a:latin typeface="Calibri"/>
              </a:rPr>
              <a:t>GOOGLE ADS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24612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0">
                <a:solidFill>
                  <a:srgbClr val="FFFFFF"/>
                </a:solidFill>
                <a:latin typeface="Calibri"/>
              </a:rPr>
              <a:t>R$ 5.500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2976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C4"/>
                </a:solidFill>
                <a:latin typeface="Calibri"/>
              </a:rPr>
              <a:t>69% do investimento total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93776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D0E0E0"/>
                </a:solidFill>
                <a:latin typeface="Calibri"/>
              </a:rPr>
              <a:t>Search Facilities  -  R$ 2.200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D0E0E0"/>
                </a:solidFill>
                <a:latin typeface="Calibri"/>
              </a:rPr>
              <a:t>Search Seguranca  -  R$ 1.800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D0E0E0"/>
                </a:solidFill>
                <a:latin typeface="Calibri"/>
              </a:rPr>
              <a:t>Display Topo de Funil  -  R$ 1.000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00032" y="2560320"/>
            <a:ext cx="7863840" cy="713232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00032" y="2560320"/>
            <a:ext cx="7863840" cy="91440"/>
          </a:xfrm>
          <a:prstGeom prst="rect">
            <a:avLst/>
          </a:prstGeom>
          <a:solidFill>
            <a:srgbClr val="008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C4"/>
                </a:solidFill>
                <a:latin typeface="Calibri"/>
              </a:rPr>
              <a:t>META ADS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24612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0">
                <a:solidFill>
                  <a:srgbClr val="FFFFFF"/>
                </a:solidFill>
                <a:latin typeface="Calibri"/>
              </a:rPr>
              <a:t>R$ 2.500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42976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C4"/>
                </a:solidFill>
                <a:latin typeface="Calibri"/>
              </a:rPr>
              <a:t>31% do investimento total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493776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D0E0E0"/>
                </a:solidFill>
                <a:latin typeface="Calibri"/>
              </a:rPr>
              <a:t>Alcance Institucional  -  R$ 1.600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D0E0E0"/>
                </a:solidFill>
                <a:latin typeface="Calibri"/>
              </a:rPr>
              <a:t>Retargeting LP  -  R$ 900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3060B">
                <a:alpha val="100000"/>
              </a:srgbClr>
            </a:gs>
            <a:gs pos="100000">
              <a:srgbClr val="02313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5" id="5"/>
          <p:cNvGrpSpPr/>
          <p:nvPr/>
        </p:nvGrpSpPr>
        <p:grpSpPr>
          <a:xfrm rot="0">
            <a:off x="699890" y="553594"/>
            <a:ext cx="946810" cy="950211"/>
            <a:chOff x="0" y="0"/>
            <a:chExt cx="1262413" cy="126694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262413" cy="1266949"/>
              <a:chOff x="0" y="0"/>
              <a:chExt cx="252439" cy="25334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52439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252439">
                    <a:moveTo>
                      <a:pt x="126220" y="0"/>
                    </a:moveTo>
                    <a:lnTo>
                      <a:pt x="126220" y="0"/>
                    </a:lnTo>
                    <a:cubicBezTo>
                      <a:pt x="195929" y="0"/>
                      <a:pt x="252439" y="56510"/>
                      <a:pt x="252439" y="126220"/>
                    </a:cubicBezTo>
                    <a:lnTo>
                      <a:pt x="252439" y="127127"/>
                    </a:lnTo>
                    <a:cubicBezTo>
                      <a:pt x="252439" y="196836"/>
                      <a:pt x="195929" y="253346"/>
                      <a:pt x="126220" y="253346"/>
                    </a:cubicBezTo>
                    <a:lnTo>
                      <a:pt x="126220" y="253346"/>
                    </a:lnTo>
                    <a:cubicBezTo>
                      <a:pt x="56510" y="253346"/>
                      <a:pt x="0" y="196836"/>
                      <a:pt x="0" y="127127"/>
                    </a:cubicBezTo>
                    <a:lnTo>
                      <a:pt x="0" y="126220"/>
                    </a:lnTo>
                    <a:cubicBezTo>
                      <a:pt x="0" y="56510"/>
                      <a:pt x="56510" y="0"/>
                      <a:pt x="1262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rnd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252439" cy="300971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4869" y="127665"/>
              <a:ext cx="1012674" cy="1011618"/>
              <a:chOff x="0" y="0"/>
              <a:chExt cx="202500" cy="20228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2500" cy="202289"/>
              </a:xfrm>
              <a:custGeom>
                <a:avLst/>
                <a:gdLst/>
                <a:ahLst/>
                <a:cxnLst/>
                <a:rect r="r" b="b" t="t" l="l"/>
                <a:pathLst>
                  <a:path h="202289" w="202500">
                    <a:moveTo>
                      <a:pt x="101144" y="0"/>
                    </a:moveTo>
                    <a:lnTo>
                      <a:pt x="101356" y="0"/>
                    </a:lnTo>
                    <a:cubicBezTo>
                      <a:pt x="128181" y="0"/>
                      <a:pt x="153907" y="10656"/>
                      <a:pt x="172875" y="29625"/>
                    </a:cubicBezTo>
                    <a:cubicBezTo>
                      <a:pt x="191844" y="48593"/>
                      <a:pt x="202500" y="74319"/>
                      <a:pt x="202500" y="101144"/>
                    </a:cubicBezTo>
                    <a:lnTo>
                      <a:pt x="202500" y="101144"/>
                    </a:lnTo>
                    <a:cubicBezTo>
                      <a:pt x="202500" y="127970"/>
                      <a:pt x="191844" y="153696"/>
                      <a:pt x="172875" y="172664"/>
                    </a:cubicBezTo>
                    <a:cubicBezTo>
                      <a:pt x="153907" y="191633"/>
                      <a:pt x="128181" y="202289"/>
                      <a:pt x="101356" y="202289"/>
                    </a:cubicBezTo>
                    <a:lnTo>
                      <a:pt x="101144" y="202289"/>
                    </a:lnTo>
                    <a:cubicBezTo>
                      <a:pt x="74319" y="202289"/>
                      <a:pt x="48593" y="191633"/>
                      <a:pt x="29625" y="172664"/>
                    </a:cubicBezTo>
                    <a:cubicBezTo>
                      <a:pt x="10656" y="153696"/>
                      <a:pt x="0" y="127970"/>
                      <a:pt x="0" y="101144"/>
                    </a:cubicBezTo>
                    <a:lnTo>
                      <a:pt x="0" y="101144"/>
                    </a:lnTo>
                    <a:cubicBezTo>
                      <a:pt x="0" y="74319"/>
                      <a:pt x="10656" y="48593"/>
                      <a:pt x="29625" y="29625"/>
                    </a:cubicBezTo>
                    <a:cubicBezTo>
                      <a:pt x="48593" y="10656"/>
                      <a:pt x="74319" y="0"/>
                      <a:pt x="10114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sq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202500" cy="249914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8100000">
              <a:off x="398221" y="363997"/>
              <a:ext cx="465971" cy="538954"/>
            </a:xfrm>
            <a:custGeom>
              <a:avLst/>
              <a:gdLst/>
              <a:ahLst/>
              <a:cxnLst/>
              <a:rect r="r" b="b" t="t" l="l"/>
              <a:pathLst>
                <a:path h="538954" w="465971">
                  <a:moveTo>
                    <a:pt x="0" y="0"/>
                  </a:moveTo>
                  <a:lnTo>
                    <a:pt x="465971" y="0"/>
                  </a:lnTo>
                  <a:lnTo>
                    <a:pt x="465971" y="538954"/>
                  </a:lnTo>
                  <a:lnTo>
                    <a:pt x="0" y="538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1132051" y="8166548"/>
            <a:ext cx="2882301" cy="47625"/>
            <a:chOff x="0" y="0"/>
            <a:chExt cx="863095" cy="142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3095" cy="14261"/>
            </a:xfrm>
            <a:custGeom>
              <a:avLst/>
              <a:gdLst/>
              <a:ahLst/>
              <a:cxnLst/>
              <a:rect r="r" b="b" t="t" l="l"/>
              <a:pathLst>
                <a:path h="14261" w="863095">
                  <a:moveTo>
                    <a:pt x="7131" y="0"/>
                  </a:moveTo>
                  <a:lnTo>
                    <a:pt x="855965" y="0"/>
                  </a:lnTo>
                  <a:cubicBezTo>
                    <a:pt x="859903" y="0"/>
                    <a:pt x="863095" y="3192"/>
                    <a:pt x="863095" y="7131"/>
                  </a:cubicBezTo>
                  <a:lnTo>
                    <a:pt x="863095" y="7131"/>
                  </a:lnTo>
                  <a:cubicBezTo>
                    <a:pt x="863095" y="9022"/>
                    <a:pt x="862344" y="10835"/>
                    <a:pt x="861007" y="12173"/>
                  </a:cubicBezTo>
                  <a:cubicBezTo>
                    <a:pt x="859670" y="13510"/>
                    <a:pt x="857856" y="14261"/>
                    <a:pt x="855965" y="14261"/>
                  </a:cubicBezTo>
                  <a:lnTo>
                    <a:pt x="7131" y="14261"/>
                  </a:lnTo>
                  <a:cubicBezTo>
                    <a:pt x="5239" y="14261"/>
                    <a:pt x="3426" y="13510"/>
                    <a:pt x="2088" y="12173"/>
                  </a:cubicBezTo>
                  <a:cubicBezTo>
                    <a:pt x="751" y="10835"/>
                    <a:pt x="0" y="9022"/>
                    <a:pt x="0" y="7131"/>
                  </a:cubicBezTo>
                  <a:lnTo>
                    <a:pt x="0" y="7131"/>
                  </a:lnTo>
                  <a:cubicBezTo>
                    <a:pt x="0" y="5239"/>
                    <a:pt x="751" y="3426"/>
                    <a:pt x="2088" y="2088"/>
                  </a:cubicBezTo>
                  <a:cubicBezTo>
                    <a:pt x="3426" y="751"/>
                    <a:pt x="5239" y="0"/>
                    <a:pt x="71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863095" cy="90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132051" y="4914994"/>
            <a:ext cx="2882301" cy="47625"/>
            <a:chOff x="0" y="0"/>
            <a:chExt cx="863095" cy="1426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63095" cy="14261"/>
            </a:xfrm>
            <a:custGeom>
              <a:avLst/>
              <a:gdLst/>
              <a:ahLst/>
              <a:cxnLst/>
              <a:rect r="r" b="b" t="t" l="l"/>
              <a:pathLst>
                <a:path h="14261" w="863095">
                  <a:moveTo>
                    <a:pt x="7131" y="0"/>
                  </a:moveTo>
                  <a:lnTo>
                    <a:pt x="855965" y="0"/>
                  </a:lnTo>
                  <a:cubicBezTo>
                    <a:pt x="859903" y="0"/>
                    <a:pt x="863095" y="3192"/>
                    <a:pt x="863095" y="7131"/>
                  </a:cubicBezTo>
                  <a:lnTo>
                    <a:pt x="863095" y="7131"/>
                  </a:lnTo>
                  <a:cubicBezTo>
                    <a:pt x="863095" y="9022"/>
                    <a:pt x="862344" y="10835"/>
                    <a:pt x="861007" y="12173"/>
                  </a:cubicBezTo>
                  <a:cubicBezTo>
                    <a:pt x="859670" y="13510"/>
                    <a:pt x="857856" y="14261"/>
                    <a:pt x="855965" y="14261"/>
                  </a:cubicBezTo>
                  <a:lnTo>
                    <a:pt x="7131" y="14261"/>
                  </a:lnTo>
                  <a:cubicBezTo>
                    <a:pt x="5239" y="14261"/>
                    <a:pt x="3426" y="13510"/>
                    <a:pt x="2088" y="12173"/>
                  </a:cubicBezTo>
                  <a:cubicBezTo>
                    <a:pt x="751" y="10835"/>
                    <a:pt x="0" y="9022"/>
                    <a:pt x="0" y="7131"/>
                  </a:cubicBezTo>
                  <a:lnTo>
                    <a:pt x="0" y="7131"/>
                  </a:lnTo>
                  <a:cubicBezTo>
                    <a:pt x="0" y="5239"/>
                    <a:pt x="751" y="3426"/>
                    <a:pt x="2088" y="2088"/>
                  </a:cubicBezTo>
                  <a:cubicBezTo>
                    <a:pt x="3426" y="751"/>
                    <a:pt x="5239" y="0"/>
                    <a:pt x="71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863095" cy="90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1132051" y="2066778"/>
            <a:ext cx="2882301" cy="47625"/>
            <a:chOff x="0" y="0"/>
            <a:chExt cx="863095" cy="1426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3095" cy="14261"/>
            </a:xfrm>
            <a:custGeom>
              <a:avLst/>
              <a:gdLst/>
              <a:ahLst/>
              <a:cxnLst/>
              <a:rect r="r" b="b" t="t" l="l"/>
              <a:pathLst>
                <a:path h="14261" w="863095">
                  <a:moveTo>
                    <a:pt x="7131" y="0"/>
                  </a:moveTo>
                  <a:lnTo>
                    <a:pt x="855965" y="0"/>
                  </a:lnTo>
                  <a:cubicBezTo>
                    <a:pt x="859903" y="0"/>
                    <a:pt x="863095" y="3192"/>
                    <a:pt x="863095" y="7131"/>
                  </a:cubicBezTo>
                  <a:lnTo>
                    <a:pt x="863095" y="7131"/>
                  </a:lnTo>
                  <a:cubicBezTo>
                    <a:pt x="863095" y="9022"/>
                    <a:pt x="862344" y="10835"/>
                    <a:pt x="861007" y="12173"/>
                  </a:cubicBezTo>
                  <a:cubicBezTo>
                    <a:pt x="859670" y="13510"/>
                    <a:pt x="857856" y="14261"/>
                    <a:pt x="855965" y="14261"/>
                  </a:cubicBezTo>
                  <a:lnTo>
                    <a:pt x="7131" y="14261"/>
                  </a:lnTo>
                  <a:cubicBezTo>
                    <a:pt x="5239" y="14261"/>
                    <a:pt x="3426" y="13510"/>
                    <a:pt x="2088" y="12173"/>
                  </a:cubicBezTo>
                  <a:cubicBezTo>
                    <a:pt x="751" y="10835"/>
                    <a:pt x="0" y="9022"/>
                    <a:pt x="0" y="7131"/>
                  </a:cubicBezTo>
                  <a:lnTo>
                    <a:pt x="0" y="7131"/>
                  </a:lnTo>
                  <a:cubicBezTo>
                    <a:pt x="0" y="5239"/>
                    <a:pt x="751" y="3426"/>
                    <a:pt x="2088" y="2088"/>
                  </a:cubicBezTo>
                  <a:cubicBezTo>
                    <a:pt x="3426" y="751"/>
                    <a:pt x="5239" y="0"/>
                    <a:pt x="71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863095" cy="90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1024128" y="731520"/>
            <a:ext cx="1280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E55F"/>
                </a:solidFill>
                <a:latin typeface="Calibri"/>
              </a:rPr>
              <a:t>Meta Ads  |  R$ 1.600/mes  |  Objetivo: Reach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128016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Calibri"/>
              </a:rPr>
              <a:t>Alcance institucional por nicho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4128" y="2331720"/>
            <a:ext cx="16002000" cy="54864"/>
          </a:xfrm>
          <a:prstGeom prst="rect">
            <a:avLst/>
          </a:prstGeom>
          <a:solidFill>
            <a:srgbClr val="39E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24128" y="2560320"/>
            <a:ext cx="5303520" cy="713232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24128" y="2560320"/>
            <a:ext cx="5303520" cy="91440"/>
          </a:xfrm>
          <a:prstGeom prst="rect">
            <a:avLst/>
          </a:prstGeom>
          <a:solidFill>
            <a:srgbClr val="39E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9888" y="283464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9E55F"/>
                </a:solidFill>
                <a:latin typeface="Calibri"/>
              </a:rPr>
              <a:t>Saude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9888" y="36576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"Operacoes hospitalares nao podem parar.
Por tras de cada turno funcionando,
existe uma estrutura invisivel."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93408" y="2560320"/>
            <a:ext cx="5303520" cy="713232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93408" y="2560320"/>
            <a:ext cx="5303520" cy="91440"/>
          </a:xfrm>
          <a:prstGeom prst="rect">
            <a:avLst/>
          </a:prstGeom>
          <a:solidFill>
            <a:srgbClr val="39E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59168" y="283464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9E55F"/>
                </a:solidFill>
                <a:latin typeface="Calibri"/>
              </a:rPr>
              <a:t>Ensino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9168" y="36576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"De manha cedo ate o fim da noite,
um campus nunca para.
A gestao que garante isso, sim."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62688" y="2560320"/>
            <a:ext cx="5303520" cy="713232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362688" y="2560320"/>
            <a:ext cx="5303520" cy="91440"/>
          </a:xfrm>
          <a:prstGeom prst="rect">
            <a:avLst/>
          </a:prstGeom>
          <a:solidFill>
            <a:srgbClr val="39E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728448" y="283464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9E55F"/>
                </a:solidFill>
                <a:latin typeface="Calibri"/>
              </a:rPr>
              <a:t>Financeiro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728448" y="36576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"Compliance comeca antes da portaria.
Facilities e seguranca integradas
para instituicoes financeiras."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" y="9784080"/>
            <a:ext cx="1600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C4"/>
                </a:solidFill>
                <a:latin typeface="Calibri"/>
              </a:rPr>
              <a:t>Publico: Lookalike 1% SC/PR a partir de 2.966 clientes ativos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3060B">
                <a:alpha val="100000"/>
              </a:srgbClr>
            </a:gs>
            <a:gs pos="100000">
              <a:srgbClr val="02313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5" id="5"/>
          <p:cNvGrpSpPr/>
          <p:nvPr/>
        </p:nvGrpSpPr>
        <p:grpSpPr>
          <a:xfrm rot="0">
            <a:off x="699890" y="553594"/>
            <a:ext cx="946810" cy="950211"/>
            <a:chOff x="0" y="0"/>
            <a:chExt cx="1262413" cy="126694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262413" cy="1266949"/>
              <a:chOff x="0" y="0"/>
              <a:chExt cx="252439" cy="25334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52439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252439">
                    <a:moveTo>
                      <a:pt x="126220" y="0"/>
                    </a:moveTo>
                    <a:lnTo>
                      <a:pt x="126220" y="0"/>
                    </a:lnTo>
                    <a:cubicBezTo>
                      <a:pt x="195929" y="0"/>
                      <a:pt x="252439" y="56510"/>
                      <a:pt x="252439" y="126220"/>
                    </a:cubicBezTo>
                    <a:lnTo>
                      <a:pt x="252439" y="127127"/>
                    </a:lnTo>
                    <a:cubicBezTo>
                      <a:pt x="252439" y="196836"/>
                      <a:pt x="195929" y="253346"/>
                      <a:pt x="126220" y="253346"/>
                    </a:cubicBezTo>
                    <a:lnTo>
                      <a:pt x="126220" y="253346"/>
                    </a:lnTo>
                    <a:cubicBezTo>
                      <a:pt x="56510" y="253346"/>
                      <a:pt x="0" y="196836"/>
                      <a:pt x="0" y="127127"/>
                    </a:cubicBezTo>
                    <a:lnTo>
                      <a:pt x="0" y="126220"/>
                    </a:lnTo>
                    <a:cubicBezTo>
                      <a:pt x="0" y="56510"/>
                      <a:pt x="56510" y="0"/>
                      <a:pt x="1262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rnd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252439" cy="300971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4869" y="127665"/>
              <a:ext cx="1012674" cy="1011618"/>
              <a:chOff x="0" y="0"/>
              <a:chExt cx="202500" cy="20228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2500" cy="202289"/>
              </a:xfrm>
              <a:custGeom>
                <a:avLst/>
                <a:gdLst/>
                <a:ahLst/>
                <a:cxnLst/>
                <a:rect r="r" b="b" t="t" l="l"/>
                <a:pathLst>
                  <a:path h="202289" w="202500">
                    <a:moveTo>
                      <a:pt x="101144" y="0"/>
                    </a:moveTo>
                    <a:lnTo>
                      <a:pt x="101356" y="0"/>
                    </a:lnTo>
                    <a:cubicBezTo>
                      <a:pt x="128181" y="0"/>
                      <a:pt x="153907" y="10656"/>
                      <a:pt x="172875" y="29625"/>
                    </a:cubicBezTo>
                    <a:cubicBezTo>
                      <a:pt x="191844" y="48593"/>
                      <a:pt x="202500" y="74319"/>
                      <a:pt x="202500" y="101144"/>
                    </a:cubicBezTo>
                    <a:lnTo>
                      <a:pt x="202500" y="101144"/>
                    </a:lnTo>
                    <a:cubicBezTo>
                      <a:pt x="202500" y="127970"/>
                      <a:pt x="191844" y="153696"/>
                      <a:pt x="172875" y="172664"/>
                    </a:cubicBezTo>
                    <a:cubicBezTo>
                      <a:pt x="153907" y="191633"/>
                      <a:pt x="128181" y="202289"/>
                      <a:pt x="101356" y="202289"/>
                    </a:cubicBezTo>
                    <a:lnTo>
                      <a:pt x="101144" y="202289"/>
                    </a:lnTo>
                    <a:cubicBezTo>
                      <a:pt x="74319" y="202289"/>
                      <a:pt x="48593" y="191633"/>
                      <a:pt x="29625" y="172664"/>
                    </a:cubicBezTo>
                    <a:cubicBezTo>
                      <a:pt x="10656" y="153696"/>
                      <a:pt x="0" y="127970"/>
                      <a:pt x="0" y="101144"/>
                    </a:cubicBezTo>
                    <a:lnTo>
                      <a:pt x="0" y="101144"/>
                    </a:lnTo>
                    <a:cubicBezTo>
                      <a:pt x="0" y="74319"/>
                      <a:pt x="10656" y="48593"/>
                      <a:pt x="29625" y="29625"/>
                    </a:cubicBezTo>
                    <a:cubicBezTo>
                      <a:pt x="48593" y="10656"/>
                      <a:pt x="74319" y="0"/>
                      <a:pt x="10114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sq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202500" cy="249914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8100000">
              <a:off x="398221" y="363997"/>
              <a:ext cx="465971" cy="538954"/>
            </a:xfrm>
            <a:custGeom>
              <a:avLst/>
              <a:gdLst/>
              <a:ahLst/>
              <a:cxnLst/>
              <a:rect r="r" b="b" t="t" l="l"/>
              <a:pathLst>
                <a:path h="538954" w="465971">
                  <a:moveTo>
                    <a:pt x="0" y="0"/>
                  </a:moveTo>
                  <a:lnTo>
                    <a:pt x="465971" y="0"/>
                  </a:lnTo>
                  <a:lnTo>
                    <a:pt x="465971" y="538954"/>
                  </a:lnTo>
                  <a:lnTo>
                    <a:pt x="0" y="538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1132051" y="8166548"/>
            <a:ext cx="2882301" cy="47625"/>
            <a:chOff x="0" y="0"/>
            <a:chExt cx="863095" cy="142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3095" cy="14261"/>
            </a:xfrm>
            <a:custGeom>
              <a:avLst/>
              <a:gdLst/>
              <a:ahLst/>
              <a:cxnLst/>
              <a:rect r="r" b="b" t="t" l="l"/>
              <a:pathLst>
                <a:path h="14261" w="863095">
                  <a:moveTo>
                    <a:pt x="7131" y="0"/>
                  </a:moveTo>
                  <a:lnTo>
                    <a:pt x="855965" y="0"/>
                  </a:lnTo>
                  <a:cubicBezTo>
                    <a:pt x="859903" y="0"/>
                    <a:pt x="863095" y="3192"/>
                    <a:pt x="863095" y="7131"/>
                  </a:cubicBezTo>
                  <a:lnTo>
                    <a:pt x="863095" y="7131"/>
                  </a:lnTo>
                  <a:cubicBezTo>
                    <a:pt x="863095" y="9022"/>
                    <a:pt x="862344" y="10835"/>
                    <a:pt x="861007" y="12173"/>
                  </a:cubicBezTo>
                  <a:cubicBezTo>
                    <a:pt x="859670" y="13510"/>
                    <a:pt x="857856" y="14261"/>
                    <a:pt x="855965" y="14261"/>
                  </a:cubicBezTo>
                  <a:lnTo>
                    <a:pt x="7131" y="14261"/>
                  </a:lnTo>
                  <a:cubicBezTo>
                    <a:pt x="5239" y="14261"/>
                    <a:pt x="3426" y="13510"/>
                    <a:pt x="2088" y="12173"/>
                  </a:cubicBezTo>
                  <a:cubicBezTo>
                    <a:pt x="751" y="10835"/>
                    <a:pt x="0" y="9022"/>
                    <a:pt x="0" y="7131"/>
                  </a:cubicBezTo>
                  <a:lnTo>
                    <a:pt x="0" y="7131"/>
                  </a:lnTo>
                  <a:cubicBezTo>
                    <a:pt x="0" y="5239"/>
                    <a:pt x="751" y="3426"/>
                    <a:pt x="2088" y="2088"/>
                  </a:cubicBezTo>
                  <a:cubicBezTo>
                    <a:pt x="3426" y="751"/>
                    <a:pt x="5239" y="0"/>
                    <a:pt x="71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863095" cy="90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132051" y="4914994"/>
            <a:ext cx="2882301" cy="47625"/>
            <a:chOff x="0" y="0"/>
            <a:chExt cx="863095" cy="1426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63095" cy="14261"/>
            </a:xfrm>
            <a:custGeom>
              <a:avLst/>
              <a:gdLst/>
              <a:ahLst/>
              <a:cxnLst/>
              <a:rect r="r" b="b" t="t" l="l"/>
              <a:pathLst>
                <a:path h="14261" w="863095">
                  <a:moveTo>
                    <a:pt x="7131" y="0"/>
                  </a:moveTo>
                  <a:lnTo>
                    <a:pt x="855965" y="0"/>
                  </a:lnTo>
                  <a:cubicBezTo>
                    <a:pt x="859903" y="0"/>
                    <a:pt x="863095" y="3192"/>
                    <a:pt x="863095" y="7131"/>
                  </a:cubicBezTo>
                  <a:lnTo>
                    <a:pt x="863095" y="7131"/>
                  </a:lnTo>
                  <a:cubicBezTo>
                    <a:pt x="863095" y="9022"/>
                    <a:pt x="862344" y="10835"/>
                    <a:pt x="861007" y="12173"/>
                  </a:cubicBezTo>
                  <a:cubicBezTo>
                    <a:pt x="859670" y="13510"/>
                    <a:pt x="857856" y="14261"/>
                    <a:pt x="855965" y="14261"/>
                  </a:cubicBezTo>
                  <a:lnTo>
                    <a:pt x="7131" y="14261"/>
                  </a:lnTo>
                  <a:cubicBezTo>
                    <a:pt x="5239" y="14261"/>
                    <a:pt x="3426" y="13510"/>
                    <a:pt x="2088" y="12173"/>
                  </a:cubicBezTo>
                  <a:cubicBezTo>
                    <a:pt x="751" y="10835"/>
                    <a:pt x="0" y="9022"/>
                    <a:pt x="0" y="7131"/>
                  </a:cubicBezTo>
                  <a:lnTo>
                    <a:pt x="0" y="7131"/>
                  </a:lnTo>
                  <a:cubicBezTo>
                    <a:pt x="0" y="5239"/>
                    <a:pt x="751" y="3426"/>
                    <a:pt x="2088" y="2088"/>
                  </a:cubicBezTo>
                  <a:cubicBezTo>
                    <a:pt x="3426" y="751"/>
                    <a:pt x="5239" y="0"/>
                    <a:pt x="71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863095" cy="90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1132051" y="2066778"/>
            <a:ext cx="2882301" cy="47625"/>
            <a:chOff x="0" y="0"/>
            <a:chExt cx="863095" cy="1426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3095" cy="14261"/>
            </a:xfrm>
            <a:custGeom>
              <a:avLst/>
              <a:gdLst/>
              <a:ahLst/>
              <a:cxnLst/>
              <a:rect r="r" b="b" t="t" l="l"/>
              <a:pathLst>
                <a:path h="14261" w="863095">
                  <a:moveTo>
                    <a:pt x="7131" y="0"/>
                  </a:moveTo>
                  <a:lnTo>
                    <a:pt x="855965" y="0"/>
                  </a:lnTo>
                  <a:cubicBezTo>
                    <a:pt x="859903" y="0"/>
                    <a:pt x="863095" y="3192"/>
                    <a:pt x="863095" y="7131"/>
                  </a:cubicBezTo>
                  <a:lnTo>
                    <a:pt x="863095" y="7131"/>
                  </a:lnTo>
                  <a:cubicBezTo>
                    <a:pt x="863095" y="9022"/>
                    <a:pt x="862344" y="10835"/>
                    <a:pt x="861007" y="12173"/>
                  </a:cubicBezTo>
                  <a:cubicBezTo>
                    <a:pt x="859670" y="13510"/>
                    <a:pt x="857856" y="14261"/>
                    <a:pt x="855965" y="14261"/>
                  </a:cubicBezTo>
                  <a:lnTo>
                    <a:pt x="7131" y="14261"/>
                  </a:lnTo>
                  <a:cubicBezTo>
                    <a:pt x="5239" y="14261"/>
                    <a:pt x="3426" y="13510"/>
                    <a:pt x="2088" y="12173"/>
                  </a:cubicBezTo>
                  <a:cubicBezTo>
                    <a:pt x="751" y="10835"/>
                    <a:pt x="0" y="9022"/>
                    <a:pt x="0" y="7131"/>
                  </a:cubicBezTo>
                  <a:lnTo>
                    <a:pt x="0" y="7131"/>
                  </a:lnTo>
                  <a:cubicBezTo>
                    <a:pt x="0" y="5239"/>
                    <a:pt x="751" y="3426"/>
                    <a:pt x="2088" y="2088"/>
                  </a:cubicBezTo>
                  <a:cubicBezTo>
                    <a:pt x="3426" y="751"/>
                    <a:pt x="5239" y="0"/>
                    <a:pt x="71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863095" cy="90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1024128" y="7315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E55F"/>
                </a:solidFill>
                <a:latin typeface="Calibri"/>
              </a:rPr>
              <a:t>Meta Ads  |  R$ 900/mes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12801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Calibri"/>
              </a:rPr>
              <a:t>Retargeting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224028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0C4C4"/>
                </a:solidFill>
                <a:latin typeface="Calibri"/>
              </a:rPr>
              <a:t>Convertendo quem ja demonstrou interesse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4128" y="2880360"/>
            <a:ext cx="16002000" cy="54864"/>
          </a:xfrm>
          <a:prstGeom prst="rect">
            <a:avLst/>
          </a:prstGeom>
          <a:solidFill>
            <a:srgbClr val="39E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24128" y="3108960"/>
            <a:ext cx="3749039" cy="411480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98448" y="3474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Viu o alcance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42519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0C4C4"/>
                </a:solidFill>
                <a:latin typeface="Calibri"/>
              </a:rPr>
              <a:t>Engajou no Instagram
ou visitou o perfil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73168" y="47548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0C4C4"/>
                </a:solidFill>
                <a:latin typeface="Calibri"/>
              </a:rPr>
              <a:t>&gt;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30368" y="3108960"/>
            <a:ext cx="3749039" cy="411480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04688" y="3474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Acessou a LP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04688" y="42519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0C4C4"/>
                </a:solidFill>
                <a:latin typeface="Calibri"/>
              </a:rPr>
              <a:t>Visitante que nao preencheu
o formulario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79408" y="47548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0C4C4"/>
                </a:solidFill>
                <a:latin typeface="Calibri"/>
              </a:rPr>
              <a:t>&gt;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36608" y="3108960"/>
            <a:ext cx="3749039" cy="4114800"/>
          </a:xfrm>
          <a:prstGeom prst="rect">
            <a:avLst/>
          </a:prstGeom>
          <a:solidFill>
            <a:srgbClr val="0D2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36608" y="3108960"/>
            <a:ext cx="3749039" cy="91440"/>
          </a:xfrm>
          <a:prstGeom prst="rect">
            <a:avLst/>
          </a:prstGeom>
          <a:solidFill>
            <a:srgbClr val="39E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10928" y="3474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9E55F"/>
                </a:solidFill>
                <a:latin typeface="Calibri"/>
              </a:rPr>
              <a:t>Recebe o anuncio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10928" y="42519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0C4C4"/>
                </a:solidFill>
                <a:latin typeface="Calibri"/>
              </a:rPr>
              <a:t>Prova social + CTA direto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185648" y="47548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0C4C4"/>
                </a:solidFill>
                <a:latin typeface="Calibri"/>
              </a:rPr>
              <a:t>&gt;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642847" y="3108960"/>
            <a:ext cx="3749039" cy="411480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917167" y="3474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Preenche o form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917167" y="42519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0C4C4"/>
                </a:solidFill>
                <a:latin typeface="Calibri"/>
              </a:rPr>
              <a:t>Lead qualificado
entra no funil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128" y="7589520"/>
            <a:ext cx="16002000" cy="192024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71600" y="7818120"/>
            <a:ext cx="1508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D0E0E0"/>
                </a:solidFill>
                <a:latin typeface="Calibri"/>
              </a:rPr>
              <a:t>Janela: 30 dias de visita a LP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D0E0E0"/>
                </a:solidFill>
                <a:latin typeface="Calibri"/>
              </a:rPr>
              <a:t>Angulo: "1.554 clientes. Contrato medio de 20 anos."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D0E0E0"/>
                </a:solidFill>
                <a:latin typeface="Calibri"/>
              </a:rPr>
              <a:t>CTA: Solicitar diagnostico operacional gratuito - resposta em 24h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3060B">
                <a:alpha val="100000"/>
              </a:srgbClr>
            </a:gs>
            <a:gs pos="100000">
              <a:srgbClr val="02313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5" id="5"/>
          <p:cNvGrpSpPr/>
          <p:nvPr/>
        </p:nvGrpSpPr>
        <p:grpSpPr>
          <a:xfrm rot="0">
            <a:off x="699890" y="553594"/>
            <a:ext cx="946810" cy="950211"/>
            <a:chOff x="0" y="0"/>
            <a:chExt cx="1262413" cy="126694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262413" cy="1266949"/>
              <a:chOff x="0" y="0"/>
              <a:chExt cx="252439" cy="25334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52439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252439">
                    <a:moveTo>
                      <a:pt x="126220" y="0"/>
                    </a:moveTo>
                    <a:lnTo>
                      <a:pt x="126220" y="0"/>
                    </a:lnTo>
                    <a:cubicBezTo>
                      <a:pt x="195929" y="0"/>
                      <a:pt x="252439" y="56510"/>
                      <a:pt x="252439" y="126220"/>
                    </a:cubicBezTo>
                    <a:lnTo>
                      <a:pt x="252439" y="127127"/>
                    </a:lnTo>
                    <a:cubicBezTo>
                      <a:pt x="252439" y="196836"/>
                      <a:pt x="195929" y="253346"/>
                      <a:pt x="126220" y="253346"/>
                    </a:cubicBezTo>
                    <a:lnTo>
                      <a:pt x="126220" y="253346"/>
                    </a:lnTo>
                    <a:cubicBezTo>
                      <a:pt x="56510" y="253346"/>
                      <a:pt x="0" y="196836"/>
                      <a:pt x="0" y="127127"/>
                    </a:cubicBezTo>
                    <a:lnTo>
                      <a:pt x="0" y="126220"/>
                    </a:lnTo>
                    <a:cubicBezTo>
                      <a:pt x="0" y="56510"/>
                      <a:pt x="56510" y="0"/>
                      <a:pt x="1262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rnd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252439" cy="300971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4869" y="127665"/>
              <a:ext cx="1012674" cy="1011618"/>
              <a:chOff x="0" y="0"/>
              <a:chExt cx="202500" cy="20228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2500" cy="202289"/>
              </a:xfrm>
              <a:custGeom>
                <a:avLst/>
                <a:gdLst/>
                <a:ahLst/>
                <a:cxnLst/>
                <a:rect r="r" b="b" t="t" l="l"/>
                <a:pathLst>
                  <a:path h="202289" w="202500">
                    <a:moveTo>
                      <a:pt x="101144" y="0"/>
                    </a:moveTo>
                    <a:lnTo>
                      <a:pt x="101356" y="0"/>
                    </a:lnTo>
                    <a:cubicBezTo>
                      <a:pt x="128181" y="0"/>
                      <a:pt x="153907" y="10656"/>
                      <a:pt x="172875" y="29625"/>
                    </a:cubicBezTo>
                    <a:cubicBezTo>
                      <a:pt x="191844" y="48593"/>
                      <a:pt x="202500" y="74319"/>
                      <a:pt x="202500" y="101144"/>
                    </a:cubicBezTo>
                    <a:lnTo>
                      <a:pt x="202500" y="101144"/>
                    </a:lnTo>
                    <a:cubicBezTo>
                      <a:pt x="202500" y="127970"/>
                      <a:pt x="191844" y="153696"/>
                      <a:pt x="172875" y="172664"/>
                    </a:cubicBezTo>
                    <a:cubicBezTo>
                      <a:pt x="153907" y="191633"/>
                      <a:pt x="128181" y="202289"/>
                      <a:pt x="101356" y="202289"/>
                    </a:cubicBezTo>
                    <a:lnTo>
                      <a:pt x="101144" y="202289"/>
                    </a:lnTo>
                    <a:cubicBezTo>
                      <a:pt x="74319" y="202289"/>
                      <a:pt x="48593" y="191633"/>
                      <a:pt x="29625" y="172664"/>
                    </a:cubicBezTo>
                    <a:cubicBezTo>
                      <a:pt x="10656" y="153696"/>
                      <a:pt x="0" y="127970"/>
                      <a:pt x="0" y="101144"/>
                    </a:cubicBezTo>
                    <a:lnTo>
                      <a:pt x="0" y="101144"/>
                    </a:lnTo>
                    <a:cubicBezTo>
                      <a:pt x="0" y="74319"/>
                      <a:pt x="10656" y="48593"/>
                      <a:pt x="29625" y="29625"/>
                    </a:cubicBezTo>
                    <a:cubicBezTo>
                      <a:pt x="48593" y="10656"/>
                      <a:pt x="74319" y="0"/>
                      <a:pt x="10114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sq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202500" cy="249914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8100000">
              <a:off x="398221" y="363997"/>
              <a:ext cx="465971" cy="538954"/>
            </a:xfrm>
            <a:custGeom>
              <a:avLst/>
              <a:gdLst/>
              <a:ahLst/>
              <a:cxnLst/>
              <a:rect r="r" b="b" t="t" l="l"/>
              <a:pathLst>
                <a:path h="538954" w="465971">
                  <a:moveTo>
                    <a:pt x="0" y="0"/>
                  </a:moveTo>
                  <a:lnTo>
                    <a:pt x="465971" y="0"/>
                  </a:lnTo>
                  <a:lnTo>
                    <a:pt x="465971" y="538954"/>
                  </a:lnTo>
                  <a:lnTo>
                    <a:pt x="0" y="538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1132051" y="8166548"/>
            <a:ext cx="2882301" cy="47625"/>
            <a:chOff x="0" y="0"/>
            <a:chExt cx="863095" cy="142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3095" cy="14261"/>
            </a:xfrm>
            <a:custGeom>
              <a:avLst/>
              <a:gdLst/>
              <a:ahLst/>
              <a:cxnLst/>
              <a:rect r="r" b="b" t="t" l="l"/>
              <a:pathLst>
                <a:path h="14261" w="863095">
                  <a:moveTo>
                    <a:pt x="7131" y="0"/>
                  </a:moveTo>
                  <a:lnTo>
                    <a:pt x="855965" y="0"/>
                  </a:lnTo>
                  <a:cubicBezTo>
                    <a:pt x="859903" y="0"/>
                    <a:pt x="863095" y="3192"/>
                    <a:pt x="863095" y="7131"/>
                  </a:cubicBezTo>
                  <a:lnTo>
                    <a:pt x="863095" y="7131"/>
                  </a:lnTo>
                  <a:cubicBezTo>
                    <a:pt x="863095" y="9022"/>
                    <a:pt x="862344" y="10835"/>
                    <a:pt x="861007" y="12173"/>
                  </a:cubicBezTo>
                  <a:cubicBezTo>
                    <a:pt x="859670" y="13510"/>
                    <a:pt x="857856" y="14261"/>
                    <a:pt x="855965" y="14261"/>
                  </a:cubicBezTo>
                  <a:lnTo>
                    <a:pt x="7131" y="14261"/>
                  </a:lnTo>
                  <a:cubicBezTo>
                    <a:pt x="5239" y="14261"/>
                    <a:pt x="3426" y="13510"/>
                    <a:pt x="2088" y="12173"/>
                  </a:cubicBezTo>
                  <a:cubicBezTo>
                    <a:pt x="751" y="10835"/>
                    <a:pt x="0" y="9022"/>
                    <a:pt x="0" y="7131"/>
                  </a:cubicBezTo>
                  <a:lnTo>
                    <a:pt x="0" y="7131"/>
                  </a:lnTo>
                  <a:cubicBezTo>
                    <a:pt x="0" y="5239"/>
                    <a:pt x="751" y="3426"/>
                    <a:pt x="2088" y="2088"/>
                  </a:cubicBezTo>
                  <a:cubicBezTo>
                    <a:pt x="3426" y="751"/>
                    <a:pt x="5239" y="0"/>
                    <a:pt x="71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863095" cy="90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132051" y="4914994"/>
            <a:ext cx="2882301" cy="47625"/>
            <a:chOff x="0" y="0"/>
            <a:chExt cx="863095" cy="1426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63095" cy="14261"/>
            </a:xfrm>
            <a:custGeom>
              <a:avLst/>
              <a:gdLst/>
              <a:ahLst/>
              <a:cxnLst/>
              <a:rect r="r" b="b" t="t" l="l"/>
              <a:pathLst>
                <a:path h="14261" w="863095">
                  <a:moveTo>
                    <a:pt x="7131" y="0"/>
                  </a:moveTo>
                  <a:lnTo>
                    <a:pt x="855965" y="0"/>
                  </a:lnTo>
                  <a:cubicBezTo>
                    <a:pt x="859903" y="0"/>
                    <a:pt x="863095" y="3192"/>
                    <a:pt x="863095" y="7131"/>
                  </a:cubicBezTo>
                  <a:lnTo>
                    <a:pt x="863095" y="7131"/>
                  </a:lnTo>
                  <a:cubicBezTo>
                    <a:pt x="863095" y="9022"/>
                    <a:pt x="862344" y="10835"/>
                    <a:pt x="861007" y="12173"/>
                  </a:cubicBezTo>
                  <a:cubicBezTo>
                    <a:pt x="859670" y="13510"/>
                    <a:pt x="857856" y="14261"/>
                    <a:pt x="855965" y="14261"/>
                  </a:cubicBezTo>
                  <a:lnTo>
                    <a:pt x="7131" y="14261"/>
                  </a:lnTo>
                  <a:cubicBezTo>
                    <a:pt x="5239" y="14261"/>
                    <a:pt x="3426" y="13510"/>
                    <a:pt x="2088" y="12173"/>
                  </a:cubicBezTo>
                  <a:cubicBezTo>
                    <a:pt x="751" y="10835"/>
                    <a:pt x="0" y="9022"/>
                    <a:pt x="0" y="7131"/>
                  </a:cubicBezTo>
                  <a:lnTo>
                    <a:pt x="0" y="7131"/>
                  </a:lnTo>
                  <a:cubicBezTo>
                    <a:pt x="0" y="5239"/>
                    <a:pt x="751" y="3426"/>
                    <a:pt x="2088" y="2088"/>
                  </a:cubicBezTo>
                  <a:cubicBezTo>
                    <a:pt x="3426" y="751"/>
                    <a:pt x="5239" y="0"/>
                    <a:pt x="71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863095" cy="90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1132051" y="2066778"/>
            <a:ext cx="2882301" cy="47625"/>
            <a:chOff x="0" y="0"/>
            <a:chExt cx="863095" cy="1426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3095" cy="14261"/>
            </a:xfrm>
            <a:custGeom>
              <a:avLst/>
              <a:gdLst/>
              <a:ahLst/>
              <a:cxnLst/>
              <a:rect r="r" b="b" t="t" l="l"/>
              <a:pathLst>
                <a:path h="14261" w="863095">
                  <a:moveTo>
                    <a:pt x="7131" y="0"/>
                  </a:moveTo>
                  <a:lnTo>
                    <a:pt x="855965" y="0"/>
                  </a:lnTo>
                  <a:cubicBezTo>
                    <a:pt x="859903" y="0"/>
                    <a:pt x="863095" y="3192"/>
                    <a:pt x="863095" y="7131"/>
                  </a:cubicBezTo>
                  <a:lnTo>
                    <a:pt x="863095" y="7131"/>
                  </a:lnTo>
                  <a:cubicBezTo>
                    <a:pt x="863095" y="9022"/>
                    <a:pt x="862344" y="10835"/>
                    <a:pt x="861007" y="12173"/>
                  </a:cubicBezTo>
                  <a:cubicBezTo>
                    <a:pt x="859670" y="13510"/>
                    <a:pt x="857856" y="14261"/>
                    <a:pt x="855965" y="14261"/>
                  </a:cubicBezTo>
                  <a:lnTo>
                    <a:pt x="7131" y="14261"/>
                  </a:lnTo>
                  <a:cubicBezTo>
                    <a:pt x="5239" y="14261"/>
                    <a:pt x="3426" y="13510"/>
                    <a:pt x="2088" y="12173"/>
                  </a:cubicBezTo>
                  <a:cubicBezTo>
                    <a:pt x="751" y="10835"/>
                    <a:pt x="0" y="9022"/>
                    <a:pt x="0" y="7131"/>
                  </a:cubicBezTo>
                  <a:lnTo>
                    <a:pt x="0" y="7131"/>
                  </a:lnTo>
                  <a:cubicBezTo>
                    <a:pt x="0" y="5239"/>
                    <a:pt x="751" y="3426"/>
                    <a:pt x="2088" y="2088"/>
                  </a:cubicBezTo>
                  <a:cubicBezTo>
                    <a:pt x="3426" y="751"/>
                    <a:pt x="5239" y="0"/>
                    <a:pt x="71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863095" cy="90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1024128" y="7315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85F4"/>
                </a:solidFill>
                <a:latin typeface="Calibri"/>
              </a:rPr>
              <a:t>Google Ads  |  R$ 4.000/mes  |  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128016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Calibri"/>
              </a:rPr>
              <a:t>Capturar quem ja busca pelo servico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4128" y="2331720"/>
            <a:ext cx="1600200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24128" y="2560320"/>
            <a:ext cx="7863840" cy="713232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24128" y="2560320"/>
            <a:ext cx="786384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27889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Facilities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7889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Calibri"/>
              </a:rPr>
              <a:t>R$ 2.200/mes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80160" y="3657600"/>
            <a:ext cx="3474720" cy="685800"/>
          </a:xfrm>
          <a:prstGeom prst="roundRect">
            <a:avLst>
              <a:gd name="adj" fmla="val 6000"/>
            </a:avLst>
          </a:prstGeom>
          <a:solidFill>
            <a:srgbClr val="14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17320" y="37307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C8FF"/>
                </a:solidFill>
                <a:latin typeface="Calibri"/>
              </a:rPr>
              <a:t>empresa de facilities SC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0" y="3657600"/>
            <a:ext cx="3474720" cy="685800"/>
          </a:xfrm>
          <a:prstGeom prst="roundRect">
            <a:avLst>
              <a:gd name="adj" fmla="val 6000"/>
            </a:avLst>
          </a:prstGeom>
          <a:solidFill>
            <a:srgbClr val="14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66359" y="37307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C8FF"/>
                </a:solidFill>
                <a:latin typeface="Calibri"/>
              </a:rPr>
              <a:t>terceirizacao portaria Floripa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80160" y="4572000"/>
            <a:ext cx="3474720" cy="685800"/>
          </a:xfrm>
          <a:prstGeom prst="roundRect">
            <a:avLst>
              <a:gd name="adj" fmla="val 6000"/>
            </a:avLst>
          </a:prstGeom>
          <a:solidFill>
            <a:srgbClr val="14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17320" y="46451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C8FF"/>
                </a:solidFill>
                <a:latin typeface="Calibri"/>
              </a:rPr>
              <a:t>gestao predial hospital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0" y="4572000"/>
            <a:ext cx="3474720" cy="685800"/>
          </a:xfrm>
          <a:prstGeom prst="roundRect">
            <a:avLst>
              <a:gd name="adj" fmla="val 6000"/>
            </a:avLst>
          </a:prstGeom>
          <a:solidFill>
            <a:srgbClr val="14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66359" y="46451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C8FF"/>
                </a:solidFill>
                <a:latin typeface="Calibri"/>
              </a:rPr>
              <a:t>limpeza terceirizada universidade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80160" y="5486400"/>
            <a:ext cx="3474720" cy="685800"/>
          </a:xfrm>
          <a:prstGeom prst="roundRect">
            <a:avLst>
              <a:gd name="adj" fmla="val 6000"/>
            </a:avLst>
          </a:prstGeom>
          <a:solidFill>
            <a:srgbClr val="14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17320" y="55595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C8FF"/>
                </a:solidFill>
                <a:latin typeface="Calibri"/>
              </a:rPr>
              <a:t>facilities Curitiba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0" y="5486400"/>
            <a:ext cx="3474720" cy="685800"/>
          </a:xfrm>
          <a:prstGeom prst="roundRect">
            <a:avLst>
              <a:gd name="adj" fmla="val 6000"/>
            </a:avLst>
          </a:prstGeom>
          <a:solidFill>
            <a:srgbClr val="14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66359" y="55595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C8FF"/>
                </a:solidFill>
                <a:latin typeface="Calibri"/>
              </a:rPr>
              <a:t>zeladoria escola SC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80160" y="6400800"/>
            <a:ext cx="3474720" cy="685800"/>
          </a:xfrm>
          <a:prstGeom prst="roundRect">
            <a:avLst>
              <a:gd name="adj" fmla="val 6000"/>
            </a:avLst>
          </a:prstGeom>
          <a:solidFill>
            <a:srgbClr val="14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17320" y="64739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C8FF"/>
                </a:solidFill>
                <a:latin typeface="Calibri"/>
              </a:rPr>
              <a:t>facilities inst. financeira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00032" y="2560320"/>
            <a:ext cx="7863840" cy="713232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400032" y="2560320"/>
            <a:ext cx="7863840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84080" y="27889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Seguranca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813280" y="27889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Calibri"/>
              </a:rPr>
              <a:t>R$ 1.800/mes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46920" y="3657600"/>
            <a:ext cx="3474720" cy="685800"/>
          </a:xfrm>
          <a:prstGeom prst="roundRect">
            <a:avLst>
              <a:gd name="adj" fmla="val 6000"/>
            </a:avLst>
          </a:prstGeom>
          <a:solidFill>
            <a:srgbClr val="0F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84080" y="37307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DCFA0"/>
                </a:solidFill>
                <a:latin typeface="Calibri"/>
              </a:rPr>
              <a:t>vigilancia patrimonial SC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395960" y="3657600"/>
            <a:ext cx="3474720" cy="685800"/>
          </a:xfrm>
          <a:prstGeom prst="roundRect">
            <a:avLst>
              <a:gd name="adj" fmla="val 6000"/>
            </a:avLst>
          </a:prstGeom>
          <a:solidFill>
            <a:srgbClr val="0F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533119" y="37307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DCFA0"/>
                </a:solidFill>
                <a:latin typeface="Calibri"/>
              </a:rPr>
              <a:t>empresa de seguranca Floripa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46920" y="4572000"/>
            <a:ext cx="3474720" cy="685800"/>
          </a:xfrm>
          <a:prstGeom prst="roundRect">
            <a:avLst>
              <a:gd name="adj" fmla="val 6000"/>
            </a:avLst>
          </a:prstGeom>
          <a:solidFill>
            <a:srgbClr val="0F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84080" y="46451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DCFA0"/>
                </a:solidFill>
                <a:latin typeface="Calibri"/>
              </a:rPr>
              <a:t>seguranca hospitalar SC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3395960" y="4572000"/>
            <a:ext cx="3474720" cy="685800"/>
          </a:xfrm>
          <a:prstGeom prst="roundRect">
            <a:avLst>
              <a:gd name="adj" fmla="val 6000"/>
            </a:avLst>
          </a:prstGeom>
          <a:solidFill>
            <a:srgbClr val="0F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533119" y="46451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DCFA0"/>
                </a:solidFill>
                <a:latin typeface="Calibri"/>
              </a:rPr>
              <a:t>vigilante terceirizado Curitiba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46920" y="5486400"/>
            <a:ext cx="3474720" cy="685800"/>
          </a:xfrm>
          <a:prstGeom prst="roundRect">
            <a:avLst>
              <a:gd name="adj" fmla="val 6000"/>
            </a:avLst>
          </a:prstGeom>
          <a:solidFill>
            <a:srgbClr val="0F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84080" y="55595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DCFA0"/>
                </a:solidFill>
                <a:latin typeface="Calibri"/>
              </a:rPr>
              <a:t>seguranca escolar Joinville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395960" y="5486400"/>
            <a:ext cx="3474720" cy="685800"/>
          </a:xfrm>
          <a:prstGeom prst="roundRect">
            <a:avLst>
              <a:gd name="adj" fmla="val 6000"/>
            </a:avLst>
          </a:prstGeom>
          <a:solidFill>
            <a:srgbClr val="0F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533119" y="55595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DCFA0"/>
                </a:solidFill>
                <a:latin typeface="Calibri"/>
              </a:rPr>
              <a:t>seguranca inst. financeira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4128" y="9784080"/>
            <a:ext cx="1600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C4"/>
                </a:solidFill>
                <a:latin typeface="Calibri"/>
              </a:rPr>
              <a:t>Ad groups segmentados por nicho: copy e extensoes personalizadas para Saude, Ensino e Financeiro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3060B">
                <a:alpha val="100000"/>
              </a:srgbClr>
            </a:gs>
            <a:gs pos="100000">
              <a:srgbClr val="02313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5" id="5"/>
          <p:cNvGrpSpPr/>
          <p:nvPr/>
        </p:nvGrpSpPr>
        <p:grpSpPr>
          <a:xfrm rot="0">
            <a:off x="699890" y="553594"/>
            <a:ext cx="946810" cy="950211"/>
            <a:chOff x="0" y="0"/>
            <a:chExt cx="1262413" cy="126694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262413" cy="1266949"/>
              <a:chOff x="0" y="0"/>
              <a:chExt cx="252439" cy="25334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52439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252439">
                    <a:moveTo>
                      <a:pt x="126220" y="0"/>
                    </a:moveTo>
                    <a:lnTo>
                      <a:pt x="126220" y="0"/>
                    </a:lnTo>
                    <a:cubicBezTo>
                      <a:pt x="195929" y="0"/>
                      <a:pt x="252439" y="56510"/>
                      <a:pt x="252439" y="126220"/>
                    </a:cubicBezTo>
                    <a:lnTo>
                      <a:pt x="252439" y="127127"/>
                    </a:lnTo>
                    <a:cubicBezTo>
                      <a:pt x="252439" y="196836"/>
                      <a:pt x="195929" y="253346"/>
                      <a:pt x="126220" y="253346"/>
                    </a:cubicBezTo>
                    <a:lnTo>
                      <a:pt x="126220" y="253346"/>
                    </a:lnTo>
                    <a:cubicBezTo>
                      <a:pt x="56510" y="253346"/>
                      <a:pt x="0" y="196836"/>
                      <a:pt x="0" y="127127"/>
                    </a:cubicBezTo>
                    <a:lnTo>
                      <a:pt x="0" y="126220"/>
                    </a:lnTo>
                    <a:cubicBezTo>
                      <a:pt x="0" y="56510"/>
                      <a:pt x="56510" y="0"/>
                      <a:pt x="1262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rnd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252439" cy="300971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4869" y="127665"/>
              <a:ext cx="1012674" cy="1011618"/>
              <a:chOff x="0" y="0"/>
              <a:chExt cx="202500" cy="20228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2500" cy="202289"/>
              </a:xfrm>
              <a:custGeom>
                <a:avLst/>
                <a:gdLst/>
                <a:ahLst/>
                <a:cxnLst/>
                <a:rect r="r" b="b" t="t" l="l"/>
                <a:pathLst>
                  <a:path h="202289" w="202500">
                    <a:moveTo>
                      <a:pt x="101144" y="0"/>
                    </a:moveTo>
                    <a:lnTo>
                      <a:pt x="101356" y="0"/>
                    </a:lnTo>
                    <a:cubicBezTo>
                      <a:pt x="128181" y="0"/>
                      <a:pt x="153907" y="10656"/>
                      <a:pt x="172875" y="29625"/>
                    </a:cubicBezTo>
                    <a:cubicBezTo>
                      <a:pt x="191844" y="48593"/>
                      <a:pt x="202500" y="74319"/>
                      <a:pt x="202500" y="101144"/>
                    </a:cubicBezTo>
                    <a:lnTo>
                      <a:pt x="202500" y="101144"/>
                    </a:lnTo>
                    <a:cubicBezTo>
                      <a:pt x="202500" y="127970"/>
                      <a:pt x="191844" y="153696"/>
                      <a:pt x="172875" y="172664"/>
                    </a:cubicBezTo>
                    <a:cubicBezTo>
                      <a:pt x="153907" y="191633"/>
                      <a:pt x="128181" y="202289"/>
                      <a:pt x="101356" y="202289"/>
                    </a:cubicBezTo>
                    <a:lnTo>
                      <a:pt x="101144" y="202289"/>
                    </a:lnTo>
                    <a:cubicBezTo>
                      <a:pt x="74319" y="202289"/>
                      <a:pt x="48593" y="191633"/>
                      <a:pt x="29625" y="172664"/>
                    </a:cubicBezTo>
                    <a:cubicBezTo>
                      <a:pt x="10656" y="153696"/>
                      <a:pt x="0" y="127970"/>
                      <a:pt x="0" y="101144"/>
                    </a:cubicBezTo>
                    <a:lnTo>
                      <a:pt x="0" y="101144"/>
                    </a:lnTo>
                    <a:cubicBezTo>
                      <a:pt x="0" y="74319"/>
                      <a:pt x="10656" y="48593"/>
                      <a:pt x="29625" y="29625"/>
                    </a:cubicBezTo>
                    <a:cubicBezTo>
                      <a:pt x="48593" y="10656"/>
                      <a:pt x="74319" y="0"/>
                      <a:pt x="10114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sq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202500" cy="249914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8100000">
              <a:off x="398221" y="363997"/>
              <a:ext cx="465971" cy="538954"/>
            </a:xfrm>
            <a:custGeom>
              <a:avLst/>
              <a:gdLst/>
              <a:ahLst/>
              <a:cxnLst/>
              <a:rect r="r" b="b" t="t" l="l"/>
              <a:pathLst>
                <a:path h="538954" w="465971">
                  <a:moveTo>
                    <a:pt x="0" y="0"/>
                  </a:moveTo>
                  <a:lnTo>
                    <a:pt x="465971" y="0"/>
                  </a:lnTo>
                  <a:lnTo>
                    <a:pt x="465971" y="538954"/>
                  </a:lnTo>
                  <a:lnTo>
                    <a:pt x="0" y="538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1132051" y="8166548"/>
            <a:ext cx="2882301" cy="47625"/>
            <a:chOff x="0" y="0"/>
            <a:chExt cx="863095" cy="142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3095" cy="14261"/>
            </a:xfrm>
            <a:custGeom>
              <a:avLst/>
              <a:gdLst/>
              <a:ahLst/>
              <a:cxnLst/>
              <a:rect r="r" b="b" t="t" l="l"/>
              <a:pathLst>
                <a:path h="14261" w="863095">
                  <a:moveTo>
                    <a:pt x="7131" y="0"/>
                  </a:moveTo>
                  <a:lnTo>
                    <a:pt x="855965" y="0"/>
                  </a:lnTo>
                  <a:cubicBezTo>
                    <a:pt x="859903" y="0"/>
                    <a:pt x="863095" y="3192"/>
                    <a:pt x="863095" y="7131"/>
                  </a:cubicBezTo>
                  <a:lnTo>
                    <a:pt x="863095" y="7131"/>
                  </a:lnTo>
                  <a:cubicBezTo>
                    <a:pt x="863095" y="9022"/>
                    <a:pt x="862344" y="10835"/>
                    <a:pt x="861007" y="12173"/>
                  </a:cubicBezTo>
                  <a:cubicBezTo>
                    <a:pt x="859670" y="13510"/>
                    <a:pt x="857856" y="14261"/>
                    <a:pt x="855965" y="14261"/>
                  </a:cubicBezTo>
                  <a:lnTo>
                    <a:pt x="7131" y="14261"/>
                  </a:lnTo>
                  <a:cubicBezTo>
                    <a:pt x="5239" y="14261"/>
                    <a:pt x="3426" y="13510"/>
                    <a:pt x="2088" y="12173"/>
                  </a:cubicBezTo>
                  <a:cubicBezTo>
                    <a:pt x="751" y="10835"/>
                    <a:pt x="0" y="9022"/>
                    <a:pt x="0" y="7131"/>
                  </a:cubicBezTo>
                  <a:lnTo>
                    <a:pt x="0" y="7131"/>
                  </a:lnTo>
                  <a:cubicBezTo>
                    <a:pt x="0" y="5239"/>
                    <a:pt x="751" y="3426"/>
                    <a:pt x="2088" y="2088"/>
                  </a:cubicBezTo>
                  <a:cubicBezTo>
                    <a:pt x="3426" y="751"/>
                    <a:pt x="5239" y="0"/>
                    <a:pt x="71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863095" cy="90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132051" y="4914994"/>
            <a:ext cx="2882301" cy="47625"/>
            <a:chOff x="0" y="0"/>
            <a:chExt cx="863095" cy="1426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63095" cy="14261"/>
            </a:xfrm>
            <a:custGeom>
              <a:avLst/>
              <a:gdLst/>
              <a:ahLst/>
              <a:cxnLst/>
              <a:rect r="r" b="b" t="t" l="l"/>
              <a:pathLst>
                <a:path h="14261" w="863095">
                  <a:moveTo>
                    <a:pt x="7131" y="0"/>
                  </a:moveTo>
                  <a:lnTo>
                    <a:pt x="855965" y="0"/>
                  </a:lnTo>
                  <a:cubicBezTo>
                    <a:pt x="859903" y="0"/>
                    <a:pt x="863095" y="3192"/>
                    <a:pt x="863095" y="7131"/>
                  </a:cubicBezTo>
                  <a:lnTo>
                    <a:pt x="863095" y="7131"/>
                  </a:lnTo>
                  <a:cubicBezTo>
                    <a:pt x="863095" y="9022"/>
                    <a:pt x="862344" y="10835"/>
                    <a:pt x="861007" y="12173"/>
                  </a:cubicBezTo>
                  <a:cubicBezTo>
                    <a:pt x="859670" y="13510"/>
                    <a:pt x="857856" y="14261"/>
                    <a:pt x="855965" y="14261"/>
                  </a:cubicBezTo>
                  <a:lnTo>
                    <a:pt x="7131" y="14261"/>
                  </a:lnTo>
                  <a:cubicBezTo>
                    <a:pt x="5239" y="14261"/>
                    <a:pt x="3426" y="13510"/>
                    <a:pt x="2088" y="12173"/>
                  </a:cubicBezTo>
                  <a:cubicBezTo>
                    <a:pt x="751" y="10835"/>
                    <a:pt x="0" y="9022"/>
                    <a:pt x="0" y="7131"/>
                  </a:cubicBezTo>
                  <a:lnTo>
                    <a:pt x="0" y="7131"/>
                  </a:lnTo>
                  <a:cubicBezTo>
                    <a:pt x="0" y="5239"/>
                    <a:pt x="751" y="3426"/>
                    <a:pt x="2088" y="2088"/>
                  </a:cubicBezTo>
                  <a:cubicBezTo>
                    <a:pt x="3426" y="751"/>
                    <a:pt x="5239" y="0"/>
                    <a:pt x="71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863095" cy="90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1132051" y="2066778"/>
            <a:ext cx="2882301" cy="47625"/>
            <a:chOff x="0" y="0"/>
            <a:chExt cx="863095" cy="1426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3095" cy="14261"/>
            </a:xfrm>
            <a:custGeom>
              <a:avLst/>
              <a:gdLst/>
              <a:ahLst/>
              <a:cxnLst/>
              <a:rect r="r" b="b" t="t" l="l"/>
              <a:pathLst>
                <a:path h="14261" w="863095">
                  <a:moveTo>
                    <a:pt x="7131" y="0"/>
                  </a:moveTo>
                  <a:lnTo>
                    <a:pt x="855965" y="0"/>
                  </a:lnTo>
                  <a:cubicBezTo>
                    <a:pt x="859903" y="0"/>
                    <a:pt x="863095" y="3192"/>
                    <a:pt x="863095" y="7131"/>
                  </a:cubicBezTo>
                  <a:lnTo>
                    <a:pt x="863095" y="7131"/>
                  </a:lnTo>
                  <a:cubicBezTo>
                    <a:pt x="863095" y="9022"/>
                    <a:pt x="862344" y="10835"/>
                    <a:pt x="861007" y="12173"/>
                  </a:cubicBezTo>
                  <a:cubicBezTo>
                    <a:pt x="859670" y="13510"/>
                    <a:pt x="857856" y="14261"/>
                    <a:pt x="855965" y="14261"/>
                  </a:cubicBezTo>
                  <a:lnTo>
                    <a:pt x="7131" y="14261"/>
                  </a:lnTo>
                  <a:cubicBezTo>
                    <a:pt x="5239" y="14261"/>
                    <a:pt x="3426" y="13510"/>
                    <a:pt x="2088" y="12173"/>
                  </a:cubicBezTo>
                  <a:cubicBezTo>
                    <a:pt x="751" y="10835"/>
                    <a:pt x="0" y="9022"/>
                    <a:pt x="0" y="7131"/>
                  </a:cubicBezTo>
                  <a:lnTo>
                    <a:pt x="0" y="7131"/>
                  </a:lnTo>
                  <a:cubicBezTo>
                    <a:pt x="0" y="5239"/>
                    <a:pt x="751" y="3426"/>
                    <a:pt x="2088" y="2088"/>
                  </a:cubicBezTo>
                  <a:cubicBezTo>
                    <a:pt x="3426" y="751"/>
                    <a:pt x="5239" y="0"/>
                    <a:pt x="71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863095" cy="90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1024128" y="7315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285F4"/>
                </a:solidFill>
                <a:latin typeface="Calibri"/>
              </a:rPr>
              <a:t>Google Ads  |  R$ 1.000/mes  |  Display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128016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Calibri"/>
              </a:rPr>
              <a:t>Alcancar decisores antes da busca ativa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4128" y="2331720"/>
            <a:ext cx="1600200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24128" y="2560320"/>
            <a:ext cx="5303520" cy="530352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89888" y="283464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Segmentacao por cargo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36576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0C4C4"/>
                </a:solidFill>
                <a:latin typeface="Calibri"/>
              </a:rPr>
              <a:t>Diretores Administrativos, Gerentes de Facilities e Gestores Operacionais em SC e PR.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89888" y="7132320"/>
            <a:ext cx="1463040" cy="411480"/>
          </a:xfrm>
          <a:prstGeom prst="roundRect">
            <a:avLst>
              <a:gd name="adj" fmla="val 6000"/>
            </a:avLst>
          </a:prstGeom>
          <a:solidFill>
            <a:srgbClr val="14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89888" y="715060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C8FF"/>
                </a:solidFill>
                <a:latin typeface="Calibri"/>
              </a:rPr>
              <a:t>In-Market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93408" y="2560320"/>
            <a:ext cx="5303520" cy="530352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59168" y="283464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Segmentacao por empresa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9168" y="36576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0C4C4"/>
                </a:solidFill>
                <a:latin typeface="Calibri"/>
              </a:rPr>
              <a:t>Hospitais, universidades, cooperativas e bancos na rede Google + YouTube.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9168" y="7132320"/>
            <a:ext cx="1463040" cy="411480"/>
          </a:xfrm>
          <a:prstGeom prst="roundRect">
            <a:avLst>
              <a:gd name="adj" fmla="val 6000"/>
            </a:avLst>
          </a:prstGeom>
          <a:solidFill>
            <a:srgbClr val="14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59168" y="715060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C8FF"/>
                </a:solidFill>
                <a:latin typeface="Calibri"/>
              </a:rPr>
              <a:t>Audience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362688" y="2560320"/>
            <a:ext cx="5303520" cy="530352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728448" y="283464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Alimenta o retargeting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728448" y="36576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0C4C4"/>
                </a:solidFill>
                <a:latin typeface="Calibri"/>
              </a:rPr>
              <a:t>Quem clica no Display entra na LP e cai na audiencia de retargeting do Meta. Funil integrado.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728448" y="7132320"/>
            <a:ext cx="1463040" cy="411480"/>
          </a:xfrm>
          <a:prstGeom prst="roundRect">
            <a:avLst>
              <a:gd name="adj" fmla="val 6000"/>
            </a:avLst>
          </a:prstGeom>
          <a:solidFill>
            <a:srgbClr val="14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728448" y="715060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C8FF"/>
                </a:solidFill>
                <a:latin typeface="Calibri"/>
              </a:rPr>
              <a:t>Funil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24128" y="8229600"/>
            <a:ext cx="16002000" cy="141732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71600" y="8458200"/>
            <a:ext cx="1508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Display e o gerador de audiencia para o retargeting - nao e onde o lead converte, e onde ele descobre a Orcali.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3060B">
                <a:alpha val="100000"/>
              </a:srgbClr>
            </a:gs>
            <a:gs pos="100000">
              <a:srgbClr val="02313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5" id="5"/>
          <p:cNvGrpSpPr/>
          <p:nvPr/>
        </p:nvGrpSpPr>
        <p:grpSpPr>
          <a:xfrm rot="0">
            <a:off x="699890" y="553594"/>
            <a:ext cx="946810" cy="950211"/>
            <a:chOff x="0" y="0"/>
            <a:chExt cx="1262413" cy="126694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262413" cy="1266949"/>
              <a:chOff x="0" y="0"/>
              <a:chExt cx="252439" cy="25334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52439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252439">
                    <a:moveTo>
                      <a:pt x="126220" y="0"/>
                    </a:moveTo>
                    <a:lnTo>
                      <a:pt x="126220" y="0"/>
                    </a:lnTo>
                    <a:cubicBezTo>
                      <a:pt x="195929" y="0"/>
                      <a:pt x="252439" y="56510"/>
                      <a:pt x="252439" y="126220"/>
                    </a:cubicBezTo>
                    <a:lnTo>
                      <a:pt x="252439" y="127127"/>
                    </a:lnTo>
                    <a:cubicBezTo>
                      <a:pt x="252439" y="196836"/>
                      <a:pt x="195929" y="253346"/>
                      <a:pt x="126220" y="253346"/>
                    </a:cubicBezTo>
                    <a:lnTo>
                      <a:pt x="126220" y="253346"/>
                    </a:lnTo>
                    <a:cubicBezTo>
                      <a:pt x="56510" y="253346"/>
                      <a:pt x="0" y="196836"/>
                      <a:pt x="0" y="127127"/>
                    </a:cubicBezTo>
                    <a:lnTo>
                      <a:pt x="0" y="126220"/>
                    </a:lnTo>
                    <a:cubicBezTo>
                      <a:pt x="0" y="56510"/>
                      <a:pt x="56510" y="0"/>
                      <a:pt x="1262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rnd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252439" cy="300971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4869" y="127665"/>
              <a:ext cx="1012674" cy="1011618"/>
              <a:chOff x="0" y="0"/>
              <a:chExt cx="202500" cy="20228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2500" cy="202289"/>
              </a:xfrm>
              <a:custGeom>
                <a:avLst/>
                <a:gdLst/>
                <a:ahLst/>
                <a:cxnLst/>
                <a:rect r="r" b="b" t="t" l="l"/>
                <a:pathLst>
                  <a:path h="202289" w="202500">
                    <a:moveTo>
                      <a:pt x="101144" y="0"/>
                    </a:moveTo>
                    <a:lnTo>
                      <a:pt x="101356" y="0"/>
                    </a:lnTo>
                    <a:cubicBezTo>
                      <a:pt x="128181" y="0"/>
                      <a:pt x="153907" y="10656"/>
                      <a:pt x="172875" y="29625"/>
                    </a:cubicBezTo>
                    <a:cubicBezTo>
                      <a:pt x="191844" y="48593"/>
                      <a:pt x="202500" y="74319"/>
                      <a:pt x="202500" y="101144"/>
                    </a:cubicBezTo>
                    <a:lnTo>
                      <a:pt x="202500" y="101144"/>
                    </a:lnTo>
                    <a:cubicBezTo>
                      <a:pt x="202500" y="127970"/>
                      <a:pt x="191844" y="153696"/>
                      <a:pt x="172875" y="172664"/>
                    </a:cubicBezTo>
                    <a:cubicBezTo>
                      <a:pt x="153907" y="191633"/>
                      <a:pt x="128181" y="202289"/>
                      <a:pt x="101356" y="202289"/>
                    </a:cubicBezTo>
                    <a:lnTo>
                      <a:pt x="101144" y="202289"/>
                    </a:lnTo>
                    <a:cubicBezTo>
                      <a:pt x="74319" y="202289"/>
                      <a:pt x="48593" y="191633"/>
                      <a:pt x="29625" y="172664"/>
                    </a:cubicBezTo>
                    <a:cubicBezTo>
                      <a:pt x="10656" y="153696"/>
                      <a:pt x="0" y="127970"/>
                      <a:pt x="0" y="101144"/>
                    </a:cubicBezTo>
                    <a:lnTo>
                      <a:pt x="0" y="101144"/>
                    </a:lnTo>
                    <a:cubicBezTo>
                      <a:pt x="0" y="74319"/>
                      <a:pt x="10656" y="48593"/>
                      <a:pt x="29625" y="29625"/>
                    </a:cubicBezTo>
                    <a:cubicBezTo>
                      <a:pt x="48593" y="10656"/>
                      <a:pt x="74319" y="0"/>
                      <a:pt x="10114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sq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202500" cy="249914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8100000">
              <a:off x="398221" y="363997"/>
              <a:ext cx="465971" cy="538954"/>
            </a:xfrm>
            <a:custGeom>
              <a:avLst/>
              <a:gdLst/>
              <a:ahLst/>
              <a:cxnLst/>
              <a:rect r="r" b="b" t="t" l="l"/>
              <a:pathLst>
                <a:path h="538954" w="465971">
                  <a:moveTo>
                    <a:pt x="0" y="0"/>
                  </a:moveTo>
                  <a:lnTo>
                    <a:pt x="465971" y="0"/>
                  </a:lnTo>
                  <a:lnTo>
                    <a:pt x="465971" y="538954"/>
                  </a:lnTo>
                  <a:lnTo>
                    <a:pt x="0" y="538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1132051" y="8166548"/>
            <a:ext cx="2882301" cy="47625"/>
            <a:chOff x="0" y="0"/>
            <a:chExt cx="863095" cy="142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3095" cy="14261"/>
            </a:xfrm>
            <a:custGeom>
              <a:avLst/>
              <a:gdLst/>
              <a:ahLst/>
              <a:cxnLst/>
              <a:rect r="r" b="b" t="t" l="l"/>
              <a:pathLst>
                <a:path h="14261" w="863095">
                  <a:moveTo>
                    <a:pt x="7131" y="0"/>
                  </a:moveTo>
                  <a:lnTo>
                    <a:pt x="855965" y="0"/>
                  </a:lnTo>
                  <a:cubicBezTo>
                    <a:pt x="859903" y="0"/>
                    <a:pt x="863095" y="3192"/>
                    <a:pt x="863095" y="7131"/>
                  </a:cubicBezTo>
                  <a:lnTo>
                    <a:pt x="863095" y="7131"/>
                  </a:lnTo>
                  <a:cubicBezTo>
                    <a:pt x="863095" y="9022"/>
                    <a:pt x="862344" y="10835"/>
                    <a:pt x="861007" y="12173"/>
                  </a:cubicBezTo>
                  <a:cubicBezTo>
                    <a:pt x="859670" y="13510"/>
                    <a:pt x="857856" y="14261"/>
                    <a:pt x="855965" y="14261"/>
                  </a:cubicBezTo>
                  <a:lnTo>
                    <a:pt x="7131" y="14261"/>
                  </a:lnTo>
                  <a:cubicBezTo>
                    <a:pt x="5239" y="14261"/>
                    <a:pt x="3426" y="13510"/>
                    <a:pt x="2088" y="12173"/>
                  </a:cubicBezTo>
                  <a:cubicBezTo>
                    <a:pt x="751" y="10835"/>
                    <a:pt x="0" y="9022"/>
                    <a:pt x="0" y="7131"/>
                  </a:cubicBezTo>
                  <a:lnTo>
                    <a:pt x="0" y="7131"/>
                  </a:lnTo>
                  <a:cubicBezTo>
                    <a:pt x="0" y="5239"/>
                    <a:pt x="751" y="3426"/>
                    <a:pt x="2088" y="2088"/>
                  </a:cubicBezTo>
                  <a:cubicBezTo>
                    <a:pt x="3426" y="751"/>
                    <a:pt x="5239" y="0"/>
                    <a:pt x="71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863095" cy="90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132051" y="4914994"/>
            <a:ext cx="2882301" cy="47625"/>
            <a:chOff x="0" y="0"/>
            <a:chExt cx="863095" cy="1426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63095" cy="14261"/>
            </a:xfrm>
            <a:custGeom>
              <a:avLst/>
              <a:gdLst/>
              <a:ahLst/>
              <a:cxnLst/>
              <a:rect r="r" b="b" t="t" l="l"/>
              <a:pathLst>
                <a:path h="14261" w="863095">
                  <a:moveTo>
                    <a:pt x="7131" y="0"/>
                  </a:moveTo>
                  <a:lnTo>
                    <a:pt x="855965" y="0"/>
                  </a:lnTo>
                  <a:cubicBezTo>
                    <a:pt x="859903" y="0"/>
                    <a:pt x="863095" y="3192"/>
                    <a:pt x="863095" y="7131"/>
                  </a:cubicBezTo>
                  <a:lnTo>
                    <a:pt x="863095" y="7131"/>
                  </a:lnTo>
                  <a:cubicBezTo>
                    <a:pt x="863095" y="9022"/>
                    <a:pt x="862344" y="10835"/>
                    <a:pt x="861007" y="12173"/>
                  </a:cubicBezTo>
                  <a:cubicBezTo>
                    <a:pt x="859670" y="13510"/>
                    <a:pt x="857856" y="14261"/>
                    <a:pt x="855965" y="14261"/>
                  </a:cubicBezTo>
                  <a:lnTo>
                    <a:pt x="7131" y="14261"/>
                  </a:lnTo>
                  <a:cubicBezTo>
                    <a:pt x="5239" y="14261"/>
                    <a:pt x="3426" y="13510"/>
                    <a:pt x="2088" y="12173"/>
                  </a:cubicBezTo>
                  <a:cubicBezTo>
                    <a:pt x="751" y="10835"/>
                    <a:pt x="0" y="9022"/>
                    <a:pt x="0" y="7131"/>
                  </a:cubicBezTo>
                  <a:lnTo>
                    <a:pt x="0" y="7131"/>
                  </a:lnTo>
                  <a:cubicBezTo>
                    <a:pt x="0" y="5239"/>
                    <a:pt x="751" y="3426"/>
                    <a:pt x="2088" y="2088"/>
                  </a:cubicBezTo>
                  <a:cubicBezTo>
                    <a:pt x="3426" y="751"/>
                    <a:pt x="5239" y="0"/>
                    <a:pt x="71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863095" cy="90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1132051" y="2066778"/>
            <a:ext cx="2882301" cy="47625"/>
            <a:chOff x="0" y="0"/>
            <a:chExt cx="863095" cy="1426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3095" cy="14261"/>
            </a:xfrm>
            <a:custGeom>
              <a:avLst/>
              <a:gdLst/>
              <a:ahLst/>
              <a:cxnLst/>
              <a:rect r="r" b="b" t="t" l="l"/>
              <a:pathLst>
                <a:path h="14261" w="863095">
                  <a:moveTo>
                    <a:pt x="7131" y="0"/>
                  </a:moveTo>
                  <a:lnTo>
                    <a:pt x="855965" y="0"/>
                  </a:lnTo>
                  <a:cubicBezTo>
                    <a:pt x="859903" y="0"/>
                    <a:pt x="863095" y="3192"/>
                    <a:pt x="863095" y="7131"/>
                  </a:cubicBezTo>
                  <a:lnTo>
                    <a:pt x="863095" y="7131"/>
                  </a:lnTo>
                  <a:cubicBezTo>
                    <a:pt x="863095" y="9022"/>
                    <a:pt x="862344" y="10835"/>
                    <a:pt x="861007" y="12173"/>
                  </a:cubicBezTo>
                  <a:cubicBezTo>
                    <a:pt x="859670" y="13510"/>
                    <a:pt x="857856" y="14261"/>
                    <a:pt x="855965" y="14261"/>
                  </a:cubicBezTo>
                  <a:lnTo>
                    <a:pt x="7131" y="14261"/>
                  </a:lnTo>
                  <a:cubicBezTo>
                    <a:pt x="5239" y="14261"/>
                    <a:pt x="3426" y="13510"/>
                    <a:pt x="2088" y="12173"/>
                  </a:cubicBezTo>
                  <a:cubicBezTo>
                    <a:pt x="751" y="10835"/>
                    <a:pt x="0" y="9022"/>
                    <a:pt x="0" y="7131"/>
                  </a:cubicBezTo>
                  <a:lnTo>
                    <a:pt x="0" y="7131"/>
                  </a:lnTo>
                  <a:cubicBezTo>
                    <a:pt x="0" y="5239"/>
                    <a:pt x="751" y="3426"/>
                    <a:pt x="2088" y="2088"/>
                  </a:cubicBezTo>
                  <a:cubicBezTo>
                    <a:pt x="3426" y="751"/>
                    <a:pt x="5239" y="0"/>
                    <a:pt x="71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863095" cy="90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1024128" y="7315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E55F"/>
                </a:solidFill>
                <a:latin typeface="Calibri"/>
              </a:rPr>
              <a:t>Estrutura de Captacao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128016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Calibri"/>
              </a:rPr>
              <a:t>Landing Page + Formulario de qualificacao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4128" y="2331720"/>
            <a:ext cx="16002000" cy="54864"/>
          </a:xfrm>
          <a:prstGeom prst="rect">
            <a:avLst/>
          </a:prstGeom>
          <a:solidFill>
            <a:srgbClr val="39E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24128" y="2560320"/>
            <a:ext cx="7863840" cy="713232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24128" y="2560320"/>
            <a:ext cx="7863840" cy="777240"/>
          </a:xfrm>
          <a:prstGeom prst="rect">
            <a:avLst/>
          </a:prstGeom>
          <a:solidFill>
            <a:srgbClr val="00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26517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0E0"/>
                </a:solidFill>
                <a:latin typeface="Calibri"/>
              </a:rPr>
              <a:t>orcali.com.br/facilities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2633472"/>
            <a:ext cx="1371600" cy="475488"/>
          </a:xfrm>
          <a:prstGeom prst="roundRect">
            <a:avLst>
              <a:gd name="adj" fmla="val 6000"/>
            </a:avLst>
          </a:prstGeom>
          <a:solidFill>
            <a:srgbClr val="39E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2651760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1E1F"/>
                </a:solidFill>
                <a:latin typeface="Calibri"/>
              </a:rPr>
              <a:t>PRONTO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3703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-&gt;  Hero: "Operacoes que nao podem parar"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27024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-&gt;  Diferenciais: 58 anos  |  1.554 clientes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4837176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-&gt;  Servicos por nicho: Saude, Ensino, Financeiro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5404104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-&gt;  Prova social + certificacoes ISO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5971031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-&gt;  Formulario integrado via Typebot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65379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C4"/>
                </a:solidFill>
                <a:latin typeface="Calibri"/>
              </a:rPr>
              <a:t>-&gt;  LP Seguranca  -&gt;  Mes 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00032" y="2560320"/>
            <a:ext cx="7863840" cy="713232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0" y="2697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9E55F"/>
                </a:solidFill>
                <a:latin typeface="Calibri"/>
              </a:rPr>
              <a:t>Campos do formulario de qualificacao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46920" y="3383280"/>
            <a:ext cx="7269480" cy="475488"/>
          </a:xfrm>
          <a:prstGeom prst="roundRect">
            <a:avLst>
              <a:gd name="adj" fmla="val 4000"/>
            </a:avLst>
          </a:prstGeom>
          <a:solidFill>
            <a:srgbClr val="16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29800" y="3410712"/>
            <a:ext cx="6949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Nome completo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3950208"/>
            <a:ext cx="7269480" cy="475488"/>
          </a:xfrm>
          <a:prstGeom prst="roundRect">
            <a:avLst>
              <a:gd name="adj" fmla="val 4000"/>
            </a:avLst>
          </a:prstGeom>
          <a:solidFill>
            <a:srgbClr val="16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29800" y="3977639"/>
            <a:ext cx="6949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Empresa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46920" y="4517136"/>
            <a:ext cx="7269480" cy="475488"/>
          </a:xfrm>
          <a:prstGeom prst="roundRect">
            <a:avLst>
              <a:gd name="adj" fmla="val 4000"/>
            </a:avLst>
          </a:prstGeom>
          <a:solidFill>
            <a:srgbClr val="16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29800" y="4544568"/>
            <a:ext cx="6949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CNPJ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46920" y="5084064"/>
            <a:ext cx="7269480" cy="475488"/>
          </a:xfrm>
          <a:prstGeom prst="roundRect">
            <a:avLst>
              <a:gd name="adj" fmla="val 4000"/>
            </a:avLst>
          </a:prstGeom>
          <a:solidFill>
            <a:srgbClr val="16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29800" y="5111496"/>
            <a:ext cx="6949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E-mail corporativo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5650992"/>
            <a:ext cx="7269480" cy="475488"/>
          </a:xfrm>
          <a:prstGeom prst="roundRect">
            <a:avLst>
              <a:gd name="adj" fmla="val 4000"/>
            </a:avLst>
          </a:prstGeom>
          <a:solidFill>
            <a:srgbClr val="16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29800" y="5678424"/>
            <a:ext cx="6949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Telefone / WhatsApp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20" y="6217920"/>
            <a:ext cx="7269480" cy="475488"/>
          </a:xfrm>
          <a:prstGeom prst="roundRect">
            <a:avLst>
              <a:gd name="adj" fmla="val 4000"/>
            </a:avLst>
          </a:prstGeom>
          <a:solidFill>
            <a:srgbClr val="16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29800" y="6245352"/>
            <a:ext cx="6949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Segmento  (Saude | Ensino | Financeiro)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46920" y="6784848"/>
            <a:ext cx="7269480" cy="475488"/>
          </a:xfrm>
          <a:prstGeom prst="roundRect">
            <a:avLst>
              <a:gd name="adj" fmla="val 4000"/>
            </a:avLst>
          </a:prstGeom>
          <a:solidFill>
            <a:srgbClr val="16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29800" y="6812279"/>
            <a:ext cx="6949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Cidade / Regiao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20" y="7452360"/>
            <a:ext cx="7269480" cy="640080"/>
          </a:xfrm>
          <a:prstGeom prst="roundRect">
            <a:avLst>
              <a:gd name="adj" fmla="val 6000"/>
            </a:avLst>
          </a:prstGeom>
          <a:solidFill>
            <a:srgbClr val="39E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46920" y="7470648"/>
            <a:ext cx="7269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B1E1F"/>
                </a:solidFill>
                <a:latin typeface="Calibri"/>
              </a:rPr>
              <a:t>Solicitar diagnostico operacional gratuito  -&gt;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3060B">
                <a:alpha val="100000"/>
              </a:srgbClr>
            </a:gs>
            <a:gs pos="100000">
              <a:srgbClr val="02313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5" id="5"/>
          <p:cNvGrpSpPr/>
          <p:nvPr/>
        </p:nvGrpSpPr>
        <p:grpSpPr>
          <a:xfrm rot="0">
            <a:off x="699890" y="553594"/>
            <a:ext cx="946810" cy="950211"/>
            <a:chOff x="0" y="0"/>
            <a:chExt cx="1262413" cy="126694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262413" cy="1266949"/>
              <a:chOff x="0" y="0"/>
              <a:chExt cx="252439" cy="25334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52439" cy="253346"/>
              </a:xfrm>
              <a:custGeom>
                <a:avLst/>
                <a:gdLst/>
                <a:ahLst/>
                <a:cxnLst/>
                <a:rect r="r" b="b" t="t" l="l"/>
                <a:pathLst>
                  <a:path h="253346" w="252439">
                    <a:moveTo>
                      <a:pt x="126220" y="0"/>
                    </a:moveTo>
                    <a:lnTo>
                      <a:pt x="126220" y="0"/>
                    </a:lnTo>
                    <a:cubicBezTo>
                      <a:pt x="195929" y="0"/>
                      <a:pt x="252439" y="56510"/>
                      <a:pt x="252439" y="126220"/>
                    </a:cubicBezTo>
                    <a:lnTo>
                      <a:pt x="252439" y="127127"/>
                    </a:lnTo>
                    <a:cubicBezTo>
                      <a:pt x="252439" y="196836"/>
                      <a:pt x="195929" y="253346"/>
                      <a:pt x="126220" y="253346"/>
                    </a:cubicBezTo>
                    <a:lnTo>
                      <a:pt x="126220" y="253346"/>
                    </a:lnTo>
                    <a:cubicBezTo>
                      <a:pt x="56510" y="253346"/>
                      <a:pt x="0" y="196836"/>
                      <a:pt x="0" y="127127"/>
                    </a:cubicBezTo>
                    <a:lnTo>
                      <a:pt x="0" y="126220"/>
                    </a:lnTo>
                    <a:cubicBezTo>
                      <a:pt x="0" y="56510"/>
                      <a:pt x="56510" y="0"/>
                      <a:pt x="1262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rnd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252439" cy="300971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4869" y="127665"/>
              <a:ext cx="1012674" cy="1011618"/>
              <a:chOff x="0" y="0"/>
              <a:chExt cx="202500" cy="20228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2500" cy="202289"/>
              </a:xfrm>
              <a:custGeom>
                <a:avLst/>
                <a:gdLst/>
                <a:ahLst/>
                <a:cxnLst/>
                <a:rect r="r" b="b" t="t" l="l"/>
                <a:pathLst>
                  <a:path h="202289" w="202500">
                    <a:moveTo>
                      <a:pt x="101144" y="0"/>
                    </a:moveTo>
                    <a:lnTo>
                      <a:pt x="101356" y="0"/>
                    </a:lnTo>
                    <a:cubicBezTo>
                      <a:pt x="128181" y="0"/>
                      <a:pt x="153907" y="10656"/>
                      <a:pt x="172875" y="29625"/>
                    </a:cubicBezTo>
                    <a:cubicBezTo>
                      <a:pt x="191844" y="48593"/>
                      <a:pt x="202500" y="74319"/>
                      <a:pt x="202500" y="101144"/>
                    </a:cubicBezTo>
                    <a:lnTo>
                      <a:pt x="202500" y="101144"/>
                    </a:lnTo>
                    <a:cubicBezTo>
                      <a:pt x="202500" y="127970"/>
                      <a:pt x="191844" y="153696"/>
                      <a:pt x="172875" y="172664"/>
                    </a:cubicBezTo>
                    <a:cubicBezTo>
                      <a:pt x="153907" y="191633"/>
                      <a:pt x="128181" y="202289"/>
                      <a:pt x="101356" y="202289"/>
                    </a:cubicBezTo>
                    <a:lnTo>
                      <a:pt x="101144" y="202289"/>
                    </a:lnTo>
                    <a:cubicBezTo>
                      <a:pt x="74319" y="202289"/>
                      <a:pt x="48593" y="191633"/>
                      <a:pt x="29625" y="172664"/>
                    </a:cubicBezTo>
                    <a:cubicBezTo>
                      <a:pt x="10656" y="153696"/>
                      <a:pt x="0" y="127970"/>
                      <a:pt x="0" y="101144"/>
                    </a:cubicBezTo>
                    <a:lnTo>
                      <a:pt x="0" y="101144"/>
                    </a:lnTo>
                    <a:cubicBezTo>
                      <a:pt x="0" y="74319"/>
                      <a:pt x="10656" y="48593"/>
                      <a:pt x="29625" y="29625"/>
                    </a:cubicBezTo>
                    <a:cubicBezTo>
                      <a:pt x="48593" y="10656"/>
                      <a:pt x="74319" y="0"/>
                      <a:pt x="101144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3ECFA8">
                      <a:alpha val="100000"/>
                    </a:srgbClr>
                  </a:gs>
                  <a:gs pos="100000">
                    <a:srgbClr val="B0F641">
                      <a:alpha val="100000"/>
                    </a:srgbClr>
                  </a:gs>
                </a:gsLst>
                <a:lin ang="0"/>
              </a:gradFill>
              <a:ln w="9525" cap="sq">
                <a:gradFill>
                  <a:gsLst>
                    <a:gs pos="0">
                      <a:srgbClr val="031C22">
                        <a:alpha val="64000"/>
                      </a:srgbClr>
                    </a:gs>
                    <a:gs pos="100000">
                      <a:srgbClr val="022228">
                        <a:alpha val="15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202500" cy="249914"/>
              </a:xfrm>
              <a:prstGeom prst="rect">
                <a:avLst/>
              </a:prstGeom>
            </p:spPr>
            <p:txBody>
              <a:bodyPr anchor="ctr" rtlCol="false" tIns="45480" lIns="45480" bIns="45480" rIns="45480"/>
              <a:lstStyle/>
              <a:p>
                <a:pPr algn="ctr">
                  <a:lnSpc>
                    <a:spcPts val="3582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8100000">
              <a:off x="398221" y="363997"/>
              <a:ext cx="465971" cy="538954"/>
            </a:xfrm>
            <a:custGeom>
              <a:avLst/>
              <a:gdLst/>
              <a:ahLst/>
              <a:cxnLst/>
              <a:rect r="r" b="b" t="t" l="l"/>
              <a:pathLst>
                <a:path h="538954" w="465971">
                  <a:moveTo>
                    <a:pt x="0" y="0"/>
                  </a:moveTo>
                  <a:lnTo>
                    <a:pt x="465971" y="0"/>
                  </a:lnTo>
                  <a:lnTo>
                    <a:pt x="465971" y="538954"/>
                  </a:lnTo>
                  <a:lnTo>
                    <a:pt x="0" y="538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1132051" y="8166548"/>
            <a:ext cx="2882301" cy="47625"/>
            <a:chOff x="0" y="0"/>
            <a:chExt cx="863095" cy="142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3095" cy="14261"/>
            </a:xfrm>
            <a:custGeom>
              <a:avLst/>
              <a:gdLst/>
              <a:ahLst/>
              <a:cxnLst/>
              <a:rect r="r" b="b" t="t" l="l"/>
              <a:pathLst>
                <a:path h="14261" w="863095">
                  <a:moveTo>
                    <a:pt x="7131" y="0"/>
                  </a:moveTo>
                  <a:lnTo>
                    <a:pt x="855965" y="0"/>
                  </a:lnTo>
                  <a:cubicBezTo>
                    <a:pt x="859903" y="0"/>
                    <a:pt x="863095" y="3192"/>
                    <a:pt x="863095" y="7131"/>
                  </a:cubicBezTo>
                  <a:lnTo>
                    <a:pt x="863095" y="7131"/>
                  </a:lnTo>
                  <a:cubicBezTo>
                    <a:pt x="863095" y="9022"/>
                    <a:pt x="862344" y="10835"/>
                    <a:pt x="861007" y="12173"/>
                  </a:cubicBezTo>
                  <a:cubicBezTo>
                    <a:pt x="859670" y="13510"/>
                    <a:pt x="857856" y="14261"/>
                    <a:pt x="855965" y="14261"/>
                  </a:cubicBezTo>
                  <a:lnTo>
                    <a:pt x="7131" y="14261"/>
                  </a:lnTo>
                  <a:cubicBezTo>
                    <a:pt x="5239" y="14261"/>
                    <a:pt x="3426" y="13510"/>
                    <a:pt x="2088" y="12173"/>
                  </a:cubicBezTo>
                  <a:cubicBezTo>
                    <a:pt x="751" y="10835"/>
                    <a:pt x="0" y="9022"/>
                    <a:pt x="0" y="7131"/>
                  </a:cubicBezTo>
                  <a:lnTo>
                    <a:pt x="0" y="7131"/>
                  </a:lnTo>
                  <a:cubicBezTo>
                    <a:pt x="0" y="5239"/>
                    <a:pt x="751" y="3426"/>
                    <a:pt x="2088" y="2088"/>
                  </a:cubicBezTo>
                  <a:cubicBezTo>
                    <a:pt x="3426" y="751"/>
                    <a:pt x="5239" y="0"/>
                    <a:pt x="71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863095" cy="90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132051" y="4914994"/>
            <a:ext cx="2882301" cy="47625"/>
            <a:chOff x="0" y="0"/>
            <a:chExt cx="863095" cy="1426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63095" cy="14261"/>
            </a:xfrm>
            <a:custGeom>
              <a:avLst/>
              <a:gdLst/>
              <a:ahLst/>
              <a:cxnLst/>
              <a:rect r="r" b="b" t="t" l="l"/>
              <a:pathLst>
                <a:path h="14261" w="863095">
                  <a:moveTo>
                    <a:pt x="7131" y="0"/>
                  </a:moveTo>
                  <a:lnTo>
                    <a:pt x="855965" y="0"/>
                  </a:lnTo>
                  <a:cubicBezTo>
                    <a:pt x="859903" y="0"/>
                    <a:pt x="863095" y="3192"/>
                    <a:pt x="863095" y="7131"/>
                  </a:cubicBezTo>
                  <a:lnTo>
                    <a:pt x="863095" y="7131"/>
                  </a:lnTo>
                  <a:cubicBezTo>
                    <a:pt x="863095" y="9022"/>
                    <a:pt x="862344" y="10835"/>
                    <a:pt x="861007" y="12173"/>
                  </a:cubicBezTo>
                  <a:cubicBezTo>
                    <a:pt x="859670" y="13510"/>
                    <a:pt x="857856" y="14261"/>
                    <a:pt x="855965" y="14261"/>
                  </a:cubicBezTo>
                  <a:lnTo>
                    <a:pt x="7131" y="14261"/>
                  </a:lnTo>
                  <a:cubicBezTo>
                    <a:pt x="5239" y="14261"/>
                    <a:pt x="3426" y="13510"/>
                    <a:pt x="2088" y="12173"/>
                  </a:cubicBezTo>
                  <a:cubicBezTo>
                    <a:pt x="751" y="10835"/>
                    <a:pt x="0" y="9022"/>
                    <a:pt x="0" y="7131"/>
                  </a:cubicBezTo>
                  <a:lnTo>
                    <a:pt x="0" y="7131"/>
                  </a:lnTo>
                  <a:cubicBezTo>
                    <a:pt x="0" y="5239"/>
                    <a:pt x="751" y="3426"/>
                    <a:pt x="2088" y="2088"/>
                  </a:cubicBezTo>
                  <a:cubicBezTo>
                    <a:pt x="3426" y="751"/>
                    <a:pt x="5239" y="0"/>
                    <a:pt x="71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863095" cy="90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1132051" y="2066778"/>
            <a:ext cx="2882301" cy="47625"/>
            <a:chOff x="0" y="0"/>
            <a:chExt cx="863095" cy="1426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3095" cy="14261"/>
            </a:xfrm>
            <a:custGeom>
              <a:avLst/>
              <a:gdLst/>
              <a:ahLst/>
              <a:cxnLst/>
              <a:rect r="r" b="b" t="t" l="l"/>
              <a:pathLst>
                <a:path h="14261" w="863095">
                  <a:moveTo>
                    <a:pt x="7131" y="0"/>
                  </a:moveTo>
                  <a:lnTo>
                    <a:pt x="855965" y="0"/>
                  </a:lnTo>
                  <a:cubicBezTo>
                    <a:pt x="859903" y="0"/>
                    <a:pt x="863095" y="3192"/>
                    <a:pt x="863095" y="7131"/>
                  </a:cubicBezTo>
                  <a:lnTo>
                    <a:pt x="863095" y="7131"/>
                  </a:lnTo>
                  <a:cubicBezTo>
                    <a:pt x="863095" y="9022"/>
                    <a:pt x="862344" y="10835"/>
                    <a:pt x="861007" y="12173"/>
                  </a:cubicBezTo>
                  <a:cubicBezTo>
                    <a:pt x="859670" y="13510"/>
                    <a:pt x="857856" y="14261"/>
                    <a:pt x="855965" y="14261"/>
                  </a:cubicBezTo>
                  <a:lnTo>
                    <a:pt x="7131" y="14261"/>
                  </a:lnTo>
                  <a:cubicBezTo>
                    <a:pt x="5239" y="14261"/>
                    <a:pt x="3426" y="13510"/>
                    <a:pt x="2088" y="12173"/>
                  </a:cubicBezTo>
                  <a:cubicBezTo>
                    <a:pt x="751" y="10835"/>
                    <a:pt x="0" y="9022"/>
                    <a:pt x="0" y="7131"/>
                  </a:cubicBezTo>
                  <a:lnTo>
                    <a:pt x="0" y="7131"/>
                  </a:lnTo>
                  <a:cubicBezTo>
                    <a:pt x="0" y="5239"/>
                    <a:pt x="751" y="3426"/>
                    <a:pt x="2088" y="2088"/>
                  </a:cubicBezTo>
                  <a:cubicBezTo>
                    <a:pt x="3426" y="751"/>
                    <a:pt x="5239" y="0"/>
                    <a:pt x="71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CFA8">
                    <a:alpha val="100000"/>
                  </a:srgbClr>
                </a:gs>
                <a:gs pos="100000">
                  <a:srgbClr val="B0F6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863095" cy="90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2"/>
                </a:lnSpc>
              </a:p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1024128" y="7315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9E55F"/>
                </a:solidFill>
                <a:latin typeface="Calibri"/>
              </a:rPr>
              <a:t>Integracoes &amp; Mensuracao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128016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Calibri"/>
              </a:rPr>
              <a:t>Do clique ao comercial rastreado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4128" y="2331720"/>
            <a:ext cx="16002000" cy="54864"/>
          </a:xfrm>
          <a:prstGeom prst="rect">
            <a:avLst/>
          </a:prstGeom>
          <a:solidFill>
            <a:srgbClr val="39E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24128" y="2743200"/>
            <a:ext cx="3017520" cy="384048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24128" y="2743200"/>
            <a:ext cx="3017520" cy="91440"/>
          </a:xfrm>
          <a:prstGeom prst="rect">
            <a:avLst/>
          </a:prstGeom>
          <a:solidFill>
            <a:srgbClr val="008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07008" y="301752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Meta / Google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8" y="388620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0C4C4"/>
                </a:solidFill>
                <a:latin typeface="Calibri"/>
              </a:rPr>
              <a:t>Pixel + CAPI
Google Tag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41648" y="4114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0C4C4"/>
                </a:solidFill>
                <a:latin typeface="Calibri"/>
              </a:rPr>
              <a:t>&gt;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07408" y="2743200"/>
            <a:ext cx="3017520" cy="384048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07408" y="2743200"/>
            <a:ext cx="3017520" cy="91440"/>
          </a:xfrm>
          <a:prstGeom prst="rect">
            <a:avLst/>
          </a:prstGeom>
          <a:solidFill>
            <a:srgbClr val="39E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0288" y="301752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Landing Page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0288" y="388620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0C4C4"/>
                </a:solidFill>
                <a:latin typeface="Calibri"/>
              </a:rPr>
              <a:t>Pixel fire
ViewContent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24928" y="4114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0C4C4"/>
                </a:solidFill>
                <a:latin typeface="Calibri"/>
              </a:rPr>
              <a:t>&gt;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90688" y="2743200"/>
            <a:ext cx="3017520" cy="384048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90688" y="2743200"/>
            <a:ext cx="3017520" cy="9144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73567" y="301752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Planilha Google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73567" y="388620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0C4C4"/>
                </a:solidFill>
                <a:latin typeface="Calibri"/>
              </a:rPr>
              <a:t>Lead + UTMs
+ origem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08208" y="4114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0C4C4"/>
                </a:solidFill>
                <a:latin typeface="Calibri"/>
              </a:rPr>
              <a:t>&gt;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173968" y="2743200"/>
            <a:ext cx="3017520" cy="384048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173968" y="2743200"/>
            <a:ext cx="3017520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356848" y="301752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RD Station CRM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56848" y="388620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0C4C4"/>
                </a:solidFill>
                <a:latin typeface="Calibri"/>
              </a:rPr>
              <a:t>Nutricao
+ funil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91488" y="4114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0C4C4"/>
                </a:solidFill>
                <a:latin typeface="Calibri"/>
              </a:rPr>
              <a:t>&gt;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557248" y="2743200"/>
            <a:ext cx="3017520" cy="384048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4557248" y="2743200"/>
            <a:ext cx="3017520" cy="9144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4740128" y="301752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Comercial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740128" y="388620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0C4C4"/>
                </a:solidFill>
                <a:latin typeface="Calibri"/>
              </a:rPr>
              <a:t>Lead pronto
p/ abordagem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41648" y="67208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C4"/>
                </a:solidFill>
                <a:latin typeface="Calibri"/>
              </a:rPr>
              <a:t>clique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24928" y="67208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C4"/>
                </a:solidFill>
                <a:latin typeface="Calibri"/>
              </a:rPr>
              <a:t>form submit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08208" y="67208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C4"/>
                </a:solidFill>
                <a:latin typeface="Calibri"/>
              </a:rPr>
              <a:t>Apps Script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191488" y="67208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C4"/>
                </a:solidFill>
                <a:latin typeface="Calibri"/>
              </a:rPr>
              <a:t>alerta CRM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24128" y="7406640"/>
            <a:ext cx="16002000" cy="224028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71600" y="7635240"/>
            <a:ext cx="1508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Cada lead chega com origem rastreada: plataforma | campanha | nicho | palavra-chave.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71600" y="8321040"/>
            <a:ext cx="1508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0C4C4"/>
                </a:solidFill>
                <a:latin typeface="Calibri"/>
              </a:rPr>
              <a:t>Resolve a principal dor do historico: R$ 6k/mes em 2024 sem mensuracao de resultados.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DAHL_7WFpw0</dc:identifier>
  <dcterms:modified xsi:type="dcterms:W3CDTF">2011-08-01T06:04:30Z</dcterms:modified>
  <cp:revision>1</cp:revision>
  <dc:title>Orcali</dc:title>
</cp:coreProperties>
</file>